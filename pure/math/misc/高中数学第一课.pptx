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4.xml.rels" ContentType="application/vnd.openxmlformats-package.relationships+xml"/>
  <Override PartName="/ppt/slides/_rels/slide26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28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29.xml.rels" ContentType="application/vnd.openxmlformats-package.relationships+xml"/>
  <Override PartName="/ppt/slides/_rels/slide4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25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1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24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25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5.xml" ContentType="application/vnd.openxmlformats-officedocument.presentationml.slide+xml"/>
  <Override PartName="/ppt/slides/slide13.xml" ContentType="application/vnd.openxmlformats-officedocument.presentationml.slide+xml"/>
  <Override PartName="/ppt/_rels/presentation.xml.rels" ContentType="application/vnd.openxmlformats-package.relationships+xml"/>
  <Override PartName="/ppt/media/image10.jpeg" ContentType="image/jpeg"/>
  <Override PartName="/ppt/media/image9.png" ContentType="image/png"/>
  <Override PartName="/ppt/media/image8.png" ContentType="image/png"/>
  <Override PartName="/ppt/media/image12.jpeg" ContentType="image/jpeg"/>
  <Override PartName="/ppt/media/image11.png" ContentType="image/png"/>
  <Override PartName="/ppt/media/image2.png" ContentType="image/png"/>
  <Override PartName="/ppt/media/image22.jpeg" ContentType="image/jpeg"/>
  <Override PartName="/ppt/media/image7.png" ContentType="image/png"/>
  <Override PartName="/ppt/media/image16.png" ContentType="image/png"/>
  <Override PartName="/ppt/media/image17.jpeg" ContentType="image/jpeg"/>
  <Override PartName="/ppt/media/image21.jpeg" ContentType="image/jpeg"/>
  <Override PartName="/ppt/media/image19.jpeg" ContentType="image/jpeg"/>
  <Override PartName="/ppt/media/image6.png" ContentType="image/png"/>
  <Override PartName="/ppt/media/image20.jpeg" ContentType="image/jpeg"/>
  <Override PartName="/ppt/media/image18.jpeg" ContentType="image/jpeg"/>
  <Override PartName="/ppt/media/image15.jpeg" ContentType="image/jpeg"/>
  <Override PartName="/ppt/media/image1.png" ContentType="image/png"/>
  <Override PartName="/ppt/media/image14.jpeg" ContentType="image/jpeg"/>
  <Override PartName="/ppt/media/hdphoto1.wdp" ContentType="image/vnd.ms-photo"/>
  <Override PartName="/ppt/media/image3.png" ContentType="image/png"/>
  <Override PartName="/ppt/media/image5.png" ContentType="image/png"/>
  <Override PartName="/ppt/media/image13.jpeg" ContentType="image/jpeg"/>
  <Override PartName="/ppt/media/image4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</p:sld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7" r:id="rId35"/>
    <p:sldId id="278" r:id="rId36"/>
    <p:sldId id="279" r:id="rId37"/>
    <p:sldId id="280" r:id="rId38"/>
    <p:sldId id="281" r:id="rId39"/>
    <p:sldId id="282" r:id="rId40"/>
    <p:sldId id="283" r:id="rId41"/>
    <p:sldId id="284" r:id="rId4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slide" Target="slides/slide22.xml"/><Relationship Id="rId36" Type="http://schemas.openxmlformats.org/officeDocument/2006/relationships/slide" Target="slides/slide23.xml"/><Relationship Id="rId37" Type="http://schemas.openxmlformats.org/officeDocument/2006/relationships/slide" Target="slides/slide24.xml"/><Relationship Id="rId38" Type="http://schemas.openxmlformats.org/officeDocument/2006/relationships/slide" Target="slides/slide25.xml"/><Relationship Id="rId39" Type="http://schemas.openxmlformats.org/officeDocument/2006/relationships/slide" Target="slides/slide26.xml"/><Relationship Id="rId40" Type="http://schemas.openxmlformats.org/officeDocument/2006/relationships/slide" Target="slides/slide27.xml"/><Relationship Id="rId41" Type="http://schemas.openxmlformats.org/officeDocument/2006/relationships/slide" Target="slides/slide28.xml"/><Relationship Id="rId42" Type="http://schemas.openxmlformats.org/officeDocument/2006/relationships/slide" Target="slides/slide29.xml"/><Relationship Id="rId4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D11CDDE-5C35-48B7-91CC-2E76A995D55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CC0BDD8-9DF9-487C-B1F5-EA99F3646C2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36004FC-A50F-4F7C-9222-7EA67B22F8A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30973DCF-BA9D-4D52-BA0E-66384D537A6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DC75E2B5-811A-4A83-9D9C-1DB36776912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5990A23E-4C67-483F-9A3B-47DB5B28080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A7C6FA8C-EECD-46D2-BE4B-70982F957FC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EE884912-1919-4633-819D-353F6C74316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60780065-87CE-4BB7-985C-5AE35A23CEA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B8C5FFDD-305A-48BD-AEBD-FB1267D1E98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汉仪旗黑-60简"/>
                <a:ea typeface="汉仪旗黑-60简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E6105B2-6CD6-4C35-89FB-B97A05934A4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汉仪旗黑-60简"/>
                <a:ea typeface="汉仪旗黑-60简"/>
              </a:rPr>
              <a:t>4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汉仪旗黑-60简"/>
                <a:ea typeface="汉仪旗黑-60简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595A55F-5BB7-4906-B948-A0C15C650CE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汉仪旗黑-60简"/>
                <a:ea typeface="汉仪旗黑-60简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汉仪旗黑-60简"/>
                <a:ea typeface="汉仪旗黑-60简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FB6CF66-A676-49C6-9D4C-5BE8026C218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汉仪旗黑-60简"/>
                <a:ea typeface="汉仪旗黑-60简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汉仪旗黑-60简"/>
                <a:ea typeface="汉仪旗黑-60简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D813708-FA48-4A17-A15F-6BEF80A3C93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汉仪旗黑-60简"/>
                <a:ea typeface="汉仪旗黑-60简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汉仪旗黑-60简"/>
                <a:ea typeface="汉仪旗黑-60简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01F44A9-AEF1-4483-A300-C0B99C00FE7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汉仪旗黑-60简"/>
                <a:ea typeface="汉仪旗黑-60简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6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汉仪旗黑-60简"/>
                <a:ea typeface="汉仪旗黑-60简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19CA388-F519-4A37-AB23-B7EE4F96A9B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汉仪旗黑-60简"/>
                <a:ea typeface="汉仪旗黑-60简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汉仪旗黑-60简"/>
                <a:ea typeface="汉仪旗黑-60简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58870C0-B037-4BE7-9E11-1840A95D5AD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汉仪旗黑-60简"/>
                <a:ea typeface="汉仪旗黑-60简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汉仪旗黑-60简"/>
                <a:ea typeface="汉仪旗黑-60简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618E2EA-39C1-47A3-9F32-E8B1D7D6EA4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汉仪旗黑-60简"/>
                <a:ea typeface="汉仪旗黑-60简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汉仪旗黑-60简"/>
                <a:ea typeface="汉仪旗黑-60简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E177812-3348-4668-B1CB-5D34D29CECC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汉仪旗黑-60简"/>
                <a:ea typeface="汉仪旗黑-60简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汉仪旗黑-60简"/>
                <a:ea typeface="汉仪旗黑-60简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879CCCE-407D-4B18-996A-5E051670CD8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汉仪旗黑-60简"/>
                <a:ea typeface="汉仪旗黑-60简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7.png"/><Relationship Id="rId11" Type="http://schemas.openxmlformats.org/officeDocument/2006/relationships/image" Target="../media/image7.png"/><Relationship Id="rId12" Type="http://schemas.openxmlformats.org/officeDocument/2006/relationships/image" Target="../media/image7.png"/><Relationship Id="rId13" Type="http://schemas.openxmlformats.org/officeDocument/2006/relationships/image" Target="../media/image8.png"/><Relationship Id="rId14" Type="http://schemas.openxmlformats.org/officeDocument/2006/relationships/image" Target="../media/image8.png"/><Relationship Id="rId15" Type="http://schemas.openxmlformats.org/officeDocument/2006/relationships/image" Target="../media/image8.png"/><Relationship Id="rId16" Type="http://schemas.openxmlformats.org/officeDocument/2006/relationships/slideLayout" Target="../slideLayouts/slideLayout10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7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7.png"/><Relationship Id="rId9" Type="http://schemas.openxmlformats.org/officeDocument/2006/relationships/slideLayout" Target="../slideLayouts/slideLayout10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7.png"/><Relationship Id="rId11" Type="http://schemas.openxmlformats.org/officeDocument/2006/relationships/image" Target="../media/image7.png"/><Relationship Id="rId12" Type="http://schemas.openxmlformats.org/officeDocument/2006/relationships/image" Target="../media/image7.png"/><Relationship Id="rId13" Type="http://schemas.openxmlformats.org/officeDocument/2006/relationships/image" Target="../media/image8.png"/><Relationship Id="rId14" Type="http://schemas.openxmlformats.org/officeDocument/2006/relationships/image" Target="../media/image8.png"/><Relationship Id="rId15" Type="http://schemas.openxmlformats.org/officeDocument/2006/relationships/image" Target="../media/image8.png"/><Relationship Id="rId16" Type="http://schemas.openxmlformats.org/officeDocument/2006/relationships/slideLayout" Target="../slideLayouts/slideLayout10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jpeg"/><Relationship Id="rId3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3.jpeg"/><Relationship Id="rId3" Type="http://schemas.openxmlformats.org/officeDocument/2006/relationships/image" Target="../media/image14.jpeg"/><Relationship Id="rId4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5.jpeg"/><Relationship Id="rId3" Type="http://schemas.openxmlformats.org/officeDocument/2006/relationships/image" Target="../media/image16.png"/><Relationship Id="rId4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7.jpeg"/><Relationship Id="rId3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8.jpeg"/><Relationship Id="rId3" Type="http://schemas.microsoft.com/office/2007/relationships/hdphoto" Target="../media/hdphoto1.wdp"/><Relationship Id="rId4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7.png"/><Relationship Id="rId11" Type="http://schemas.openxmlformats.org/officeDocument/2006/relationships/image" Target="../media/image7.png"/><Relationship Id="rId12" Type="http://schemas.openxmlformats.org/officeDocument/2006/relationships/image" Target="../media/image7.png"/><Relationship Id="rId13" Type="http://schemas.openxmlformats.org/officeDocument/2006/relationships/image" Target="../media/image8.png"/><Relationship Id="rId14" Type="http://schemas.openxmlformats.org/officeDocument/2006/relationships/image" Target="../media/image8.png"/><Relationship Id="rId15" Type="http://schemas.openxmlformats.org/officeDocument/2006/relationships/image" Target="../media/image8.png"/><Relationship Id="rId16" Type="http://schemas.openxmlformats.org/officeDocument/2006/relationships/slideLayout" Target="../slideLayouts/slideLayout10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9.jpeg"/><Relationship Id="rId3" Type="http://schemas.openxmlformats.org/officeDocument/2006/relationships/slideLayout" Target="../slideLayouts/slideLayout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5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7.png"/><Relationship Id="rId11" Type="http://schemas.openxmlformats.org/officeDocument/2006/relationships/image" Target="../media/image7.png"/><Relationship Id="rId12" Type="http://schemas.openxmlformats.org/officeDocument/2006/relationships/image" Target="../media/image7.png"/><Relationship Id="rId13" Type="http://schemas.openxmlformats.org/officeDocument/2006/relationships/image" Target="../media/image8.png"/><Relationship Id="rId14" Type="http://schemas.openxmlformats.org/officeDocument/2006/relationships/image" Target="../media/image8.png"/><Relationship Id="rId15" Type="http://schemas.openxmlformats.org/officeDocument/2006/relationships/image" Target="../media/image8.png"/><Relationship Id="rId16" Type="http://schemas.openxmlformats.org/officeDocument/2006/relationships/slideLayout" Target="../slideLayouts/slideLayout10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5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5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5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5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5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image" Target="../media/image20.jpeg"/><Relationship Id="rId3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image" Target="../media/image21.jpeg"/><Relationship Id="rId3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image" Target="../media/image22.jpe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椭圆 15"/>
          <p:cNvSpPr/>
          <p:nvPr/>
        </p:nvSpPr>
        <p:spPr>
          <a:xfrm rot="2842200">
            <a:off x="9421920" y="-53280"/>
            <a:ext cx="2259360" cy="2194200"/>
          </a:xfrm>
          <a:custGeom>
            <a:avLst/>
            <a:gdLst>
              <a:gd name="textAreaLeft" fmla="*/ 0 w 2259360"/>
              <a:gd name="textAreaRight" fmla="*/ 2260080 w 2259360"/>
              <a:gd name="textAreaTop" fmla="*/ 0 h 2194200"/>
              <a:gd name="textAreaBottom" fmla="*/ 2194920 h 2194200"/>
            </a:gdLst>
            <a:ahLst/>
            <a:rect l="textAreaLeft" t="textAreaTop" r="textAreaRight" b="textAreaBottom"/>
            <a:pathLst>
              <a:path w="2260220" h="2194971">
                <a:moveTo>
                  <a:pt x="72" y="990786"/>
                </a:moveTo>
                <a:cubicBezTo>
                  <a:pt x="10232" y="625026"/>
                  <a:pt x="1119215" y="-12514"/>
                  <a:pt x="1495906" y="186"/>
                </a:cubicBezTo>
                <a:cubicBezTo>
                  <a:pt x="1872597" y="12886"/>
                  <a:pt x="2260220" y="452558"/>
                  <a:pt x="2260220" y="1066986"/>
                </a:cubicBezTo>
                <a:cubicBezTo>
                  <a:pt x="2260220" y="1681414"/>
                  <a:pt x="1811637" y="2207446"/>
                  <a:pt x="1434946" y="2194746"/>
                </a:cubicBezTo>
                <a:cubicBezTo>
                  <a:pt x="1058255" y="2182046"/>
                  <a:pt x="-10088" y="1356546"/>
                  <a:pt x="72" y="990786"/>
                </a:cubicBezTo>
                <a:close/>
              </a:path>
            </a:pathLst>
          </a:custGeom>
          <a:solidFill>
            <a:srgbClr val="dde6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微软雅黑"/>
            </a:endParaRPr>
          </a:p>
        </p:txBody>
      </p:sp>
      <p:sp>
        <p:nvSpPr>
          <p:cNvPr id="47" name="任意多边形: 形状 52"/>
          <p:cNvSpPr/>
          <p:nvPr/>
        </p:nvSpPr>
        <p:spPr>
          <a:xfrm rot="21045000">
            <a:off x="10180800" y="1461600"/>
            <a:ext cx="2331000" cy="3606840"/>
          </a:xfrm>
          <a:custGeom>
            <a:avLst/>
            <a:gdLst>
              <a:gd name="textAreaLeft" fmla="*/ 0 w 2331000"/>
              <a:gd name="textAreaRight" fmla="*/ 2331720 w 2331000"/>
              <a:gd name="textAreaTop" fmla="*/ 0 h 3606840"/>
              <a:gd name="textAreaBottom" fmla="*/ 3607560 h 3606840"/>
            </a:gdLst>
            <a:ahLst/>
            <a:rect l="textAreaLeft" t="textAreaTop" r="textAreaRight" b="textAreaBottom"/>
            <a:pathLst>
              <a:path w="2331561" h="3607613">
                <a:moveTo>
                  <a:pt x="2331561" y="0"/>
                </a:moveTo>
                <a:lnTo>
                  <a:pt x="1744322" y="3607613"/>
                </a:lnTo>
                <a:lnTo>
                  <a:pt x="1670871" y="3576558"/>
                </a:lnTo>
                <a:cubicBezTo>
                  <a:pt x="1011725" y="3255565"/>
                  <a:pt x="-172288" y="2133388"/>
                  <a:pt x="21069" y="1563934"/>
                </a:cubicBezTo>
                <a:cubicBezTo>
                  <a:pt x="171267" y="1121591"/>
                  <a:pt x="1356739" y="411448"/>
                  <a:pt x="2269564" y="25026"/>
                </a:cubicBezTo>
                <a:close/>
              </a:path>
            </a:pathLst>
          </a:custGeom>
          <a:solidFill>
            <a:srgbClr val="dde6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微软雅黑"/>
            </a:endParaRPr>
          </a:p>
        </p:txBody>
      </p:sp>
      <p:sp>
        <p:nvSpPr>
          <p:cNvPr id="48" name="任意多边形: 形状 66"/>
          <p:cNvSpPr/>
          <p:nvPr/>
        </p:nvSpPr>
        <p:spPr>
          <a:xfrm rot="3262800">
            <a:off x="3424680" y="4976280"/>
            <a:ext cx="2247120" cy="2177280"/>
          </a:xfrm>
          <a:custGeom>
            <a:avLst/>
            <a:gdLst>
              <a:gd name="textAreaLeft" fmla="*/ 0 w 2247120"/>
              <a:gd name="textAreaRight" fmla="*/ 2247840 w 2247120"/>
              <a:gd name="textAreaTop" fmla="*/ 0 h 2177280"/>
              <a:gd name="textAreaBottom" fmla="*/ 2178000 h 2177280"/>
            </a:gdLst>
            <a:ahLst/>
            <a:rect l="textAreaLeft" t="textAreaTop" r="textAreaRight" b="textAreaBottom"/>
            <a:pathLst>
              <a:path w="2247974" h="2177942">
                <a:moveTo>
                  <a:pt x="51813" y="842687"/>
                </a:moveTo>
                <a:cubicBezTo>
                  <a:pt x="276035" y="475801"/>
                  <a:pt x="1166301" y="-10926"/>
                  <a:pt x="1495906" y="186"/>
                </a:cubicBezTo>
                <a:cubicBezTo>
                  <a:pt x="1825511" y="11298"/>
                  <a:pt x="2163485" y="349312"/>
                  <a:pt x="2242829" y="845260"/>
                </a:cubicBezTo>
                <a:lnTo>
                  <a:pt x="2247974" y="910860"/>
                </a:lnTo>
                <a:lnTo>
                  <a:pt x="1340011" y="2177942"/>
                </a:lnTo>
                <a:lnTo>
                  <a:pt x="1264723" y="2154369"/>
                </a:lnTo>
                <a:cubicBezTo>
                  <a:pt x="808021" y="1982854"/>
                  <a:pt x="-8818" y="1310826"/>
                  <a:pt x="72" y="990786"/>
                </a:cubicBezTo>
                <a:cubicBezTo>
                  <a:pt x="1342" y="945066"/>
                  <a:pt x="19781" y="895100"/>
                  <a:pt x="51813" y="842687"/>
                </a:cubicBezTo>
                <a:close/>
              </a:path>
            </a:pathLst>
          </a:custGeom>
          <a:solidFill>
            <a:srgbClr val="dde6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微软雅黑"/>
            </a:endParaRPr>
          </a:p>
        </p:txBody>
      </p:sp>
      <p:sp>
        <p:nvSpPr>
          <p:cNvPr id="49" name="椭圆 15"/>
          <p:cNvSpPr/>
          <p:nvPr/>
        </p:nvSpPr>
        <p:spPr>
          <a:xfrm rot="17148600">
            <a:off x="1352160" y="4430880"/>
            <a:ext cx="1682640" cy="1513800"/>
          </a:xfrm>
          <a:custGeom>
            <a:avLst/>
            <a:gdLst>
              <a:gd name="textAreaLeft" fmla="*/ 0 w 1682640"/>
              <a:gd name="textAreaRight" fmla="*/ 1683360 w 1682640"/>
              <a:gd name="textAreaTop" fmla="*/ 0 h 1513800"/>
              <a:gd name="textAreaBottom" fmla="*/ 1514520 h 1513800"/>
            </a:gdLst>
            <a:ahLst/>
            <a:rect l="textAreaLeft" t="textAreaTop" r="textAreaRight" b="textAreaBottom"/>
            <a:pathLst>
              <a:path w="2260220" h="2194971">
                <a:moveTo>
                  <a:pt x="72" y="990786"/>
                </a:moveTo>
                <a:cubicBezTo>
                  <a:pt x="10232" y="625026"/>
                  <a:pt x="1119215" y="-12514"/>
                  <a:pt x="1495906" y="186"/>
                </a:cubicBezTo>
                <a:cubicBezTo>
                  <a:pt x="1872597" y="12886"/>
                  <a:pt x="2260220" y="452558"/>
                  <a:pt x="2260220" y="1066986"/>
                </a:cubicBezTo>
                <a:cubicBezTo>
                  <a:pt x="2260220" y="1681414"/>
                  <a:pt x="1811637" y="2207446"/>
                  <a:pt x="1434946" y="2194746"/>
                </a:cubicBezTo>
                <a:cubicBezTo>
                  <a:pt x="1058255" y="2182046"/>
                  <a:pt x="-10088" y="1356546"/>
                  <a:pt x="72" y="990786"/>
                </a:cubicBezTo>
                <a:close/>
              </a:path>
            </a:pathLst>
          </a:custGeom>
          <a:solidFill>
            <a:srgbClr val="dde6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微软雅黑"/>
            </a:endParaRPr>
          </a:p>
        </p:txBody>
      </p:sp>
      <p:sp>
        <p:nvSpPr>
          <p:cNvPr id="50" name="任意多边形: 形状 64"/>
          <p:cNvSpPr/>
          <p:nvPr/>
        </p:nvSpPr>
        <p:spPr>
          <a:xfrm>
            <a:off x="0" y="4189320"/>
            <a:ext cx="5747040" cy="2667960"/>
          </a:xfrm>
          <a:custGeom>
            <a:avLst/>
            <a:gdLst>
              <a:gd name="textAreaLeft" fmla="*/ 0 w 5747040"/>
              <a:gd name="textAreaRight" fmla="*/ 5747760 w 5747040"/>
              <a:gd name="textAreaTop" fmla="*/ 0 h 2667960"/>
              <a:gd name="textAreaBottom" fmla="*/ 2668680 h 2667960"/>
            </a:gdLst>
            <a:ahLst/>
            <a:rect l="textAreaLeft" t="textAreaTop" r="textAreaRight" b="textAreaBottom"/>
            <a:pathLst>
              <a:path w="5747714" h="2668654">
                <a:moveTo>
                  <a:pt x="1624616" y="110"/>
                </a:moveTo>
                <a:cubicBezTo>
                  <a:pt x="2534078" y="-19001"/>
                  <a:pt x="1894140" y="2458488"/>
                  <a:pt x="2209218" y="2067944"/>
                </a:cubicBezTo>
                <a:cubicBezTo>
                  <a:pt x="3560354" y="205583"/>
                  <a:pt x="3585999" y="2093580"/>
                  <a:pt x="3823996" y="2312238"/>
                </a:cubicBezTo>
                <a:cubicBezTo>
                  <a:pt x="3944533" y="2467912"/>
                  <a:pt x="6062040" y="1910373"/>
                  <a:pt x="5707813" y="2627676"/>
                </a:cubicBezTo>
                <a:lnTo>
                  <a:pt x="5684304" y="2668654"/>
                </a:lnTo>
                <a:lnTo>
                  <a:pt x="0" y="2668654"/>
                </a:lnTo>
                <a:lnTo>
                  <a:pt x="0" y="1160865"/>
                </a:lnTo>
                <a:lnTo>
                  <a:pt x="40483" y="1117818"/>
                </a:lnTo>
                <a:cubicBezTo>
                  <a:pt x="818280" y="307039"/>
                  <a:pt x="1312621" y="6666"/>
                  <a:pt x="1624616" y="110"/>
                </a:cubicBezTo>
                <a:close/>
              </a:path>
            </a:pathLst>
          </a:custGeom>
          <a:solidFill>
            <a:srgbClr val="437f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微软雅黑"/>
            </a:endParaRPr>
          </a:p>
        </p:txBody>
      </p:sp>
      <p:sp>
        <p:nvSpPr>
          <p:cNvPr id="51" name="任意多边形: 形状 54"/>
          <p:cNvSpPr/>
          <p:nvPr/>
        </p:nvSpPr>
        <p:spPr>
          <a:xfrm flipH="1" flipV="1">
            <a:off x="6817680" y="-360"/>
            <a:ext cx="5388120" cy="2590200"/>
          </a:xfrm>
          <a:custGeom>
            <a:avLst/>
            <a:gdLst>
              <a:gd name="textAreaLeft" fmla="*/ 360 w 5388120"/>
              <a:gd name="textAreaRight" fmla="*/ 5389200 w 5388120"/>
              <a:gd name="textAreaTop" fmla="*/ 360 h 2590200"/>
              <a:gd name="textAreaBottom" fmla="*/ 2591280 h 2590200"/>
            </a:gdLst>
            <a:ahLst/>
            <a:rect l="textAreaLeft" t="textAreaTop" r="textAreaRight" b="textAreaBottom"/>
            <a:pathLst>
              <a:path w="5388932" h="2590800">
                <a:moveTo>
                  <a:pt x="5259419" y="2590800"/>
                </a:moveTo>
                <a:lnTo>
                  <a:pt x="0" y="2590800"/>
                </a:lnTo>
                <a:lnTo>
                  <a:pt x="0" y="920456"/>
                </a:lnTo>
                <a:lnTo>
                  <a:pt x="43304" y="877720"/>
                </a:lnTo>
                <a:cubicBezTo>
                  <a:pt x="698632" y="245254"/>
                  <a:pt x="1127005" y="5755"/>
                  <a:pt x="1405263" y="103"/>
                </a:cubicBezTo>
                <a:cubicBezTo>
                  <a:pt x="2283970" y="-17748"/>
                  <a:pt x="1665672" y="2296390"/>
                  <a:pt x="1970095" y="1931596"/>
                </a:cubicBezTo>
                <a:cubicBezTo>
                  <a:pt x="3275541" y="192028"/>
                  <a:pt x="3300319" y="1955541"/>
                  <a:pt x="3530267" y="2159782"/>
                </a:cubicBezTo>
                <a:cubicBezTo>
                  <a:pt x="3650485" y="2309882"/>
                  <a:pt x="5826630" y="1750122"/>
                  <a:pt x="5309659" y="2523042"/>
                </a:cubicBezTo>
                <a:close/>
              </a:path>
            </a:pathLst>
          </a:custGeom>
          <a:solidFill>
            <a:srgbClr val="437f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微软雅黑"/>
            </a:endParaRPr>
          </a:p>
        </p:txBody>
      </p:sp>
      <p:sp>
        <p:nvSpPr>
          <p:cNvPr id="52" name="矩形 11"/>
          <p:cNvSpPr/>
          <p:nvPr/>
        </p:nvSpPr>
        <p:spPr>
          <a:xfrm>
            <a:off x="7869240" y="5082840"/>
            <a:ext cx="4337280" cy="1774440"/>
          </a:xfrm>
          <a:custGeom>
            <a:avLst/>
            <a:gdLst>
              <a:gd name="textAreaLeft" fmla="*/ 0 w 4337280"/>
              <a:gd name="textAreaRight" fmla="*/ 4338000 w 4337280"/>
              <a:gd name="textAreaTop" fmla="*/ 0 h 1774440"/>
              <a:gd name="textAreaBottom" fmla="*/ 1775160 h 1774440"/>
            </a:gdLst>
            <a:ahLst/>
            <a:rect l="textAreaLeft" t="textAreaTop" r="textAreaRight" b="textAreaBottom"/>
            <a:pathLst>
              <a:path w="4337863" h="1775000">
                <a:moveTo>
                  <a:pt x="2310943" y="1150160"/>
                </a:moveTo>
                <a:cubicBezTo>
                  <a:pt x="3306623" y="1454960"/>
                  <a:pt x="1376223" y="-648160"/>
                  <a:pt x="4337863" y="205280"/>
                </a:cubicBezTo>
                <a:lnTo>
                  <a:pt x="4322623" y="1775000"/>
                </a:lnTo>
                <a:lnTo>
                  <a:pt x="314503" y="1775000"/>
                </a:lnTo>
                <a:cubicBezTo>
                  <a:pt x="-493217" y="738680"/>
                  <a:pt x="284023" y="586280"/>
                  <a:pt x="2310943" y="1150160"/>
                </a:cubicBezTo>
                <a:close/>
              </a:path>
            </a:pathLst>
          </a:custGeom>
          <a:solidFill>
            <a:srgbClr val="cbba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微软雅黑"/>
            </a:endParaRPr>
          </a:p>
        </p:txBody>
      </p:sp>
      <p:sp>
        <p:nvSpPr>
          <p:cNvPr id="53" name="任意多边形: 形状 14"/>
          <p:cNvSpPr/>
          <p:nvPr/>
        </p:nvSpPr>
        <p:spPr>
          <a:xfrm flipH="1" flipV="1" rot="1261200">
            <a:off x="844200" y="-462240"/>
            <a:ext cx="2931480" cy="1413000"/>
          </a:xfrm>
          <a:custGeom>
            <a:avLst/>
            <a:gdLst>
              <a:gd name="textAreaLeft" fmla="*/ 360 w 2931480"/>
              <a:gd name="textAreaRight" fmla="*/ 2932560 w 2931480"/>
              <a:gd name="textAreaTop" fmla="*/ 360 h 1413000"/>
              <a:gd name="textAreaBottom" fmla="*/ 1414080 h 1413000"/>
            </a:gdLst>
            <a:ahLst/>
            <a:rect l="textAreaLeft" t="textAreaTop" r="textAreaRight" b="textAreaBottom"/>
            <a:pathLst>
              <a:path w="4608708" h="1949134">
                <a:moveTo>
                  <a:pt x="4608708" y="612347"/>
                </a:moveTo>
                <a:lnTo>
                  <a:pt x="627416" y="1949134"/>
                </a:lnTo>
                <a:lnTo>
                  <a:pt x="596046" y="1928925"/>
                </a:lnTo>
                <a:cubicBezTo>
                  <a:pt x="179625" y="1648364"/>
                  <a:pt x="-960031" y="553643"/>
                  <a:pt x="1745193" y="1233638"/>
                </a:cubicBezTo>
                <a:cubicBezTo>
                  <a:pt x="3216455" y="1640585"/>
                  <a:pt x="559360" y="-1151268"/>
                  <a:pt x="4492609" y="561039"/>
                </a:cubicBezTo>
                <a:close/>
              </a:path>
            </a:pathLst>
          </a:custGeom>
          <a:solidFill>
            <a:srgbClr val="cbba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微软雅黑"/>
            </a:endParaRPr>
          </a:p>
        </p:txBody>
      </p:sp>
      <p:sp>
        <p:nvSpPr>
          <p:cNvPr id="54" name="任意多边形: 形状 25"/>
          <p:cNvSpPr/>
          <p:nvPr/>
        </p:nvSpPr>
        <p:spPr>
          <a:xfrm flipV="1">
            <a:off x="3714120" y="-720"/>
            <a:ext cx="2189160" cy="1209240"/>
          </a:xfrm>
          <a:custGeom>
            <a:avLst/>
            <a:gdLst>
              <a:gd name="textAreaLeft" fmla="*/ 0 w 2189160"/>
              <a:gd name="textAreaRight" fmla="*/ 2189880 w 2189160"/>
              <a:gd name="textAreaTop" fmla="*/ 360 h 1209240"/>
              <a:gd name="textAreaBottom" fmla="*/ 1210320 h 1209240"/>
            </a:gdLst>
            <a:ahLst/>
            <a:rect l="textAreaLeft" t="textAreaTop" r="textAreaRight" b="textAreaBottom"/>
            <a:pathLst>
              <a:path w="2190032" h="1209887">
                <a:moveTo>
                  <a:pt x="0" y="1209887"/>
                </a:moveTo>
                <a:lnTo>
                  <a:pt x="2186519" y="1209887"/>
                </a:lnTo>
                <a:lnTo>
                  <a:pt x="2189593" y="1095953"/>
                </a:lnTo>
                <a:cubicBezTo>
                  <a:pt x="2196276" y="565249"/>
                  <a:pt x="2131174" y="-8823"/>
                  <a:pt x="1691820" y="103"/>
                </a:cubicBezTo>
                <a:cubicBezTo>
                  <a:pt x="1390375" y="6226"/>
                  <a:pt x="912751" y="286795"/>
                  <a:pt x="161257" y="1044115"/>
                </a:cubicBezTo>
                <a:close/>
              </a:path>
            </a:pathLst>
          </a:custGeom>
          <a:solidFill>
            <a:srgbClr val="dde6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微软雅黑"/>
            </a:endParaRPr>
          </a:p>
        </p:txBody>
      </p:sp>
      <p:sp>
        <p:nvSpPr>
          <p:cNvPr id="55" name="图片 56"/>
          <p:cNvSpPr/>
          <p:nvPr/>
        </p:nvSpPr>
        <p:spPr>
          <a:xfrm>
            <a:off x="10460520" y="-27720"/>
            <a:ext cx="1746000" cy="1683360"/>
          </a:xfrm>
          <a:custGeom>
            <a:avLst/>
            <a:gdLst>
              <a:gd name="textAreaLeft" fmla="*/ 0 w 1746000"/>
              <a:gd name="textAreaRight" fmla="*/ 1746720 w 1746000"/>
              <a:gd name="textAreaTop" fmla="*/ 0 h 1683360"/>
              <a:gd name="textAreaBottom" fmla="*/ 1684080 h 1683360"/>
            </a:gdLst>
            <a:ahLst/>
            <a:rect l="textAreaLeft" t="textAreaTop" r="textAreaRight" b="textAreaBottom"/>
            <a:pathLst>
              <a:path w="1746571" h="1684066">
                <a:moveTo>
                  <a:pt x="0" y="0"/>
                </a:moveTo>
                <a:lnTo>
                  <a:pt x="1746571" y="0"/>
                </a:lnTo>
                <a:lnTo>
                  <a:pt x="1746571" y="1684066"/>
                </a:lnTo>
                <a:lnTo>
                  <a:pt x="0" y="1684066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微软雅黑"/>
            </a:endParaRPr>
          </a:p>
        </p:txBody>
      </p:sp>
      <p:sp>
        <p:nvSpPr>
          <p:cNvPr id="56" name="图片 62"/>
          <p:cNvSpPr/>
          <p:nvPr/>
        </p:nvSpPr>
        <p:spPr>
          <a:xfrm>
            <a:off x="0" y="5082840"/>
            <a:ext cx="5442840" cy="1774440"/>
          </a:xfrm>
          <a:custGeom>
            <a:avLst/>
            <a:gdLst>
              <a:gd name="textAreaLeft" fmla="*/ 0 w 5442840"/>
              <a:gd name="textAreaRight" fmla="*/ 5443560 w 5442840"/>
              <a:gd name="textAreaTop" fmla="*/ 0 h 1774440"/>
              <a:gd name="textAreaBottom" fmla="*/ 1775160 h 1774440"/>
            </a:gdLst>
            <a:ahLst/>
            <a:rect l="textAreaLeft" t="textAreaTop" r="textAreaRight" b="textAreaBottom"/>
            <a:pathLst>
              <a:path w="5443464" h="1775001">
                <a:moveTo>
                  <a:pt x="0" y="0"/>
                </a:moveTo>
                <a:lnTo>
                  <a:pt x="5443464" y="0"/>
                </a:lnTo>
                <a:lnTo>
                  <a:pt x="5443464" y="1775001"/>
                </a:lnTo>
                <a:lnTo>
                  <a:pt x="0" y="1775001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微软雅黑"/>
            </a:endParaRPr>
          </a:p>
        </p:txBody>
      </p:sp>
      <p:sp>
        <p:nvSpPr>
          <p:cNvPr id="57" name="图片 50"/>
          <p:cNvSpPr/>
          <p:nvPr/>
        </p:nvSpPr>
        <p:spPr>
          <a:xfrm>
            <a:off x="-645840" y="-27720"/>
            <a:ext cx="2480400" cy="2022120"/>
          </a:xfrm>
          <a:custGeom>
            <a:avLst/>
            <a:gdLst>
              <a:gd name="textAreaLeft" fmla="*/ 0 w 2480400"/>
              <a:gd name="textAreaRight" fmla="*/ 2481120 w 2480400"/>
              <a:gd name="textAreaTop" fmla="*/ 0 h 2022120"/>
              <a:gd name="textAreaBottom" fmla="*/ 2022840 h 2022120"/>
            </a:gdLst>
            <a:ahLst/>
            <a:rect l="textAreaLeft" t="textAreaTop" r="textAreaRight" b="textAreaBottom"/>
            <a:pathLst>
              <a:path w="2481287" h="2022787">
                <a:moveTo>
                  <a:pt x="0" y="0"/>
                </a:moveTo>
                <a:lnTo>
                  <a:pt x="2481287" y="0"/>
                </a:lnTo>
                <a:lnTo>
                  <a:pt x="2481287" y="2022787"/>
                </a:lnTo>
                <a:lnTo>
                  <a:pt x="645825" y="2022787"/>
                </a:lnTo>
                <a:lnTo>
                  <a:pt x="645825" y="576367"/>
                </a:lnTo>
                <a:lnTo>
                  <a:pt x="0" y="576367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微软雅黑"/>
            </a:endParaRPr>
          </a:p>
        </p:txBody>
      </p:sp>
      <p:sp>
        <p:nvSpPr>
          <p:cNvPr id="58" name="图片 85"/>
          <p:cNvSpPr/>
          <p:nvPr/>
        </p:nvSpPr>
        <p:spPr>
          <a:xfrm flipV="1" rot="18409200">
            <a:off x="80280" y="723600"/>
            <a:ext cx="1583280" cy="2881080"/>
          </a:xfrm>
          <a:custGeom>
            <a:avLst/>
            <a:gdLst>
              <a:gd name="textAreaLeft" fmla="*/ 0 w 1583280"/>
              <a:gd name="textAreaRight" fmla="*/ 1583640 w 1583280"/>
              <a:gd name="textAreaTop" fmla="*/ 360 h 2881080"/>
              <a:gd name="textAreaBottom" fmla="*/ 2882160 h 2881080"/>
            </a:gdLst>
            <a:ahLst/>
            <a:rect l="textAreaLeft" t="textAreaTop" r="textAreaRight" b="textAreaBottom"/>
            <a:pathLst>
              <a:path w="1722646" h="4034899">
                <a:moveTo>
                  <a:pt x="1722646" y="4034899"/>
                </a:moveTo>
                <a:lnTo>
                  <a:pt x="1722646" y="0"/>
                </a:lnTo>
                <a:lnTo>
                  <a:pt x="0" y="0"/>
                </a:lnTo>
                <a:lnTo>
                  <a:pt x="0" y="2938701"/>
                </a:lnTo>
                <a:lnTo>
                  <a:pt x="1463990" y="4034899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微软雅黑"/>
            </a:endParaRPr>
          </a:p>
        </p:txBody>
      </p:sp>
      <p:sp>
        <p:nvSpPr>
          <p:cNvPr id="59" name="图片 87"/>
          <p:cNvSpPr/>
          <p:nvPr/>
        </p:nvSpPr>
        <p:spPr>
          <a:xfrm rot="17386200">
            <a:off x="10214280" y="3364920"/>
            <a:ext cx="1480680" cy="2761920"/>
          </a:xfrm>
          <a:custGeom>
            <a:avLst/>
            <a:gdLst>
              <a:gd name="textAreaLeft" fmla="*/ 0 w 1480680"/>
              <a:gd name="textAreaRight" fmla="*/ 1481400 w 1480680"/>
              <a:gd name="textAreaTop" fmla="*/ 0 h 2761920"/>
              <a:gd name="textAreaBottom" fmla="*/ 2762640 h 2761920"/>
            </a:gdLst>
            <a:ahLst/>
            <a:rect l="textAreaLeft" t="textAreaTop" r="textAreaRight" b="textAreaBottom"/>
            <a:pathLst>
              <a:path w="1338404" h="3254651">
                <a:moveTo>
                  <a:pt x="1338404" y="0"/>
                </a:moveTo>
                <a:lnTo>
                  <a:pt x="1338404" y="2949509"/>
                </a:lnTo>
                <a:lnTo>
                  <a:pt x="489174" y="3254651"/>
                </a:lnTo>
                <a:lnTo>
                  <a:pt x="0" y="325465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微软雅黑"/>
            </a:endParaRPr>
          </a:p>
        </p:txBody>
      </p:sp>
      <p:pic>
        <p:nvPicPr>
          <p:cNvPr id="60" name="图片 77" descr=""/>
          <p:cNvPicPr/>
          <p:nvPr/>
        </p:nvPicPr>
        <p:blipFill>
          <a:blip r:embed="rId6"/>
          <a:stretch/>
        </p:blipFill>
        <p:spPr>
          <a:xfrm rot="9104400">
            <a:off x="1539360" y="1578960"/>
            <a:ext cx="336960" cy="401400"/>
          </a:xfrm>
          <a:prstGeom prst="rect">
            <a:avLst/>
          </a:prstGeom>
          <a:ln w="0">
            <a:noFill/>
          </a:ln>
        </p:spPr>
      </p:pic>
      <p:pic>
        <p:nvPicPr>
          <p:cNvPr id="61" name="图片 78" descr=""/>
          <p:cNvPicPr/>
          <p:nvPr/>
        </p:nvPicPr>
        <p:blipFill>
          <a:blip r:embed="rId7"/>
          <a:stretch/>
        </p:blipFill>
        <p:spPr>
          <a:xfrm>
            <a:off x="9634680" y="5071680"/>
            <a:ext cx="270720" cy="322560"/>
          </a:xfrm>
          <a:prstGeom prst="rect">
            <a:avLst/>
          </a:prstGeom>
          <a:ln w="0">
            <a:noFill/>
          </a:ln>
        </p:spPr>
      </p:pic>
      <p:pic>
        <p:nvPicPr>
          <p:cNvPr id="62" name="图片 79" descr=""/>
          <p:cNvPicPr/>
          <p:nvPr/>
        </p:nvPicPr>
        <p:blipFill>
          <a:blip r:embed="rId8"/>
          <a:stretch/>
        </p:blipFill>
        <p:spPr>
          <a:xfrm rot="13770600">
            <a:off x="11165040" y="3863160"/>
            <a:ext cx="336960" cy="401400"/>
          </a:xfrm>
          <a:prstGeom prst="rect">
            <a:avLst/>
          </a:prstGeom>
          <a:ln w="0">
            <a:noFill/>
          </a:ln>
        </p:spPr>
      </p:pic>
      <p:pic>
        <p:nvPicPr>
          <p:cNvPr id="63" name="图片 80" descr=""/>
          <p:cNvPicPr/>
          <p:nvPr/>
        </p:nvPicPr>
        <p:blipFill>
          <a:blip r:embed="rId9"/>
          <a:stretch/>
        </p:blipFill>
        <p:spPr>
          <a:xfrm>
            <a:off x="776160" y="660600"/>
            <a:ext cx="270720" cy="322560"/>
          </a:xfrm>
          <a:prstGeom prst="rect">
            <a:avLst/>
          </a:prstGeom>
          <a:ln w="0">
            <a:noFill/>
          </a:ln>
        </p:spPr>
      </p:pic>
      <p:pic>
        <p:nvPicPr>
          <p:cNvPr id="64" name="图片 81" descr=""/>
          <p:cNvPicPr/>
          <p:nvPr/>
        </p:nvPicPr>
        <p:blipFill>
          <a:blip r:embed="rId10"/>
          <a:stretch/>
        </p:blipFill>
        <p:spPr>
          <a:xfrm>
            <a:off x="768960" y="2760480"/>
            <a:ext cx="270720" cy="322560"/>
          </a:xfrm>
          <a:prstGeom prst="rect">
            <a:avLst/>
          </a:prstGeom>
          <a:ln w="0">
            <a:noFill/>
          </a:ln>
        </p:spPr>
      </p:pic>
      <p:pic>
        <p:nvPicPr>
          <p:cNvPr id="65" name="图片 82" descr=""/>
          <p:cNvPicPr/>
          <p:nvPr/>
        </p:nvPicPr>
        <p:blipFill>
          <a:blip r:embed="rId11"/>
          <a:stretch/>
        </p:blipFill>
        <p:spPr>
          <a:xfrm rot="5848200">
            <a:off x="9916920" y="2440440"/>
            <a:ext cx="270720" cy="322560"/>
          </a:xfrm>
          <a:prstGeom prst="rect">
            <a:avLst/>
          </a:prstGeom>
          <a:ln w="0">
            <a:noFill/>
          </a:ln>
        </p:spPr>
      </p:pic>
      <p:pic>
        <p:nvPicPr>
          <p:cNvPr id="66" name="图片 83" descr=""/>
          <p:cNvPicPr/>
          <p:nvPr/>
        </p:nvPicPr>
        <p:blipFill>
          <a:blip r:embed="rId12"/>
          <a:stretch/>
        </p:blipFill>
        <p:spPr>
          <a:xfrm rot="7431000">
            <a:off x="2851560" y="4844520"/>
            <a:ext cx="314640" cy="375120"/>
          </a:xfrm>
          <a:prstGeom prst="rect">
            <a:avLst/>
          </a:prstGeom>
          <a:ln w="0">
            <a:noFill/>
          </a:ln>
        </p:spPr>
      </p:pic>
      <p:pic>
        <p:nvPicPr>
          <p:cNvPr id="67" name="图片 90" descr=""/>
          <p:cNvPicPr/>
          <p:nvPr/>
        </p:nvPicPr>
        <p:blipFill>
          <a:blip r:embed="rId13"/>
          <a:srcRect l="23810" t="50006" r="61590" b="37825"/>
          <a:stretch/>
        </p:blipFill>
        <p:spPr>
          <a:xfrm rot="20863200">
            <a:off x="9224280" y="1700640"/>
            <a:ext cx="458640" cy="382680"/>
          </a:xfrm>
          <a:prstGeom prst="rect">
            <a:avLst/>
          </a:prstGeom>
          <a:ln w="0">
            <a:noFill/>
          </a:ln>
        </p:spPr>
      </p:pic>
      <p:pic>
        <p:nvPicPr>
          <p:cNvPr id="68" name="图片 91" descr=""/>
          <p:cNvPicPr/>
          <p:nvPr/>
        </p:nvPicPr>
        <p:blipFill>
          <a:blip r:embed="rId14"/>
          <a:srcRect l="23810" t="50006" r="61590" b="37825"/>
          <a:stretch/>
        </p:blipFill>
        <p:spPr>
          <a:xfrm rot="1158600">
            <a:off x="4947120" y="622080"/>
            <a:ext cx="458640" cy="382680"/>
          </a:xfrm>
          <a:prstGeom prst="rect">
            <a:avLst/>
          </a:prstGeom>
          <a:ln w="0">
            <a:noFill/>
          </a:ln>
        </p:spPr>
      </p:pic>
      <p:pic>
        <p:nvPicPr>
          <p:cNvPr id="69" name="图片 92" descr=""/>
          <p:cNvPicPr/>
          <p:nvPr/>
        </p:nvPicPr>
        <p:blipFill>
          <a:blip r:embed="rId15"/>
          <a:srcRect l="23810" t="50006" r="61590" b="37825"/>
          <a:stretch/>
        </p:blipFill>
        <p:spPr>
          <a:xfrm rot="1147200">
            <a:off x="2304720" y="4253760"/>
            <a:ext cx="458640" cy="382680"/>
          </a:xfrm>
          <a:prstGeom prst="rect">
            <a:avLst/>
          </a:prstGeom>
          <a:ln w="0">
            <a:noFill/>
          </a:ln>
        </p:spPr>
      </p:pic>
      <p:sp>
        <p:nvSpPr>
          <p:cNvPr id="70" name="文本框 29"/>
          <p:cNvSpPr/>
          <p:nvPr/>
        </p:nvSpPr>
        <p:spPr>
          <a:xfrm>
            <a:off x="2194560" y="1686960"/>
            <a:ext cx="740412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zh-CN" sz="4400" spc="-1" strike="noStrike">
                <a:solidFill>
                  <a:srgbClr val="c00000"/>
                </a:solidFill>
                <a:latin typeface="方正粗宋简体"/>
                <a:ea typeface="方正粗宋简体"/>
              </a:rPr>
              <a:t>高中数学第一课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文本框 1"/>
          <p:cNvSpPr/>
          <p:nvPr/>
        </p:nvSpPr>
        <p:spPr>
          <a:xfrm>
            <a:off x="2617920" y="2693880"/>
            <a:ext cx="7004520" cy="19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zh-CN" sz="6000" spc="-1" strike="noStrike">
                <a:solidFill>
                  <a:srgbClr val="437f76"/>
                </a:solidFill>
                <a:latin typeface="方正粗宋简体"/>
                <a:ea typeface="方正粗宋简体"/>
              </a:rPr>
              <a:t>从《天才基本法》谈高中数学怎么学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文本框 2"/>
          <p:cNvSpPr/>
          <p:nvPr/>
        </p:nvSpPr>
        <p:spPr>
          <a:xfrm>
            <a:off x="8413560" y="4989600"/>
            <a:ext cx="270108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zh-CN" sz="3200" spc="-1" strike="noStrike">
                <a:solidFill>
                  <a:schemeClr val="dk1"/>
                </a:solidFill>
                <a:latin typeface="Arial"/>
                <a:ea typeface="微软雅黑"/>
              </a:rPr>
              <a:t>刘  元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>
        <p:random/>
      </p:transition>
    </mc:Choice>
    <mc:Fallback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文本框 39"/>
          <p:cNvSpPr/>
          <p:nvPr/>
        </p:nvSpPr>
        <p:spPr>
          <a:xfrm>
            <a:off x="5678640" y="1333080"/>
            <a:ext cx="309312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4000" spc="-1" strike="noStrike">
                <a:solidFill>
                  <a:srgbClr val="dde6e5"/>
                </a:solidFill>
                <a:latin typeface="Forte"/>
                <a:ea typeface="思源黑体 CN Bold"/>
              </a:rPr>
              <a:t>CONTENTS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文本框 40"/>
          <p:cNvSpPr/>
          <p:nvPr/>
        </p:nvSpPr>
        <p:spPr>
          <a:xfrm>
            <a:off x="3040200" y="863640"/>
            <a:ext cx="2792160" cy="143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zh-CN" sz="88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中山行书百年纪念版"/>
                <a:ea typeface="中山行书百年纪念版"/>
              </a:rPr>
              <a:t>目录</a:t>
            </a:r>
            <a:endParaRPr b="0" lang="en-US" sz="8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椭圆 15"/>
          <p:cNvSpPr/>
          <p:nvPr/>
        </p:nvSpPr>
        <p:spPr>
          <a:xfrm rot="17148600">
            <a:off x="1865520" y="3237840"/>
            <a:ext cx="838440" cy="823320"/>
          </a:xfrm>
          <a:custGeom>
            <a:avLst/>
            <a:gdLst>
              <a:gd name="textAreaLeft" fmla="*/ 0 w 838440"/>
              <a:gd name="textAreaRight" fmla="*/ 839160 w 838440"/>
              <a:gd name="textAreaTop" fmla="*/ 0 h 823320"/>
              <a:gd name="textAreaBottom" fmla="*/ 824040 h 823320"/>
            </a:gdLst>
            <a:ahLst/>
            <a:rect l="textAreaLeft" t="textAreaTop" r="textAreaRight" b="textAreaBottom"/>
            <a:pathLst>
              <a:path w="2260220" h="2194971">
                <a:moveTo>
                  <a:pt x="72" y="990786"/>
                </a:moveTo>
                <a:cubicBezTo>
                  <a:pt x="10232" y="625026"/>
                  <a:pt x="1119215" y="-12514"/>
                  <a:pt x="1495906" y="186"/>
                </a:cubicBezTo>
                <a:cubicBezTo>
                  <a:pt x="1872597" y="12886"/>
                  <a:pt x="2260220" y="452558"/>
                  <a:pt x="2260220" y="1066986"/>
                </a:cubicBezTo>
                <a:cubicBezTo>
                  <a:pt x="2260220" y="1681414"/>
                  <a:pt x="1811637" y="2207446"/>
                  <a:pt x="1434946" y="2194746"/>
                </a:cubicBezTo>
                <a:cubicBezTo>
                  <a:pt x="1058255" y="2182046"/>
                  <a:pt x="-10088" y="1356546"/>
                  <a:pt x="72" y="990786"/>
                </a:cubicBezTo>
                <a:close/>
              </a:path>
            </a:pathLst>
          </a:custGeom>
          <a:solidFill>
            <a:srgbClr val="dde6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微软雅黑"/>
            </a:endParaRPr>
          </a:p>
        </p:txBody>
      </p:sp>
      <p:sp>
        <p:nvSpPr>
          <p:cNvPr id="76" name="椭圆 15"/>
          <p:cNvSpPr/>
          <p:nvPr/>
        </p:nvSpPr>
        <p:spPr>
          <a:xfrm rot="20823000">
            <a:off x="1850400" y="3266280"/>
            <a:ext cx="779400" cy="766440"/>
          </a:xfrm>
          <a:custGeom>
            <a:avLst/>
            <a:gdLst>
              <a:gd name="textAreaLeft" fmla="*/ 0 w 779400"/>
              <a:gd name="textAreaRight" fmla="*/ 780120 w 779400"/>
              <a:gd name="textAreaTop" fmla="*/ 0 h 766440"/>
              <a:gd name="textAreaBottom" fmla="*/ 767160 h 766440"/>
            </a:gdLst>
            <a:ahLst/>
            <a:rect l="textAreaLeft" t="textAreaTop" r="textAreaRight" b="textAreaBottom"/>
            <a:pathLst>
              <a:path w="2260220" h="2194971">
                <a:moveTo>
                  <a:pt x="72" y="990786"/>
                </a:moveTo>
                <a:cubicBezTo>
                  <a:pt x="10232" y="625026"/>
                  <a:pt x="1119215" y="-12514"/>
                  <a:pt x="1495906" y="186"/>
                </a:cubicBezTo>
                <a:cubicBezTo>
                  <a:pt x="1872597" y="12886"/>
                  <a:pt x="2260220" y="452558"/>
                  <a:pt x="2260220" y="1066986"/>
                </a:cubicBezTo>
                <a:cubicBezTo>
                  <a:pt x="2260220" y="1681414"/>
                  <a:pt x="1811637" y="2207446"/>
                  <a:pt x="1434946" y="2194746"/>
                </a:cubicBezTo>
                <a:cubicBezTo>
                  <a:pt x="1058255" y="2182046"/>
                  <a:pt x="-10088" y="1356546"/>
                  <a:pt x="72" y="990786"/>
                </a:cubicBezTo>
                <a:close/>
              </a:path>
            </a:pathLst>
          </a:custGeom>
          <a:solidFill>
            <a:srgbClr val="437f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微软雅黑"/>
            </a:endParaRPr>
          </a:p>
        </p:txBody>
      </p:sp>
      <p:sp>
        <p:nvSpPr>
          <p:cNvPr id="77" name="椭圆 15"/>
          <p:cNvSpPr/>
          <p:nvPr/>
        </p:nvSpPr>
        <p:spPr>
          <a:xfrm rot="17148600">
            <a:off x="5617440" y="3247920"/>
            <a:ext cx="838440" cy="823320"/>
          </a:xfrm>
          <a:custGeom>
            <a:avLst/>
            <a:gdLst>
              <a:gd name="textAreaLeft" fmla="*/ 0 w 838440"/>
              <a:gd name="textAreaRight" fmla="*/ 839160 w 838440"/>
              <a:gd name="textAreaTop" fmla="*/ 0 h 823320"/>
              <a:gd name="textAreaBottom" fmla="*/ 824040 h 823320"/>
            </a:gdLst>
            <a:ahLst/>
            <a:rect l="textAreaLeft" t="textAreaTop" r="textAreaRight" b="textAreaBottom"/>
            <a:pathLst>
              <a:path w="2260220" h="2194971">
                <a:moveTo>
                  <a:pt x="72" y="990786"/>
                </a:moveTo>
                <a:cubicBezTo>
                  <a:pt x="10232" y="625026"/>
                  <a:pt x="1119215" y="-12514"/>
                  <a:pt x="1495906" y="186"/>
                </a:cubicBezTo>
                <a:cubicBezTo>
                  <a:pt x="1872597" y="12886"/>
                  <a:pt x="2260220" y="452558"/>
                  <a:pt x="2260220" y="1066986"/>
                </a:cubicBezTo>
                <a:cubicBezTo>
                  <a:pt x="2260220" y="1681414"/>
                  <a:pt x="1811637" y="2207446"/>
                  <a:pt x="1434946" y="2194746"/>
                </a:cubicBezTo>
                <a:cubicBezTo>
                  <a:pt x="1058255" y="2182046"/>
                  <a:pt x="-10088" y="1356546"/>
                  <a:pt x="72" y="990786"/>
                </a:cubicBezTo>
                <a:close/>
              </a:path>
            </a:pathLst>
          </a:custGeom>
          <a:solidFill>
            <a:srgbClr val="dde6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微软雅黑"/>
            </a:endParaRPr>
          </a:p>
        </p:txBody>
      </p:sp>
      <p:sp>
        <p:nvSpPr>
          <p:cNvPr id="78" name="椭圆 15"/>
          <p:cNvSpPr/>
          <p:nvPr/>
        </p:nvSpPr>
        <p:spPr>
          <a:xfrm rot="20823000">
            <a:off x="5602320" y="3276000"/>
            <a:ext cx="779400" cy="766440"/>
          </a:xfrm>
          <a:custGeom>
            <a:avLst/>
            <a:gdLst>
              <a:gd name="textAreaLeft" fmla="*/ 0 w 779400"/>
              <a:gd name="textAreaRight" fmla="*/ 780120 w 779400"/>
              <a:gd name="textAreaTop" fmla="*/ 0 h 766440"/>
              <a:gd name="textAreaBottom" fmla="*/ 767160 h 766440"/>
            </a:gdLst>
            <a:ahLst/>
            <a:rect l="textAreaLeft" t="textAreaTop" r="textAreaRight" b="textAreaBottom"/>
            <a:pathLst>
              <a:path w="2260220" h="2194971">
                <a:moveTo>
                  <a:pt x="72" y="990786"/>
                </a:moveTo>
                <a:cubicBezTo>
                  <a:pt x="10232" y="625026"/>
                  <a:pt x="1119215" y="-12514"/>
                  <a:pt x="1495906" y="186"/>
                </a:cubicBezTo>
                <a:cubicBezTo>
                  <a:pt x="1872597" y="12886"/>
                  <a:pt x="2260220" y="452558"/>
                  <a:pt x="2260220" y="1066986"/>
                </a:cubicBezTo>
                <a:cubicBezTo>
                  <a:pt x="2260220" y="1681414"/>
                  <a:pt x="1811637" y="2207446"/>
                  <a:pt x="1434946" y="2194746"/>
                </a:cubicBezTo>
                <a:cubicBezTo>
                  <a:pt x="1058255" y="2182046"/>
                  <a:pt x="-10088" y="1356546"/>
                  <a:pt x="72" y="990786"/>
                </a:cubicBezTo>
                <a:close/>
              </a:path>
            </a:pathLst>
          </a:custGeom>
          <a:solidFill>
            <a:srgbClr val="cbba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微软雅黑"/>
            </a:endParaRPr>
          </a:p>
        </p:txBody>
      </p:sp>
      <p:sp>
        <p:nvSpPr>
          <p:cNvPr id="79" name="椭圆 15"/>
          <p:cNvSpPr/>
          <p:nvPr/>
        </p:nvSpPr>
        <p:spPr>
          <a:xfrm rot="17148600">
            <a:off x="9249840" y="3259080"/>
            <a:ext cx="838440" cy="823320"/>
          </a:xfrm>
          <a:custGeom>
            <a:avLst/>
            <a:gdLst>
              <a:gd name="textAreaLeft" fmla="*/ 0 w 838440"/>
              <a:gd name="textAreaRight" fmla="*/ 839160 w 838440"/>
              <a:gd name="textAreaTop" fmla="*/ 0 h 823320"/>
              <a:gd name="textAreaBottom" fmla="*/ 824040 h 823320"/>
            </a:gdLst>
            <a:ahLst/>
            <a:rect l="textAreaLeft" t="textAreaTop" r="textAreaRight" b="textAreaBottom"/>
            <a:pathLst>
              <a:path w="2260220" h="2194971">
                <a:moveTo>
                  <a:pt x="72" y="990786"/>
                </a:moveTo>
                <a:cubicBezTo>
                  <a:pt x="10232" y="625026"/>
                  <a:pt x="1119215" y="-12514"/>
                  <a:pt x="1495906" y="186"/>
                </a:cubicBezTo>
                <a:cubicBezTo>
                  <a:pt x="1872597" y="12886"/>
                  <a:pt x="2260220" y="452558"/>
                  <a:pt x="2260220" y="1066986"/>
                </a:cubicBezTo>
                <a:cubicBezTo>
                  <a:pt x="2260220" y="1681414"/>
                  <a:pt x="1811637" y="2207446"/>
                  <a:pt x="1434946" y="2194746"/>
                </a:cubicBezTo>
                <a:cubicBezTo>
                  <a:pt x="1058255" y="2182046"/>
                  <a:pt x="-10088" y="1356546"/>
                  <a:pt x="72" y="990786"/>
                </a:cubicBezTo>
                <a:close/>
              </a:path>
            </a:pathLst>
          </a:custGeom>
          <a:solidFill>
            <a:srgbClr val="dde6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微软雅黑"/>
            </a:endParaRPr>
          </a:p>
        </p:txBody>
      </p:sp>
      <p:sp>
        <p:nvSpPr>
          <p:cNvPr id="80" name="椭圆 15"/>
          <p:cNvSpPr/>
          <p:nvPr/>
        </p:nvSpPr>
        <p:spPr>
          <a:xfrm rot="20823000">
            <a:off x="9234720" y="3287160"/>
            <a:ext cx="779400" cy="766440"/>
          </a:xfrm>
          <a:custGeom>
            <a:avLst/>
            <a:gdLst>
              <a:gd name="textAreaLeft" fmla="*/ 0 w 779400"/>
              <a:gd name="textAreaRight" fmla="*/ 780120 w 779400"/>
              <a:gd name="textAreaTop" fmla="*/ 0 h 766440"/>
              <a:gd name="textAreaBottom" fmla="*/ 767160 h 766440"/>
            </a:gdLst>
            <a:ahLst/>
            <a:rect l="textAreaLeft" t="textAreaTop" r="textAreaRight" b="textAreaBottom"/>
            <a:pathLst>
              <a:path w="2260220" h="2194971">
                <a:moveTo>
                  <a:pt x="72" y="990786"/>
                </a:moveTo>
                <a:cubicBezTo>
                  <a:pt x="10232" y="625026"/>
                  <a:pt x="1119215" y="-12514"/>
                  <a:pt x="1495906" y="186"/>
                </a:cubicBezTo>
                <a:cubicBezTo>
                  <a:pt x="1872597" y="12886"/>
                  <a:pt x="2260220" y="452558"/>
                  <a:pt x="2260220" y="1066986"/>
                </a:cubicBezTo>
                <a:cubicBezTo>
                  <a:pt x="2260220" y="1681414"/>
                  <a:pt x="1811637" y="2207446"/>
                  <a:pt x="1434946" y="2194746"/>
                </a:cubicBezTo>
                <a:cubicBezTo>
                  <a:pt x="1058255" y="2182046"/>
                  <a:pt x="-10088" y="1356546"/>
                  <a:pt x="72" y="990786"/>
                </a:cubicBezTo>
                <a:close/>
              </a:path>
            </a:pathLst>
          </a:custGeom>
          <a:solidFill>
            <a:srgbClr val="437f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微软雅黑"/>
            </a:endParaRPr>
          </a:p>
        </p:txBody>
      </p:sp>
      <p:sp>
        <p:nvSpPr>
          <p:cNvPr id="81" name="文本框 55"/>
          <p:cNvSpPr/>
          <p:nvPr/>
        </p:nvSpPr>
        <p:spPr>
          <a:xfrm>
            <a:off x="2016720" y="3353760"/>
            <a:ext cx="5752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800" spc="-1" strike="noStrike">
                <a:solidFill>
                  <a:schemeClr val="lt1"/>
                </a:solidFill>
                <a:latin typeface="Arial"/>
                <a:ea typeface="微软雅黑"/>
              </a:rPr>
              <a:t>01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文本框 56"/>
          <p:cNvSpPr/>
          <p:nvPr/>
        </p:nvSpPr>
        <p:spPr>
          <a:xfrm>
            <a:off x="5757120" y="3363480"/>
            <a:ext cx="5752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800" spc="-1" strike="noStrike">
                <a:solidFill>
                  <a:schemeClr val="lt1"/>
                </a:solidFill>
                <a:latin typeface="Arial"/>
                <a:ea typeface="微软雅黑"/>
              </a:rPr>
              <a:t>02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文本框 57"/>
          <p:cNvSpPr/>
          <p:nvPr/>
        </p:nvSpPr>
        <p:spPr>
          <a:xfrm>
            <a:off x="9389520" y="3374640"/>
            <a:ext cx="5752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800" spc="-1" strike="noStrike">
                <a:solidFill>
                  <a:schemeClr val="lt1"/>
                </a:solidFill>
                <a:latin typeface="Arial"/>
                <a:ea typeface="微软雅黑"/>
              </a:rPr>
              <a:t>03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文本框 59"/>
          <p:cNvSpPr/>
          <p:nvPr/>
        </p:nvSpPr>
        <p:spPr>
          <a:xfrm>
            <a:off x="613800" y="4164480"/>
            <a:ext cx="3381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zh-CN" sz="3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经典繁毛楷"/>
                <a:ea typeface="经典繁毛楷"/>
              </a:rPr>
              <a:t>为什么要学数学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图片 79"/>
          <p:cNvSpPr/>
          <p:nvPr/>
        </p:nvSpPr>
        <p:spPr>
          <a:xfrm flipH="1" flipV="1" rot="3190800">
            <a:off x="10512360" y="218160"/>
            <a:ext cx="1599480" cy="2889000"/>
          </a:xfrm>
          <a:custGeom>
            <a:avLst/>
            <a:gdLst>
              <a:gd name="textAreaLeft" fmla="*/ 360 w 1599480"/>
              <a:gd name="textAreaRight" fmla="*/ 1600560 w 1599480"/>
              <a:gd name="textAreaTop" fmla="*/ 360 h 2889000"/>
              <a:gd name="textAreaBottom" fmla="*/ 2890080 h 2889000"/>
            </a:gdLst>
            <a:ahLst/>
            <a:rect l="textAreaLeft" t="textAreaTop" r="textAreaRight" b="textAreaBottom"/>
            <a:pathLst>
              <a:path w="1722646" h="4034899">
                <a:moveTo>
                  <a:pt x="1722646" y="4034899"/>
                </a:moveTo>
                <a:lnTo>
                  <a:pt x="1722646" y="0"/>
                </a:lnTo>
                <a:lnTo>
                  <a:pt x="0" y="0"/>
                </a:lnTo>
                <a:lnTo>
                  <a:pt x="0" y="2938701"/>
                </a:lnTo>
                <a:lnTo>
                  <a:pt x="1463990" y="4034899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微软雅黑"/>
            </a:endParaRPr>
          </a:p>
        </p:txBody>
      </p:sp>
      <p:pic>
        <p:nvPicPr>
          <p:cNvPr id="86" name="图片 80" descr=""/>
          <p:cNvPicPr/>
          <p:nvPr/>
        </p:nvPicPr>
        <p:blipFill>
          <a:blip r:embed="rId2"/>
          <a:stretch/>
        </p:blipFill>
        <p:spPr>
          <a:xfrm flipH="1" rot="12495600">
            <a:off x="10306080" y="1069920"/>
            <a:ext cx="338040" cy="405720"/>
          </a:xfrm>
          <a:prstGeom prst="rect">
            <a:avLst/>
          </a:prstGeom>
          <a:ln w="0">
            <a:noFill/>
          </a:ln>
        </p:spPr>
      </p:pic>
      <p:pic>
        <p:nvPicPr>
          <p:cNvPr id="87" name="图片 81" descr=""/>
          <p:cNvPicPr/>
          <p:nvPr/>
        </p:nvPicPr>
        <p:blipFill>
          <a:blip r:embed="rId3"/>
          <a:stretch/>
        </p:blipFill>
        <p:spPr>
          <a:xfrm flipH="1">
            <a:off x="11138760" y="143280"/>
            <a:ext cx="271440" cy="325800"/>
          </a:xfrm>
          <a:prstGeom prst="rect">
            <a:avLst/>
          </a:prstGeom>
          <a:ln w="0">
            <a:noFill/>
          </a:ln>
        </p:spPr>
      </p:pic>
      <p:pic>
        <p:nvPicPr>
          <p:cNvPr id="88" name="图片 82" descr=""/>
          <p:cNvPicPr/>
          <p:nvPr/>
        </p:nvPicPr>
        <p:blipFill>
          <a:blip r:embed="rId4"/>
          <a:stretch/>
        </p:blipFill>
        <p:spPr>
          <a:xfrm flipH="1">
            <a:off x="11146320" y="2264040"/>
            <a:ext cx="271440" cy="325800"/>
          </a:xfrm>
          <a:prstGeom prst="rect">
            <a:avLst/>
          </a:prstGeom>
          <a:ln w="0">
            <a:noFill/>
          </a:ln>
        </p:spPr>
      </p:pic>
      <p:sp>
        <p:nvSpPr>
          <p:cNvPr id="89" name="图片 83"/>
          <p:cNvSpPr/>
          <p:nvPr/>
        </p:nvSpPr>
        <p:spPr>
          <a:xfrm>
            <a:off x="-645840" y="-27720"/>
            <a:ext cx="2480400" cy="2022120"/>
          </a:xfrm>
          <a:custGeom>
            <a:avLst/>
            <a:gdLst>
              <a:gd name="textAreaLeft" fmla="*/ 0 w 2480400"/>
              <a:gd name="textAreaRight" fmla="*/ 2481120 w 2480400"/>
              <a:gd name="textAreaTop" fmla="*/ 0 h 2022120"/>
              <a:gd name="textAreaBottom" fmla="*/ 2022840 h 2022120"/>
            </a:gdLst>
            <a:ahLst/>
            <a:rect l="textAreaLeft" t="textAreaTop" r="textAreaRight" b="textAreaBottom"/>
            <a:pathLst>
              <a:path w="2481287" h="2022787">
                <a:moveTo>
                  <a:pt x="0" y="0"/>
                </a:moveTo>
                <a:lnTo>
                  <a:pt x="2481287" y="0"/>
                </a:lnTo>
                <a:lnTo>
                  <a:pt x="2481287" y="2022787"/>
                </a:lnTo>
                <a:lnTo>
                  <a:pt x="645825" y="2022787"/>
                </a:lnTo>
                <a:lnTo>
                  <a:pt x="645825" y="576367"/>
                </a:lnTo>
                <a:lnTo>
                  <a:pt x="0" y="576367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微软雅黑"/>
            </a:endParaRPr>
          </a:p>
        </p:txBody>
      </p:sp>
      <p:pic>
        <p:nvPicPr>
          <p:cNvPr id="90" name="图片 84" descr=""/>
          <p:cNvPicPr/>
          <p:nvPr/>
        </p:nvPicPr>
        <p:blipFill>
          <a:blip r:embed="rId6"/>
          <a:stretch/>
        </p:blipFill>
        <p:spPr>
          <a:xfrm rot="9104400">
            <a:off x="1875240" y="571680"/>
            <a:ext cx="336960" cy="401400"/>
          </a:xfrm>
          <a:prstGeom prst="rect">
            <a:avLst/>
          </a:prstGeom>
          <a:ln w="0">
            <a:noFill/>
          </a:ln>
        </p:spPr>
      </p:pic>
      <p:pic>
        <p:nvPicPr>
          <p:cNvPr id="91" name="图片 85" descr=""/>
          <p:cNvPicPr/>
          <p:nvPr/>
        </p:nvPicPr>
        <p:blipFill>
          <a:blip r:embed="rId7"/>
          <a:stretch/>
        </p:blipFill>
        <p:spPr>
          <a:xfrm>
            <a:off x="776160" y="660600"/>
            <a:ext cx="270720" cy="322560"/>
          </a:xfrm>
          <a:prstGeom prst="rect">
            <a:avLst/>
          </a:prstGeom>
          <a:ln w="0">
            <a:noFill/>
          </a:ln>
        </p:spPr>
      </p:pic>
      <p:pic>
        <p:nvPicPr>
          <p:cNvPr id="92" name="图片 86" descr=""/>
          <p:cNvPicPr/>
          <p:nvPr/>
        </p:nvPicPr>
        <p:blipFill>
          <a:blip r:embed="rId8"/>
          <a:stretch/>
        </p:blipFill>
        <p:spPr>
          <a:xfrm>
            <a:off x="594720" y="2266920"/>
            <a:ext cx="270720" cy="322560"/>
          </a:xfrm>
          <a:prstGeom prst="rect">
            <a:avLst/>
          </a:prstGeom>
          <a:ln w="0">
            <a:noFill/>
          </a:ln>
        </p:spPr>
      </p:pic>
      <p:sp>
        <p:nvSpPr>
          <p:cNvPr id="93" name="文本框 31"/>
          <p:cNvSpPr/>
          <p:nvPr/>
        </p:nvSpPr>
        <p:spPr>
          <a:xfrm>
            <a:off x="4811040" y="4164480"/>
            <a:ext cx="246672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zh-CN" sz="3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经典繁毛楷"/>
                <a:ea typeface="经典繁毛楷"/>
              </a:rPr>
              <a:t>初高中数学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3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经典繁毛楷"/>
                <a:ea typeface="经典繁毛楷"/>
              </a:rPr>
              <a:t>的区别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文本框 32"/>
          <p:cNvSpPr/>
          <p:nvPr/>
        </p:nvSpPr>
        <p:spPr>
          <a:xfrm>
            <a:off x="7758000" y="4164480"/>
            <a:ext cx="38383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zh-CN" sz="3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经典繁毛楷"/>
                <a:ea typeface="经典繁毛楷"/>
              </a:rPr>
              <a:t>怎样学好高中数学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2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 additive="repl">
                                        <p:cTn id="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nodeType="withEffect" fill="hold" presetClass="entr" presetID="2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 additive="repl">
                                        <p:cTn id="1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5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3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4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7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8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1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2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5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6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9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0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3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4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7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8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1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2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5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6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9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0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椭圆 15"/>
          <p:cNvSpPr/>
          <p:nvPr/>
        </p:nvSpPr>
        <p:spPr>
          <a:xfrm rot="2842200">
            <a:off x="9421920" y="-53280"/>
            <a:ext cx="2259360" cy="2194200"/>
          </a:xfrm>
          <a:custGeom>
            <a:avLst/>
            <a:gdLst>
              <a:gd name="textAreaLeft" fmla="*/ 0 w 2259360"/>
              <a:gd name="textAreaRight" fmla="*/ 2260080 w 2259360"/>
              <a:gd name="textAreaTop" fmla="*/ 0 h 2194200"/>
              <a:gd name="textAreaBottom" fmla="*/ 2194920 h 2194200"/>
            </a:gdLst>
            <a:ahLst/>
            <a:rect l="textAreaLeft" t="textAreaTop" r="textAreaRight" b="textAreaBottom"/>
            <a:pathLst>
              <a:path w="2260220" h="2194971">
                <a:moveTo>
                  <a:pt x="72" y="990786"/>
                </a:moveTo>
                <a:cubicBezTo>
                  <a:pt x="10232" y="625026"/>
                  <a:pt x="1119215" y="-12514"/>
                  <a:pt x="1495906" y="186"/>
                </a:cubicBezTo>
                <a:cubicBezTo>
                  <a:pt x="1872597" y="12886"/>
                  <a:pt x="2260220" y="452558"/>
                  <a:pt x="2260220" y="1066986"/>
                </a:cubicBezTo>
                <a:cubicBezTo>
                  <a:pt x="2260220" y="1681414"/>
                  <a:pt x="1811637" y="2207446"/>
                  <a:pt x="1434946" y="2194746"/>
                </a:cubicBezTo>
                <a:cubicBezTo>
                  <a:pt x="1058255" y="2182046"/>
                  <a:pt x="-10088" y="1356546"/>
                  <a:pt x="72" y="990786"/>
                </a:cubicBezTo>
                <a:close/>
              </a:path>
            </a:pathLst>
          </a:custGeom>
          <a:solidFill>
            <a:srgbClr val="dde6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微软雅黑"/>
            </a:endParaRPr>
          </a:p>
        </p:txBody>
      </p:sp>
      <p:sp>
        <p:nvSpPr>
          <p:cNvPr id="96" name="任意多边形: 形状 52"/>
          <p:cNvSpPr/>
          <p:nvPr/>
        </p:nvSpPr>
        <p:spPr>
          <a:xfrm rot="21045000">
            <a:off x="10180800" y="1461600"/>
            <a:ext cx="2331000" cy="3606840"/>
          </a:xfrm>
          <a:custGeom>
            <a:avLst/>
            <a:gdLst>
              <a:gd name="textAreaLeft" fmla="*/ 0 w 2331000"/>
              <a:gd name="textAreaRight" fmla="*/ 2331720 w 2331000"/>
              <a:gd name="textAreaTop" fmla="*/ 0 h 3606840"/>
              <a:gd name="textAreaBottom" fmla="*/ 3607560 h 3606840"/>
            </a:gdLst>
            <a:ahLst/>
            <a:rect l="textAreaLeft" t="textAreaTop" r="textAreaRight" b="textAreaBottom"/>
            <a:pathLst>
              <a:path w="2331561" h="3607613">
                <a:moveTo>
                  <a:pt x="2331561" y="0"/>
                </a:moveTo>
                <a:lnTo>
                  <a:pt x="1744322" y="3607613"/>
                </a:lnTo>
                <a:lnTo>
                  <a:pt x="1670871" y="3576558"/>
                </a:lnTo>
                <a:cubicBezTo>
                  <a:pt x="1011725" y="3255565"/>
                  <a:pt x="-172288" y="2133388"/>
                  <a:pt x="21069" y="1563934"/>
                </a:cubicBezTo>
                <a:cubicBezTo>
                  <a:pt x="171267" y="1121591"/>
                  <a:pt x="1356739" y="411448"/>
                  <a:pt x="2269564" y="25026"/>
                </a:cubicBezTo>
                <a:close/>
              </a:path>
            </a:pathLst>
          </a:custGeom>
          <a:solidFill>
            <a:srgbClr val="dde6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微软雅黑"/>
            </a:endParaRPr>
          </a:p>
        </p:txBody>
      </p:sp>
      <p:sp>
        <p:nvSpPr>
          <p:cNvPr id="97" name="任意多边形: 形状 66"/>
          <p:cNvSpPr/>
          <p:nvPr/>
        </p:nvSpPr>
        <p:spPr>
          <a:xfrm rot="3262800">
            <a:off x="3424680" y="4976280"/>
            <a:ext cx="2247120" cy="2177280"/>
          </a:xfrm>
          <a:custGeom>
            <a:avLst/>
            <a:gdLst>
              <a:gd name="textAreaLeft" fmla="*/ 0 w 2247120"/>
              <a:gd name="textAreaRight" fmla="*/ 2247840 w 2247120"/>
              <a:gd name="textAreaTop" fmla="*/ 0 h 2177280"/>
              <a:gd name="textAreaBottom" fmla="*/ 2178000 h 2177280"/>
            </a:gdLst>
            <a:ahLst/>
            <a:rect l="textAreaLeft" t="textAreaTop" r="textAreaRight" b="textAreaBottom"/>
            <a:pathLst>
              <a:path w="2247974" h="2177942">
                <a:moveTo>
                  <a:pt x="51813" y="842687"/>
                </a:moveTo>
                <a:cubicBezTo>
                  <a:pt x="276035" y="475801"/>
                  <a:pt x="1166301" y="-10926"/>
                  <a:pt x="1495906" y="186"/>
                </a:cubicBezTo>
                <a:cubicBezTo>
                  <a:pt x="1825511" y="11298"/>
                  <a:pt x="2163485" y="349312"/>
                  <a:pt x="2242829" y="845260"/>
                </a:cubicBezTo>
                <a:lnTo>
                  <a:pt x="2247974" y="910860"/>
                </a:lnTo>
                <a:lnTo>
                  <a:pt x="1340011" y="2177942"/>
                </a:lnTo>
                <a:lnTo>
                  <a:pt x="1264723" y="2154369"/>
                </a:lnTo>
                <a:cubicBezTo>
                  <a:pt x="808021" y="1982854"/>
                  <a:pt x="-8818" y="1310826"/>
                  <a:pt x="72" y="990786"/>
                </a:cubicBezTo>
                <a:cubicBezTo>
                  <a:pt x="1342" y="945066"/>
                  <a:pt x="19781" y="895100"/>
                  <a:pt x="51813" y="842687"/>
                </a:cubicBezTo>
                <a:close/>
              </a:path>
            </a:pathLst>
          </a:custGeom>
          <a:solidFill>
            <a:srgbClr val="dde6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微软雅黑"/>
            </a:endParaRPr>
          </a:p>
        </p:txBody>
      </p:sp>
      <p:sp>
        <p:nvSpPr>
          <p:cNvPr id="98" name="椭圆 15"/>
          <p:cNvSpPr/>
          <p:nvPr/>
        </p:nvSpPr>
        <p:spPr>
          <a:xfrm rot="17148600">
            <a:off x="1352160" y="4430880"/>
            <a:ext cx="1682640" cy="1513800"/>
          </a:xfrm>
          <a:custGeom>
            <a:avLst/>
            <a:gdLst>
              <a:gd name="textAreaLeft" fmla="*/ 0 w 1682640"/>
              <a:gd name="textAreaRight" fmla="*/ 1683360 w 1682640"/>
              <a:gd name="textAreaTop" fmla="*/ 0 h 1513800"/>
              <a:gd name="textAreaBottom" fmla="*/ 1514520 h 1513800"/>
            </a:gdLst>
            <a:ahLst/>
            <a:rect l="textAreaLeft" t="textAreaTop" r="textAreaRight" b="textAreaBottom"/>
            <a:pathLst>
              <a:path w="2260220" h="2194971">
                <a:moveTo>
                  <a:pt x="72" y="990786"/>
                </a:moveTo>
                <a:cubicBezTo>
                  <a:pt x="10232" y="625026"/>
                  <a:pt x="1119215" y="-12514"/>
                  <a:pt x="1495906" y="186"/>
                </a:cubicBezTo>
                <a:cubicBezTo>
                  <a:pt x="1872597" y="12886"/>
                  <a:pt x="2260220" y="452558"/>
                  <a:pt x="2260220" y="1066986"/>
                </a:cubicBezTo>
                <a:cubicBezTo>
                  <a:pt x="2260220" y="1681414"/>
                  <a:pt x="1811637" y="2207446"/>
                  <a:pt x="1434946" y="2194746"/>
                </a:cubicBezTo>
                <a:cubicBezTo>
                  <a:pt x="1058255" y="2182046"/>
                  <a:pt x="-10088" y="1356546"/>
                  <a:pt x="72" y="990786"/>
                </a:cubicBezTo>
                <a:close/>
              </a:path>
            </a:pathLst>
          </a:custGeom>
          <a:solidFill>
            <a:srgbClr val="dde6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微软雅黑"/>
            </a:endParaRPr>
          </a:p>
        </p:txBody>
      </p:sp>
      <p:sp>
        <p:nvSpPr>
          <p:cNvPr id="99" name="任意多边形: 形状 64"/>
          <p:cNvSpPr/>
          <p:nvPr/>
        </p:nvSpPr>
        <p:spPr>
          <a:xfrm>
            <a:off x="0" y="4189320"/>
            <a:ext cx="5747040" cy="2667960"/>
          </a:xfrm>
          <a:custGeom>
            <a:avLst/>
            <a:gdLst>
              <a:gd name="textAreaLeft" fmla="*/ 0 w 5747040"/>
              <a:gd name="textAreaRight" fmla="*/ 5747760 w 5747040"/>
              <a:gd name="textAreaTop" fmla="*/ 0 h 2667960"/>
              <a:gd name="textAreaBottom" fmla="*/ 2668680 h 2667960"/>
            </a:gdLst>
            <a:ahLst/>
            <a:rect l="textAreaLeft" t="textAreaTop" r="textAreaRight" b="textAreaBottom"/>
            <a:pathLst>
              <a:path w="5747714" h="2668654">
                <a:moveTo>
                  <a:pt x="1624616" y="110"/>
                </a:moveTo>
                <a:cubicBezTo>
                  <a:pt x="2534078" y="-19001"/>
                  <a:pt x="1894140" y="2458488"/>
                  <a:pt x="2209218" y="2067944"/>
                </a:cubicBezTo>
                <a:cubicBezTo>
                  <a:pt x="3560354" y="205583"/>
                  <a:pt x="3585999" y="2093580"/>
                  <a:pt x="3823996" y="2312238"/>
                </a:cubicBezTo>
                <a:cubicBezTo>
                  <a:pt x="3944533" y="2467912"/>
                  <a:pt x="6062040" y="1910373"/>
                  <a:pt x="5707813" y="2627676"/>
                </a:cubicBezTo>
                <a:lnTo>
                  <a:pt x="5684304" y="2668654"/>
                </a:lnTo>
                <a:lnTo>
                  <a:pt x="0" y="2668654"/>
                </a:lnTo>
                <a:lnTo>
                  <a:pt x="0" y="1160865"/>
                </a:lnTo>
                <a:lnTo>
                  <a:pt x="40483" y="1117818"/>
                </a:lnTo>
                <a:cubicBezTo>
                  <a:pt x="818280" y="307039"/>
                  <a:pt x="1312621" y="6666"/>
                  <a:pt x="1624616" y="110"/>
                </a:cubicBezTo>
                <a:close/>
              </a:path>
            </a:pathLst>
          </a:custGeom>
          <a:solidFill>
            <a:srgbClr val="437f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微软雅黑"/>
            </a:endParaRPr>
          </a:p>
        </p:txBody>
      </p:sp>
      <p:sp>
        <p:nvSpPr>
          <p:cNvPr id="100" name="任意多边形: 形状 54"/>
          <p:cNvSpPr/>
          <p:nvPr/>
        </p:nvSpPr>
        <p:spPr>
          <a:xfrm flipH="1" flipV="1">
            <a:off x="6817680" y="-360"/>
            <a:ext cx="5388120" cy="2590200"/>
          </a:xfrm>
          <a:custGeom>
            <a:avLst/>
            <a:gdLst>
              <a:gd name="textAreaLeft" fmla="*/ 360 w 5388120"/>
              <a:gd name="textAreaRight" fmla="*/ 5389200 w 5388120"/>
              <a:gd name="textAreaTop" fmla="*/ 360 h 2590200"/>
              <a:gd name="textAreaBottom" fmla="*/ 2591280 h 2590200"/>
            </a:gdLst>
            <a:ahLst/>
            <a:rect l="textAreaLeft" t="textAreaTop" r="textAreaRight" b="textAreaBottom"/>
            <a:pathLst>
              <a:path w="5388932" h="2590800">
                <a:moveTo>
                  <a:pt x="5259419" y="2590800"/>
                </a:moveTo>
                <a:lnTo>
                  <a:pt x="0" y="2590800"/>
                </a:lnTo>
                <a:lnTo>
                  <a:pt x="0" y="920456"/>
                </a:lnTo>
                <a:lnTo>
                  <a:pt x="43304" y="877720"/>
                </a:lnTo>
                <a:cubicBezTo>
                  <a:pt x="698632" y="245254"/>
                  <a:pt x="1127005" y="5755"/>
                  <a:pt x="1405263" y="103"/>
                </a:cubicBezTo>
                <a:cubicBezTo>
                  <a:pt x="2283970" y="-17748"/>
                  <a:pt x="1665672" y="2296390"/>
                  <a:pt x="1970095" y="1931596"/>
                </a:cubicBezTo>
                <a:cubicBezTo>
                  <a:pt x="3275541" y="192028"/>
                  <a:pt x="3300319" y="1955541"/>
                  <a:pt x="3530267" y="2159782"/>
                </a:cubicBezTo>
                <a:cubicBezTo>
                  <a:pt x="3650485" y="2309882"/>
                  <a:pt x="5826630" y="1750122"/>
                  <a:pt x="5309659" y="2523042"/>
                </a:cubicBezTo>
                <a:close/>
              </a:path>
            </a:pathLst>
          </a:custGeom>
          <a:solidFill>
            <a:srgbClr val="437f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微软雅黑"/>
            </a:endParaRPr>
          </a:p>
        </p:txBody>
      </p:sp>
      <p:sp>
        <p:nvSpPr>
          <p:cNvPr id="101" name="矩形 11"/>
          <p:cNvSpPr/>
          <p:nvPr/>
        </p:nvSpPr>
        <p:spPr>
          <a:xfrm>
            <a:off x="7869240" y="5082840"/>
            <a:ext cx="4337280" cy="1774440"/>
          </a:xfrm>
          <a:custGeom>
            <a:avLst/>
            <a:gdLst>
              <a:gd name="textAreaLeft" fmla="*/ 0 w 4337280"/>
              <a:gd name="textAreaRight" fmla="*/ 4338000 w 4337280"/>
              <a:gd name="textAreaTop" fmla="*/ 0 h 1774440"/>
              <a:gd name="textAreaBottom" fmla="*/ 1775160 h 1774440"/>
            </a:gdLst>
            <a:ahLst/>
            <a:rect l="textAreaLeft" t="textAreaTop" r="textAreaRight" b="textAreaBottom"/>
            <a:pathLst>
              <a:path w="4337863" h="1775000">
                <a:moveTo>
                  <a:pt x="2310943" y="1150160"/>
                </a:moveTo>
                <a:cubicBezTo>
                  <a:pt x="3306623" y="1454960"/>
                  <a:pt x="1376223" y="-648160"/>
                  <a:pt x="4337863" y="205280"/>
                </a:cubicBezTo>
                <a:lnTo>
                  <a:pt x="4322623" y="1775000"/>
                </a:lnTo>
                <a:lnTo>
                  <a:pt x="314503" y="1775000"/>
                </a:lnTo>
                <a:cubicBezTo>
                  <a:pt x="-493217" y="738680"/>
                  <a:pt x="284023" y="586280"/>
                  <a:pt x="2310943" y="1150160"/>
                </a:cubicBezTo>
                <a:close/>
              </a:path>
            </a:pathLst>
          </a:custGeom>
          <a:solidFill>
            <a:srgbClr val="cbba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微软雅黑"/>
            </a:endParaRPr>
          </a:p>
        </p:txBody>
      </p:sp>
      <p:sp>
        <p:nvSpPr>
          <p:cNvPr id="102" name="任意多边形: 形状 14"/>
          <p:cNvSpPr/>
          <p:nvPr/>
        </p:nvSpPr>
        <p:spPr>
          <a:xfrm flipH="1" flipV="1" rot="1261200">
            <a:off x="844200" y="-462240"/>
            <a:ext cx="2931480" cy="1413000"/>
          </a:xfrm>
          <a:custGeom>
            <a:avLst/>
            <a:gdLst>
              <a:gd name="textAreaLeft" fmla="*/ 360 w 2931480"/>
              <a:gd name="textAreaRight" fmla="*/ 2932560 w 2931480"/>
              <a:gd name="textAreaTop" fmla="*/ 360 h 1413000"/>
              <a:gd name="textAreaBottom" fmla="*/ 1414080 h 1413000"/>
            </a:gdLst>
            <a:ahLst/>
            <a:rect l="textAreaLeft" t="textAreaTop" r="textAreaRight" b="textAreaBottom"/>
            <a:pathLst>
              <a:path w="4608708" h="1949134">
                <a:moveTo>
                  <a:pt x="4608708" y="612347"/>
                </a:moveTo>
                <a:lnTo>
                  <a:pt x="627416" y="1949134"/>
                </a:lnTo>
                <a:lnTo>
                  <a:pt x="596046" y="1928925"/>
                </a:lnTo>
                <a:cubicBezTo>
                  <a:pt x="179625" y="1648364"/>
                  <a:pt x="-960031" y="553643"/>
                  <a:pt x="1745193" y="1233638"/>
                </a:cubicBezTo>
                <a:cubicBezTo>
                  <a:pt x="3216455" y="1640585"/>
                  <a:pt x="559360" y="-1151268"/>
                  <a:pt x="4492609" y="561039"/>
                </a:cubicBezTo>
                <a:close/>
              </a:path>
            </a:pathLst>
          </a:custGeom>
          <a:solidFill>
            <a:srgbClr val="cbba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微软雅黑"/>
            </a:endParaRPr>
          </a:p>
        </p:txBody>
      </p:sp>
      <p:sp>
        <p:nvSpPr>
          <p:cNvPr id="103" name="任意多边形: 形状 25"/>
          <p:cNvSpPr/>
          <p:nvPr/>
        </p:nvSpPr>
        <p:spPr>
          <a:xfrm flipV="1">
            <a:off x="3714120" y="-720"/>
            <a:ext cx="2189160" cy="1209240"/>
          </a:xfrm>
          <a:custGeom>
            <a:avLst/>
            <a:gdLst>
              <a:gd name="textAreaLeft" fmla="*/ 0 w 2189160"/>
              <a:gd name="textAreaRight" fmla="*/ 2189880 w 2189160"/>
              <a:gd name="textAreaTop" fmla="*/ 360 h 1209240"/>
              <a:gd name="textAreaBottom" fmla="*/ 1210320 h 1209240"/>
            </a:gdLst>
            <a:ahLst/>
            <a:rect l="textAreaLeft" t="textAreaTop" r="textAreaRight" b="textAreaBottom"/>
            <a:pathLst>
              <a:path w="2190032" h="1209887">
                <a:moveTo>
                  <a:pt x="0" y="1209887"/>
                </a:moveTo>
                <a:lnTo>
                  <a:pt x="2186519" y="1209887"/>
                </a:lnTo>
                <a:lnTo>
                  <a:pt x="2189593" y="1095953"/>
                </a:lnTo>
                <a:cubicBezTo>
                  <a:pt x="2196276" y="565249"/>
                  <a:pt x="2131174" y="-8823"/>
                  <a:pt x="1691820" y="103"/>
                </a:cubicBezTo>
                <a:cubicBezTo>
                  <a:pt x="1390375" y="6226"/>
                  <a:pt x="912751" y="286795"/>
                  <a:pt x="161257" y="1044115"/>
                </a:cubicBezTo>
                <a:close/>
              </a:path>
            </a:pathLst>
          </a:custGeom>
          <a:solidFill>
            <a:srgbClr val="dde6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微软雅黑"/>
            </a:endParaRPr>
          </a:p>
        </p:txBody>
      </p:sp>
      <p:sp>
        <p:nvSpPr>
          <p:cNvPr id="104" name="图片 56"/>
          <p:cNvSpPr/>
          <p:nvPr/>
        </p:nvSpPr>
        <p:spPr>
          <a:xfrm>
            <a:off x="10460520" y="-27720"/>
            <a:ext cx="1746000" cy="1683360"/>
          </a:xfrm>
          <a:custGeom>
            <a:avLst/>
            <a:gdLst>
              <a:gd name="textAreaLeft" fmla="*/ 0 w 1746000"/>
              <a:gd name="textAreaRight" fmla="*/ 1746720 w 1746000"/>
              <a:gd name="textAreaTop" fmla="*/ 0 h 1683360"/>
              <a:gd name="textAreaBottom" fmla="*/ 1684080 h 1683360"/>
            </a:gdLst>
            <a:ahLst/>
            <a:rect l="textAreaLeft" t="textAreaTop" r="textAreaRight" b="textAreaBottom"/>
            <a:pathLst>
              <a:path w="1746571" h="1684066">
                <a:moveTo>
                  <a:pt x="0" y="0"/>
                </a:moveTo>
                <a:lnTo>
                  <a:pt x="1746571" y="0"/>
                </a:lnTo>
                <a:lnTo>
                  <a:pt x="1746571" y="1684066"/>
                </a:lnTo>
                <a:lnTo>
                  <a:pt x="0" y="1684066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微软雅黑"/>
            </a:endParaRPr>
          </a:p>
        </p:txBody>
      </p:sp>
      <p:sp>
        <p:nvSpPr>
          <p:cNvPr id="105" name="图片 62"/>
          <p:cNvSpPr/>
          <p:nvPr/>
        </p:nvSpPr>
        <p:spPr>
          <a:xfrm>
            <a:off x="0" y="5082840"/>
            <a:ext cx="5442840" cy="1774440"/>
          </a:xfrm>
          <a:custGeom>
            <a:avLst/>
            <a:gdLst>
              <a:gd name="textAreaLeft" fmla="*/ 0 w 5442840"/>
              <a:gd name="textAreaRight" fmla="*/ 5443560 w 5442840"/>
              <a:gd name="textAreaTop" fmla="*/ 0 h 1774440"/>
              <a:gd name="textAreaBottom" fmla="*/ 1775160 h 1774440"/>
            </a:gdLst>
            <a:ahLst/>
            <a:rect l="textAreaLeft" t="textAreaTop" r="textAreaRight" b="textAreaBottom"/>
            <a:pathLst>
              <a:path w="5443464" h="1775001">
                <a:moveTo>
                  <a:pt x="0" y="0"/>
                </a:moveTo>
                <a:lnTo>
                  <a:pt x="5443464" y="0"/>
                </a:lnTo>
                <a:lnTo>
                  <a:pt x="5443464" y="1775001"/>
                </a:lnTo>
                <a:lnTo>
                  <a:pt x="0" y="1775001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微软雅黑"/>
            </a:endParaRPr>
          </a:p>
        </p:txBody>
      </p:sp>
      <p:sp>
        <p:nvSpPr>
          <p:cNvPr id="106" name="图片 50"/>
          <p:cNvSpPr/>
          <p:nvPr/>
        </p:nvSpPr>
        <p:spPr>
          <a:xfrm>
            <a:off x="-645840" y="-27720"/>
            <a:ext cx="2480400" cy="2022120"/>
          </a:xfrm>
          <a:custGeom>
            <a:avLst/>
            <a:gdLst>
              <a:gd name="textAreaLeft" fmla="*/ 0 w 2480400"/>
              <a:gd name="textAreaRight" fmla="*/ 2481120 w 2480400"/>
              <a:gd name="textAreaTop" fmla="*/ 0 h 2022120"/>
              <a:gd name="textAreaBottom" fmla="*/ 2022840 h 2022120"/>
            </a:gdLst>
            <a:ahLst/>
            <a:rect l="textAreaLeft" t="textAreaTop" r="textAreaRight" b="textAreaBottom"/>
            <a:pathLst>
              <a:path w="2481287" h="2022787">
                <a:moveTo>
                  <a:pt x="0" y="0"/>
                </a:moveTo>
                <a:lnTo>
                  <a:pt x="2481287" y="0"/>
                </a:lnTo>
                <a:lnTo>
                  <a:pt x="2481287" y="2022787"/>
                </a:lnTo>
                <a:lnTo>
                  <a:pt x="645825" y="2022787"/>
                </a:lnTo>
                <a:lnTo>
                  <a:pt x="645825" y="576367"/>
                </a:lnTo>
                <a:lnTo>
                  <a:pt x="0" y="576367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微软雅黑"/>
            </a:endParaRPr>
          </a:p>
        </p:txBody>
      </p:sp>
      <p:sp>
        <p:nvSpPr>
          <p:cNvPr id="107" name="图片 85"/>
          <p:cNvSpPr/>
          <p:nvPr/>
        </p:nvSpPr>
        <p:spPr>
          <a:xfrm flipV="1" rot="18409200">
            <a:off x="80280" y="723600"/>
            <a:ext cx="1583280" cy="2881080"/>
          </a:xfrm>
          <a:custGeom>
            <a:avLst/>
            <a:gdLst>
              <a:gd name="textAreaLeft" fmla="*/ 0 w 1583280"/>
              <a:gd name="textAreaRight" fmla="*/ 1583640 w 1583280"/>
              <a:gd name="textAreaTop" fmla="*/ 360 h 2881080"/>
              <a:gd name="textAreaBottom" fmla="*/ 2882160 h 2881080"/>
            </a:gdLst>
            <a:ahLst/>
            <a:rect l="textAreaLeft" t="textAreaTop" r="textAreaRight" b="textAreaBottom"/>
            <a:pathLst>
              <a:path w="1722646" h="4034899">
                <a:moveTo>
                  <a:pt x="1722646" y="4034899"/>
                </a:moveTo>
                <a:lnTo>
                  <a:pt x="1722646" y="0"/>
                </a:lnTo>
                <a:lnTo>
                  <a:pt x="0" y="0"/>
                </a:lnTo>
                <a:lnTo>
                  <a:pt x="0" y="2938701"/>
                </a:lnTo>
                <a:lnTo>
                  <a:pt x="1463990" y="4034899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微软雅黑"/>
            </a:endParaRPr>
          </a:p>
        </p:txBody>
      </p:sp>
      <p:sp>
        <p:nvSpPr>
          <p:cNvPr id="108" name="图片 87"/>
          <p:cNvSpPr/>
          <p:nvPr/>
        </p:nvSpPr>
        <p:spPr>
          <a:xfrm rot="17386200">
            <a:off x="10214280" y="3364920"/>
            <a:ext cx="1480680" cy="2761920"/>
          </a:xfrm>
          <a:custGeom>
            <a:avLst/>
            <a:gdLst>
              <a:gd name="textAreaLeft" fmla="*/ 0 w 1480680"/>
              <a:gd name="textAreaRight" fmla="*/ 1481400 w 1480680"/>
              <a:gd name="textAreaTop" fmla="*/ 0 h 2761920"/>
              <a:gd name="textAreaBottom" fmla="*/ 2762640 h 2761920"/>
            </a:gdLst>
            <a:ahLst/>
            <a:rect l="textAreaLeft" t="textAreaTop" r="textAreaRight" b="textAreaBottom"/>
            <a:pathLst>
              <a:path w="1338404" h="3254651">
                <a:moveTo>
                  <a:pt x="1338404" y="0"/>
                </a:moveTo>
                <a:lnTo>
                  <a:pt x="1338404" y="2949509"/>
                </a:lnTo>
                <a:lnTo>
                  <a:pt x="489174" y="3254651"/>
                </a:lnTo>
                <a:lnTo>
                  <a:pt x="0" y="325465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微软雅黑"/>
            </a:endParaRPr>
          </a:p>
        </p:txBody>
      </p:sp>
      <p:pic>
        <p:nvPicPr>
          <p:cNvPr id="109" name="图片 77" descr=""/>
          <p:cNvPicPr/>
          <p:nvPr/>
        </p:nvPicPr>
        <p:blipFill>
          <a:blip r:embed="rId6"/>
          <a:stretch/>
        </p:blipFill>
        <p:spPr>
          <a:xfrm rot="9104400">
            <a:off x="1539360" y="1578960"/>
            <a:ext cx="336960" cy="401400"/>
          </a:xfrm>
          <a:prstGeom prst="rect">
            <a:avLst/>
          </a:prstGeom>
          <a:ln w="0">
            <a:noFill/>
          </a:ln>
        </p:spPr>
      </p:pic>
      <p:pic>
        <p:nvPicPr>
          <p:cNvPr id="110" name="图片 78" descr=""/>
          <p:cNvPicPr/>
          <p:nvPr/>
        </p:nvPicPr>
        <p:blipFill>
          <a:blip r:embed="rId7"/>
          <a:stretch/>
        </p:blipFill>
        <p:spPr>
          <a:xfrm>
            <a:off x="9634680" y="5071680"/>
            <a:ext cx="270720" cy="322560"/>
          </a:xfrm>
          <a:prstGeom prst="rect">
            <a:avLst/>
          </a:prstGeom>
          <a:ln w="0">
            <a:noFill/>
          </a:ln>
        </p:spPr>
      </p:pic>
      <p:pic>
        <p:nvPicPr>
          <p:cNvPr id="111" name="图片 79" descr=""/>
          <p:cNvPicPr/>
          <p:nvPr/>
        </p:nvPicPr>
        <p:blipFill>
          <a:blip r:embed="rId8"/>
          <a:stretch/>
        </p:blipFill>
        <p:spPr>
          <a:xfrm rot="13770600">
            <a:off x="11165040" y="3863160"/>
            <a:ext cx="336960" cy="401400"/>
          </a:xfrm>
          <a:prstGeom prst="rect">
            <a:avLst/>
          </a:prstGeom>
          <a:ln w="0">
            <a:noFill/>
          </a:ln>
        </p:spPr>
      </p:pic>
      <p:pic>
        <p:nvPicPr>
          <p:cNvPr id="112" name="图片 80" descr=""/>
          <p:cNvPicPr/>
          <p:nvPr/>
        </p:nvPicPr>
        <p:blipFill>
          <a:blip r:embed="rId9"/>
          <a:stretch/>
        </p:blipFill>
        <p:spPr>
          <a:xfrm>
            <a:off x="776160" y="660600"/>
            <a:ext cx="270720" cy="322560"/>
          </a:xfrm>
          <a:prstGeom prst="rect">
            <a:avLst/>
          </a:prstGeom>
          <a:ln w="0">
            <a:noFill/>
          </a:ln>
        </p:spPr>
      </p:pic>
      <p:pic>
        <p:nvPicPr>
          <p:cNvPr id="113" name="图片 81" descr=""/>
          <p:cNvPicPr/>
          <p:nvPr/>
        </p:nvPicPr>
        <p:blipFill>
          <a:blip r:embed="rId10"/>
          <a:stretch/>
        </p:blipFill>
        <p:spPr>
          <a:xfrm>
            <a:off x="768960" y="2760480"/>
            <a:ext cx="270720" cy="322560"/>
          </a:xfrm>
          <a:prstGeom prst="rect">
            <a:avLst/>
          </a:prstGeom>
          <a:ln w="0">
            <a:noFill/>
          </a:ln>
        </p:spPr>
      </p:pic>
      <p:pic>
        <p:nvPicPr>
          <p:cNvPr id="114" name="图片 82" descr=""/>
          <p:cNvPicPr/>
          <p:nvPr/>
        </p:nvPicPr>
        <p:blipFill>
          <a:blip r:embed="rId11"/>
          <a:stretch/>
        </p:blipFill>
        <p:spPr>
          <a:xfrm rot="5848200">
            <a:off x="9916920" y="2440440"/>
            <a:ext cx="270720" cy="322560"/>
          </a:xfrm>
          <a:prstGeom prst="rect">
            <a:avLst/>
          </a:prstGeom>
          <a:ln w="0">
            <a:noFill/>
          </a:ln>
        </p:spPr>
      </p:pic>
      <p:pic>
        <p:nvPicPr>
          <p:cNvPr id="115" name="图片 83" descr=""/>
          <p:cNvPicPr/>
          <p:nvPr/>
        </p:nvPicPr>
        <p:blipFill>
          <a:blip r:embed="rId12"/>
          <a:stretch/>
        </p:blipFill>
        <p:spPr>
          <a:xfrm rot="7431000">
            <a:off x="2851560" y="4844520"/>
            <a:ext cx="314640" cy="375120"/>
          </a:xfrm>
          <a:prstGeom prst="rect">
            <a:avLst/>
          </a:prstGeom>
          <a:ln w="0">
            <a:noFill/>
          </a:ln>
        </p:spPr>
      </p:pic>
      <p:pic>
        <p:nvPicPr>
          <p:cNvPr id="116" name="图片 90" descr=""/>
          <p:cNvPicPr/>
          <p:nvPr/>
        </p:nvPicPr>
        <p:blipFill>
          <a:blip r:embed="rId13"/>
          <a:srcRect l="23810" t="50006" r="61590" b="37825"/>
          <a:stretch/>
        </p:blipFill>
        <p:spPr>
          <a:xfrm rot="20863200">
            <a:off x="9224280" y="1700640"/>
            <a:ext cx="458640" cy="382680"/>
          </a:xfrm>
          <a:prstGeom prst="rect">
            <a:avLst/>
          </a:prstGeom>
          <a:ln w="0">
            <a:noFill/>
          </a:ln>
        </p:spPr>
      </p:pic>
      <p:pic>
        <p:nvPicPr>
          <p:cNvPr id="117" name="图片 91" descr=""/>
          <p:cNvPicPr/>
          <p:nvPr/>
        </p:nvPicPr>
        <p:blipFill>
          <a:blip r:embed="rId14"/>
          <a:srcRect l="23810" t="50006" r="61590" b="37825"/>
          <a:stretch/>
        </p:blipFill>
        <p:spPr>
          <a:xfrm rot="1158600">
            <a:off x="4947120" y="622080"/>
            <a:ext cx="458640" cy="382680"/>
          </a:xfrm>
          <a:prstGeom prst="rect">
            <a:avLst/>
          </a:prstGeom>
          <a:ln w="0">
            <a:noFill/>
          </a:ln>
        </p:spPr>
      </p:pic>
      <p:pic>
        <p:nvPicPr>
          <p:cNvPr id="118" name="图片 92" descr=""/>
          <p:cNvPicPr/>
          <p:nvPr/>
        </p:nvPicPr>
        <p:blipFill>
          <a:blip r:embed="rId15"/>
          <a:srcRect l="23810" t="50006" r="61590" b="37825"/>
          <a:stretch/>
        </p:blipFill>
        <p:spPr>
          <a:xfrm rot="1147200">
            <a:off x="2304720" y="4253760"/>
            <a:ext cx="458640" cy="382680"/>
          </a:xfrm>
          <a:prstGeom prst="rect">
            <a:avLst/>
          </a:prstGeom>
          <a:ln w="0">
            <a:noFill/>
          </a:ln>
        </p:spPr>
      </p:pic>
      <p:sp>
        <p:nvSpPr>
          <p:cNvPr id="119" name="椭圆 1"/>
          <p:cNvSpPr/>
          <p:nvPr/>
        </p:nvSpPr>
        <p:spPr>
          <a:xfrm>
            <a:off x="5613120" y="1986840"/>
            <a:ext cx="1180080" cy="1171080"/>
          </a:xfrm>
          <a:prstGeom prst="ellipse">
            <a:avLst/>
          </a:prstGeom>
          <a:solidFill>
            <a:srgbClr val="437f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微软雅黑"/>
            </a:endParaRPr>
          </a:p>
        </p:txBody>
      </p:sp>
      <p:sp>
        <p:nvSpPr>
          <p:cNvPr id="120" name="文本框 3"/>
          <p:cNvSpPr/>
          <p:nvPr/>
        </p:nvSpPr>
        <p:spPr>
          <a:xfrm>
            <a:off x="5728320" y="2221560"/>
            <a:ext cx="85428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4000" spc="-1" strike="noStrike">
                <a:solidFill>
                  <a:schemeClr val="lt1"/>
                </a:solidFill>
                <a:latin typeface="Arial"/>
                <a:ea typeface="微软雅黑"/>
              </a:rPr>
              <a:t>01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文本框 29"/>
          <p:cNvSpPr/>
          <p:nvPr/>
        </p:nvSpPr>
        <p:spPr>
          <a:xfrm>
            <a:off x="2700720" y="3454920"/>
            <a:ext cx="700452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zh-CN" sz="6000" spc="-1" strike="noStrike">
                <a:solidFill>
                  <a:srgbClr val="437f76"/>
                </a:solidFill>
                <a:latin typeface="方正粗宋简体"/>
                <a:ea typeface="方正粗宋简体"/>
              </a:rPr>
              <a:t>为什么要学数学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>
        <p:random/>
      </p:transition>
    </mc:Choice>
    <mc:Fallback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矩形 4"/>
          <p:cNvSpPr/>
          <p:nvPr/>
        </p:nvSpPr>
        <p:spPr>
          <a:xfrm>
            <a:off x="2190600" y="1450440"/>
            <a:ext cx="5706000" cy="23673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微软雅黑"/>
            </a:endParaRPr>
          </a:p>
        </p:txBody>
      </p:sp>
      <p:grpSp>
        <p:nvGrpSpPr>
          <p:cNvPr id="123" name="组合 8"/>
          <p:cNvGrpSpPr/>
          <p:nvPr/>
        </p:nvGrpSpPr>
        <p:grpSpPr>
          <a:xfrm>
            <a:off x="0" y="74880"/>
            <a:ext cx="12191400" cy="6850800"/>
            <a:chOff x="0" y="74880"/>
            <a:chExt cx="12191400" cy="6850800"/>
          </a:xfrm>
        </p:grpSpPr>
        <p:pic>
          <p:nvPicPr>
            <p:cNvPr id="124" name="图片 3" descr=""/>
            <p:cNvPicPr/>
            <p:nvPr/>
          </p:nvPicPr>
          <p:blipFill>
            <a:blip r:embed="rId1"/>
            <a:stretch/>
          </p:blipFill>
          <p:spPr>
            <a:xfrm>
              <a:off x="0" y="74880"/>
              <a:ext cx="12191400" cy="685080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125" name="组合 7"/>
            <p:cNvGrpSpPr/>
            <p:nvPr/>
          </p:nvGrpSpPr>
          <p:grpSpPr>
            <a:xfrm>
              <a:off x="2094840" y="2054880"/>
              <a:ext cx="7998840" cy="4237200"/>
              <a:chOff x="2094840" y="2054880"/>
              <a:chExt cx="7998840" cy="4237200"/>
            </a:xfrm>
          </p:grpSpPr>
          <p:sp>
            <p:nvSpPr>
              <p:cNvPr id="126" name="矩形 5"/>
              <p:cNvSpPr/>
              <p:nvPr/>
            </p:nvSpPr>
            <p:spPr>
              <a:xfrm>
                <a:off x="2094840" y="2054880"/>
                <a:ext cx="7998840" cy="183744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r>
                  <a:rPr b="0" lang="zh-CN" sz="1800" spc="-1" strike="noStrike">
                    <a:solidFill>
                      <a:schemeClr val="lt1"/>
                    </a:solidFill>
                    <a:latin typeface="Arial"/>
                    <a:ea typeface="微软雅黑"/>
                  </a:rPr>
                  <a:t>提起数学，你会想到什么？加减乘除，几何高数，还是上学时“被支配的恐惧”？对大多数人来说，数学这门学科很抽象，但是，有一些人把数学变得实用。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  <a:p>
                <a:pPr algn="ctr"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  <a:p>
                <a:pPr algn="ctr" defTabSz="914400">
                  <a:lnSpc>
                    <a:spcPct val="100000"/>
                  </a:lnSpc>
                </a:pPr>
                <a:r>
                  <a:rPr b="0" lang="en-US" sz="1800" spc="-1" strike="noStrike">
                    <a:solidFill>
                      <a:schemeClr val="lt1"/>
                    </a:solidFill>
                    <a:latin typeface="Arial"/>
                    <a:ea typeface="微软雅黑"/>
                  </a:rPr>
                  <a:t>     </a:t>
                </a:r>
                <a:r>
                  <a:rPr b="0" lang="zh-CN" sz="1800" spc="-1" strike="noStrike">
                    <a:solidFill>
                      <a:schemeClr val="lt1"/>
                    </a:solidFill>
                    <a:latin typeface="Arial"/>
                    <a:ea typeface="微软雅黑"/>
                  </a:rPr>
                  <a:t>颠覆想象！大部分人学了</a:t>
                </a:r>
                <a:r>
                  <a:rPr b="0" lang="en-US" sz="1800" spc="-1" strike="noStrike">
                    <a:solidFill>
                      <a:schemeClr val="lt1"/>
                    </a:solidFill>
                    <a:latin typeface="Arial"/>
                    <a:ea typeface="微软雅黑"/>
                  </a:rPr>
                  <a:t>9</a:t>
                </a:r>
                <a:r>
                  <a:rPr b="0" lang="zh-CN" sz="1800" spc="-1" strike="noStrike">
                    <a:solidFill>
                      <a:schemeClr val="lt1"/>
                    </a:solidFill>
                    <a:latin typeface="Arial"/>
                    <a:ea typeface="微软雅黑"/>
                  </a:rPr>
                  <a:t>年甚至</a:t>
                </a:r>
                <a:r>
                  <a:rPr b="0" lang="en-US" sz="1800" spc="-1" strike="noStrike">
                    <a:solidFill>
                      <a:schemeClr val="lt1"/>
                    </a:solidFill>
                    <a:latin typeface="Arial"/>
                    <a:ea typeface="微软雅黑"/>
                  </a:rPr>
                  <a:t>12</a:t>
                </a:r>
                <a:r>
                  <a:rPr b="0" lang="zh-CN" sz="1800" spc="-1" strike="noStrike">
                    <a:solidFill>
                      <a:schemeClr val="lt1"/>
                    </a:solidFill>
                    <a:latin typeface="Arial"/>
                    <a:ea typeface="微软雅黑"/>
                  </a:rPr>
                  <a:t>年的数学，也仅仅学到了微积分之前，这也只是</a:t>
                </a:r>
                <a:r>
                  <a:rPr b="0" lang="en-US" sz="1800" spc="-1" strike="noStrike">
                    <a:solidFill>
                      <a:schemeClr val="lt1"/>
                    </a:solidFill>
                    <a:latin typeface="Arial"/>
                    <a:ea typeface="微软雅黑"/>
                  </a:rPr>
                  <a:t>16</a:t>
                </a:r>
                <a:r>
                  <a:rPr b="0" lang="zh-CN" sz="1800" spc="-1" strike="noStrike">
                    <a:solidFill>
                      <a:schemeClr val="lt1"/>
                    </a:solidFill>
                    <a:latin typeface="Arial"/>
                    <a:ea typeface="微软雅黑"/>
                  </a:rPr>
                  <a:t>世纪的</a:t>
                </a:r>
                <a:r>
                  <a:rPr b="0" lang="en-US" sz="1800" spc="-1" strike="noStrike">
                    <a:solidFill>
                      <a:schemeClr val="lt1"/>
                    </a:solidFill>
                    <a:latin typeface="Arial"/>
                    <a:ea typeface="微软雅黑"/>
                  </a:rPr>
                  <a:t>d</a:t>
                </a:r>
                <a:r>
                  <a:rPr b="0" lang="zh-CN" sz="1800" spc="-1" strike="noStrike">
                    <a:solidFill>
                      <a:schemeClr val="lt1"/>
                    </a:solidFill>
                    <a:latin typeface="Arial"/>
                    <a:ea typeface="微软雅黑"/>
                  </a:rPr>
                  <a:t>数学。既然如此，数学为什么依然是全世界每一个孩子的必修课呢？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  <a:p>
                <a:pPr algn="ctr"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  <a:p>
                <a:pPr algn="ctr" defTabSz="914400">
                  <a:lnSpc>
                    <a:spcPct val="100000"/>
                  </a:lnSpc>
                </a:pPr>
                <a:r>
                  <a:rPr b="0" lang="en-US" sz="1800" spc="-1" strike="noStrike">
                    <a:solidFill>
                      <a:schemeClr val="lt1"/>
                    </a:solidFill>
                    <a:latin typeface="Arial"/>
                    <a:ea typeface="微软雅黑"/>
                  </a:rPr>
                  <a:t>     </a:t>
                </a:r>
                <a:r>
                  <a:rPr b="0" lang="zh-CN" sz="1800" spc="-1" strike="noStrike">
                    <a:solidFill>
                      <a:schemeClr val="lt1"/>
                    </a:solidFill>
                    <a:latin typeface="Arial"/>
                    <a:ea typeface="微软雅黑"/>
                  </a:rPr>
                  <a:t>提起数学，许多人首先想到的是枯燥、抽象。但是在某些人眼中，数学充满了魅力，它严谨、纯粹、有用。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7" name="矩形 6"/>
              <p:cNvSpPr/>
              <p:nvPr/>
            </p:nvSpPr>
            <p:spPr>
              <a:xfrm>
                <a:off x="3618720" y="4454640"/>
                <a:ext cx="5704920" cy="183744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  <a:ea typeface="微软雅黑"/>
                </a:endParaRPr>
              </a:p>
            </p:txBody>
          </p:sp>
        </p:grpSp>
      </p:grpSp>
      <p:sp>
        <p:nvSpPr>
          <p:cNvPr id="128" name="文本框 12"/>
          <p:cNvSpPr/>
          <p:nvPr/>
        </p:nvSpPr>
        <p:spPr>
          <a:xfrm>
            <a:off x="1466280" y="305280"/>
            <a:ext cx="38898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3200" spc="-1" strike="noStrike">
                <a:solidFill>
                  <a:srgbClr val="5c748a"/>
                </a:solidFill>
                <a:latin typeface="宋体"/>
                <a:ea typeface="宋体"/>
              </a:rPr>
              <a:t>01</a:t>
            </a:r>
            <a:r>
              <a:rPr b="1" lang="en-US" sz="3200" spc="-1" strike="noStrike">
                <a:solidFill>
                  <a:srgbClr val="246e9e"/>
                </a:solidFill>
                <a:latin typeface="宋体"/>
                <a:ea typeface="宋体"/>
              </a:rPr>
              <a:t> </a:t>
            </a:r>
            <a:r>
              <a:rPr b="1" lang="zh-CN" sz="3200" spc="-1" strike="noStrike">
                <a:solidFill>
                  <a:srgbClr val="246e9e"/>
                </a:solidFill>
                <a:latin typeface="宋体"/>
                <a:ea typeface="宋体"/>
              </a:rPr>
              <a:t>为什么要学数学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3348720" y="3200400"/>
            <a:ext cx="533808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(documentary vid showing practical usage of math)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>
        <p:random/>
      </p:transition>
    </mc:Choice>
    <mc:Fallback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图片 9" descr=""/>
          <p:cNvPicPr/>
          <p:nvPr/>
        </p:nvPicPr>
        <p:blipFill>
          <a:blip r:embed="rId1"/>
          <a:stretch/>
        </p:blipFill>
        <p:spPr>
          <a:xfrm>
            <a:off x="378720" y="407160"/>
            <a:ext cx="410760" cy="387720"/>
          </a:xfrm>
          <a:prstGeom prst="rect">
            <a:avLst/>
          </a:prstGeom>
          <a:ln w="0">
            <a:noFill/>
          </a:ln>
        </p:spPr>
      </p:pic>
      <p:sp>
        <p:nvSpPr>
          <p:cNvPr id="131" name="文本框 8"/>
          <p:cNvSpPr/>
          <p:nvPr/>
        </p:nvSpPr>
        <p:spPr>
          <a:xfrm>
            <a:off x="807480" y="278280"/>
            <a:ext cx="3381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zh-CN" sz="3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经典繁毛楷"/>
                <a:ea typeface="经典繁毛楷"/>
              </a:rPr>
              <a:t>为什么要学数学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2" name="Picture 4" descr="C:\Users\user50\AppData\Roaming\Seewo\EasiNote5\Data\18200709059\Courseware\85cfb5e0-e094-4e74-95fd-7a906e11ccf1\12cab8476052928468c0d3e84791ac6b_S0139.753pmggzgb3.bvn.jpg"/>
          <p:cNvPicPr/>
          <p:nvPr/>
        </p:nvPicPr>
        <p:blipFill>
          <a:blip r:embed="rId2"/>
          <a:srcRect l="0" t="0" r="0" b="16783"/>
          <a:stretch/>
        </p:blipFill>
        <p:spPr>
          <a:xfrm>
            <a:off x="1894320" y="1093320"/>
            <a:ext cx="3660480" cy="5411520"/>
          </a:xfrm>
          <a:prstGeom prst="rect">
            <a:avLst/>
          </a:prstGeom>
          <a:ln w="0">
            <a:noFill/>
          </a:ln>
        </p:spPr>
      </p:pic>
      <p:sp>
        <p:nvSpPr>
          <p:cNvPr id="133" name="文本框 3"/>
          <p:cNvSpPr/>
          <p:nvPr/>
        </p:nvSpPr>
        <p:spPr>
          <a:xfrm>
            <a:off x="6497640" y="2216880"/>
            <a:ext cx="43218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571680" indent="-571680" defTabSz="914400">
              <a:lnSpc>
                <a:spcPct val="100000"/>
              </a:lnSpc>
              <a:buClr>
                <a:srgbClr val="c00000"/>
              </a:buClr>
              <a:buFont typeface="Wingdings" charset="2"/>
              <a:buChar char=""/>
            </a:pPr>
            <a:r>
              <a:rPr b="0" lang="zh-CN" sz="3600" spc="-1" strike="noStrike">
                <a:solidFill>
                  <a:srgbClr val="c00000"/>
                </a:solidFill>
                <a:latin typeface="方正粗宋简体"/>
                <a:ea typeface="方正粗宋简体"/>
              </a:rPr>
              <a:t>数学是浪漫的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文本框 13"/>
          <p:cNvSpPr/>
          <p:nvPr/>
        </p:nvSpPr>
        <p:spPr>
          <a:xfrm>
            <a:off x="6497640" y="3352680"/>
            <a:ext cx="43218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571680" indent="-571680" defTabSz="914400">
              <a:lnSpc>
                <a:spcPct val="100000"/>
              </a:lnSpc>
              <a:buClr>
                <a:srgbClr val="c00000"/>
              </a:buClr>
              <a:buFont typeface="Wingdings" charset="2"/>
              <a:buChar char=""/>
            </a:pPr>
            <a:r>
              <a:rPr b="0" lang="zh-CN" sz="3600" spc="-1" strike="noStrike">
                <a:solidFill>
                  <a:srgbClr val="c00000"/>
                </a:solidFill>
                <a:latin typeface="方正粗宋简体"/>
                <a:ea typeface="方正粗宋简体"/>
              </a:rPr>
              <a:t>数学是有趣的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文本框 14"/>
          <p:cNvSpPr/>
          <p:nvPr/>
        </p:nvSpPr>
        <p:spPr>
          <a:xfrm>
            <a:off x="6497640" y="4488840"/>
            <a:ext cx="43218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571680" indent="-571680" defTabSz="914400">
              <a:lnSpc>
                <a:spcPct val="100000"/>
              </a:lnSpc>
              <a:buClr>
                <a:srgbClr val="c00000"/>
              </a:buClr>
              <a:buFont typeface="Wingdings" charset="2"/>
              <a:buChar char=""/>
            </a:pPr>
            <a:r>
              <a:rPr b="0" lang="zh-CN" sz="3600" spc="-1" strike="noStrike">
                <a:solidFill>
                  <a:srgbClr val="c00000"/>
                </a:solidFill>
                <a:latin typeface="方正粗宋简体"/>
                <a:ea typeface="方正粗宋简体"/>
              </a:rPr>
              <a:t>数学是有用的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>
        <p:random/>
      </p:transition>
    </mc:Choice>
    <mc:Fallback>
      <p:transition spd="slow">
        <p:random/>
      </p:transition>
    </mc:Fallback>
  </mc:AlternateContent>
  <p:timing>
    <p:tnLst>
      <p:par>
        <p:cTn id="61" dur="indefinite" restart="never" nodeType="tmRoot">
          <p:childTnLst>
            <p:seq>
              <p:cTn id="62" dur="indefinite" nodeType="mainSeq"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7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8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图片 25" descr=""/>
          <p:cNvPicPr/>
          <p:nvPr/>
        </p:nvPicPr>
        <p:blipFill>
          <a:blip r:embed="rId1"/>
          <a:stretch/>
        </p:blipFill>
        <p:spPr>
          <a:xfrm>
            <a:off x="378720" y="407160"/>
            <a:ext cx="410760" cy="387720"/>
          </a:xfrm>
          <a:prstGeom prst="rect">
            <a:avLst/>
          </a:prstGeom>
          <a:ln w="0">
            <a:noFill/>
          </a:ln>
        </p:spPr>
      </p:pic>
      <p:sp>
        <p:nvSpPr>
          <p:cNvPr id="137" name="文本框 17"/>
          <p:cNvSpPr/>
          <p:nvPr/>
        </p:nvSpPr>
        <p:spPr>
          <a:xfrm>
            <a:off x="790200" y="278280"/>
            <a:ext cx="71755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zh-CN" sz="3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经典繁毛楷"/>
                <a:ea typeface="经典繁毛楷"/>
              </a:rPr>
              <a:t>为什么要学数学</a:t>
            </a:r>
            <a:r>
              <a:rPr b="0" lang="en-US" sz="3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经典繁毛楷"/>
                <a:ea typeface="经典繁毛楷"/>
              </a:rPr>
              <a:t>——</a:t>
            </a:r>
            <a:r>
              <a:rPr b="0" lang="zh-CN" sz="3600" spc="-1" strike="noStrike">
                <a:solidFill>
                  <a:srgbClr val="c00000"/>
                </a:solidFill>
                <a:latin typeface="经典繁毛楷"/>
                <a:ea typeface="经典繁毛楷"/>
              </a:rPr>
              <a:t>数学是浪漫的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矩形 3"/>
          <p:cNvSpPr/>
          <p:nvPr/>
        </p:nvSpPr>
        <p:spPr>
          <a:xfrm>
            <a:off x="584640" y="2857320"/>
            <a:ext cx="11274120" cy="22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50000"/>
              </a:lnSpc>
            </a:pPr>
            <a:r>
              <a:rPr b="0" lang="en-US" sz="4000" spc="-1" strike="noStrike">
                <a:solidFill>
                  <a:schemeClr val="dk1"/>
                </a:solidFill>
                <a:latin typeface="方正流行体繁体"/>
                <a:ea typeface="方正流行体繁体"/>
              </a:rPr>
              <a:t>220</a:t>
            </a:r>
            <a:r>
              <a:rPr b="0" lang="zh-CN" sz="4000" spc="-1" strike="noStrike">
                <a:solidFill>
                  <a:schemeClr val="dk1"/>
                </a:solidFill>
                <a:latin typeface="方正流行体繁体"/>
                <a:ea typeface="方正流行体繁体"/>
              </a:rPr>
              <a:t>与</a:t>
            </a:r>
            <a:r>
              <a:rPr b="0" lang="en-US" sz="4000" spc="-1" strike="noStrike">
                <a:solidFill>
                  <a:schemeClr val="dk1"/>
                </a:solidFill>
                <a:latin typeface="方正流行体繁体"/>
                <a:ea typeface="方正流行体繁体"/>
              </a:rPr>
              <a:t>284</a:t>
            </a:r>
            <a:r>
              <a:rPr b="0" lang="zh-CN" sz="4000" spc="-1" strike="noStrike">
                <a:solidFill>
                  <a:schemeClr val="dk1"/>
                </a:solidFill>
                <a:latin typeface="方正流行体繁体"/>
                <a:ea typeface="方正流行体繁体"/>
              </a:rPr>
              <a:t>是一组亲和数</a:t>
            </a:r>
            <a:r>
              <a:rPr b="0" lang="en-US" sz="4000" spc="-1" strike="noStrike">
                <a:solidFill>
                  <a:schemeClr val="dk1"/>
                </a:solidFill>
                <a:latin typeface="方正流行体繁体"/>
                <a:ea typeface="微软雅黑"/>
              </a:rPr>
              <a:t> 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50000"/>
              </a:lnSpc>
            </a:pPr>
            <a:r>
              <a:rPr b="0" lang="en-US" sz="2800" spc="-1" strike="noStrike">
                <a:solidFill>
                  <a:schemeClr val="dk1"/>
                </a:solidFill>
                <a:latin typeface="微软雅黑"/>
                <a:ea typeface="微软雅黑"/>
              </a:rPr>
              <a:t>220 </a:t>
            </a:r>
            <a:r>
              <a:rPr b="0" lang="zh-CN" sz="2800" spc="-1" strike="noStrike">
                <a:solidFill>
                  <a:schemeClr val="dk1"/>
                </a:solidFill>
                <a:latin typeface="微软雅黑"/>
                <a:ea typeface="微软雅黑"/>
              </a:rPr>
              <a:t>的因数为：</a:t>
            </a:r>
            <a:r>
              <a:rPr b="0" lang="en-US" sz="2800" spc="-1" strike="noStrike">
                <a:solidFill>
                  <a:schemeClr val="dk1"/>
                </a:solidFill>
                <a:latin typeface="微软雅黑"/>
                <a:ea typeface="微软雅黑"/>
              </a:rPr>
              <a:t>1, 2, 4, 5, 10, 11, 20, 22, 44, 55, 110</a:t>
            </a:r>
            <a:r>
              <a:rPr b="0" lang="zh-CN" sz="2800" spc="-1" strike="noStrike">
                <a:solidFill>
                  <a:schemeClr val="dk1"/>
                </a:solidFill>
                <a:latin typeface="微软雅黑"/>
                <a:ea typeface="微软雅黑"/>
              </a:rPr>
              <a:t>，和为 </a:t>
            </a:r>
            <a:r>
              <a:rPr b="0" lang="en-US" sz="2800" spc="-1" strike="noStrike">
                <a:solidFill>
                  <a:schemeClr val="dk1"/>
                </a:solidFill>
                <a:latin typeface="微软雅黑"/>
                <a:ea typeface="微软雅黑"/>
              </a:rPr>
              <a:t>284;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50000"/>
              </a:lnSpc>
            </a:pPr>
            <a:r>
              <a:rPr b="0" lang="en-US" sz="2800" spc="-1" strike="noStrike">
                <a:solidFill>
                  <a:schemeClr val="dk1"/>
                </a:solidFill>
                <a:latin typeface="微软雅黑"/>
                <a:ea typeface="微软雅黑"/>
              </a:rPr>
              <a:t>284 </a:t>
            </a:r>
            <a:r>
              <a:rPr b="0" lang="zh-CN" sz="2800" spc="-1" strike="noStrike">
                <a:solidFill>
                  <a:schemeClr val="dk1"/>
                </a:solidFill>
                <a:latin typeface="微软雅黑"/>
                <a:ea typeface="微软雅黑"/>
              </a:rPr>
              <a:t>的因数为：</a:t>
            </a:r>
            <a:r>
              <a:rPr b="0" lang="en-US" sz="2800" spc="-1" strike="noStrike">
                <a:solidFill>
                  <a:schemeClr val="dk1"/>
                </a:solidFill>
                <a:latin typeface="微软雅黑"/>
                <a:ea typeface="微软雅黑"/>
              </a:rPr>
              <a:t>1, 2, 4, 71, 142</a:t>
            </a:r>
            <a:r>
              <a:rPr b="0" lang="zh-CN" sz="2800" spc="-1" strike="noStrike">
                <a:solidFill>
                  <a:schemeClr val="dk1"/>
                </a:solidFill>
                <a:latin typeface="微软雅黑"/>
                <a:ea typeface="微软雅黑"/>
              </a:rPr>
              <a:t>，和为 </a:t>
            </a:r>
            <a:r>
              <a:rPr b="0" lang="en-US" sz="2800" spc="-1" strike="noStrike">
                <a:solidFill>
                  <a:schemeClr val="dk1"/>
                </a:solidFill>
                <a:latin typeface="微软雅黑"/>
                <a:ea typeface="微软雅黑"/>
              </a:rPr>
              <a:t>220</a:t>
            </a:r>
            <a:r>
              <a:rPr b="0" lang="zh-CN" sz="2800" spc="-1" strike="noStrike">
                <a:solidFill>
                  <a:schemeClr val="dk1"/>
                </a:solidFill>
                <a:latin typeface="微软雅黑"/>
                <a:ea typeface="微软雅黑"/>
              </a:rPr>
              <a:t>；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矩形 4"/>
          <p:cNvSpPr/>
          <p:nvPr/>
        </p:nvSpPr>
        <p:spPr>
          <a:xfrm>
            <a:off x="584640" y="1163880"/>
            <a:ext cx="11010960" cy="622800"/>
          </a:xfrm>
          <a:prstGeom prst="rect">
            <a:avLst/>
          </a:prstGeom>
          <a:solidFill>
            <a:srgbClr val="437f76"/>
          </a:solidFill>
          <a:ln>
            <a:solidFill>
              <a:srgbClr val="70ad47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800" spc="-1" strike="noStrike">
                <a:solidFill>
                  <a:schemeClr val="lt1"/>
                </a:solidFill>
                <a:latin typeface="微软雅黑"/>
                <a:ea typeface="微软雅黑"/>
              </a:rPr>
              <a:t>女主林朝夕的出生日期是</a:t>
            </a:r>
            <a:r>
              <a:rPr b="1" lang="en-US" sz="2800" spc="-1" strike="noStrike">
                <a:solidFill>
                  <a:schemeClr val="lt1"/>
                </a:solidFill>
                <a:latin typeface="微软雅黑"/>
                <a:ea typeface="微软雅黑"/>
              </a:rPr>
              <a:t>1995</a:t>
            </a:r>
            <a:r>
              <a:rPr b="1" lang="zh-CN" sz="2800" spc="-1" strike="noStrike">
                <a:solidFill>
                  <a:schemeClr val="lt1"/>
                </a:solidFill>
                <a:latin typeface="微软雅黑"/>
                <a:ea typeface="微软雅黑"/>
              </a:rPr>
              <a:t>年</a:t>
            </a:r>
            <a:r>
              <a:rPr b="1" lang="en-US" sz="2800" spc="-1" strike="noStrike">
                <a:solidFill>
                  <a:schemeClr val="lt1"/>
                </a:solidFill>
                <a:latin typeface="微软雅黑"/>
                <a:ea typeface="微软雅黑"/>
              </a:rPr>
              <a:t>2</a:t>
            </a:r>
            <a:r>
              <a:rPr b="1" lang="zh-CN" sz="2800" spc="-1" strike="noStrike">
                <a:solidFill>
                  <a:schemeClr val="lt1"/>
                </a:solidFill>
                <a:latin typeface="微软雅黑"/>
                <a:ea typeface="微软雅黑"/>
              </a:rPr>
              <a:t>月</a:t>
            </a:r>
            <a:r>
              <a:rPr b="1" lang="en-US" sz="2800" spc="-1" strike="noStrike">
                <a:solidFill>
                  <a:schemeClr val="lt1"/>
                </a:solidFill>
                <a:latin typeface="微软雅黑"/>
                <a:ea typeface="微软雅黑"/>
              </a:rPr>
              <a:t>20</a:t>
            </a:r>
            <a:r>
              <a:rPr b="1" lang="zh-CN" sz="2800" spc="-1" strike="noStrike">
                <a:solidFill>
                  <a:schemeClr val="lt1"/>
                </a:solidFill>
                <a:latin typeface="微软雅黑"/>
                <a:ea typeface="微软雅黑"/>
              </a:rPr>
              <a:t>日 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矩形 26"/>
          <p:cNvSpPr/>
          <p:nvPr/>
        </p:nvSpPr>
        <p:spPr>
          <a:xfrm>
            <a:off x="584640" y="2010600"/>
            <a:ext cx="11010960" cy="622800"/>
          </a:xfrm>
          <a:prstGeom prst="rect">
            <a:avLst/>
          </a:prstGeom>
          <a:solidFill>
            <a:srgbClr val="437f76"/>
          </a:solidFill>
          <a:ln>
            <a:solidFill>
              <a:srgbClr val="70ad47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800" spc="-1" strike="noStrike">
                <a:solidFill>
                  <a:schemeClr val="lt1"/>
                </a:solidFill>
                <a:latin typeface="微软雅黑"/>
                <a:ea typeface="微软雅黑"/>
              </a:rPr>
              <a:t>父亲林兆生居住的地址是专诸巷</a:t>
            </a:r>
            <a:r>
              <a:rPr b="1" lang="en-US" sz="2800" spc="-1" strike="noStrike">
                <a:solidFill>
                  <a:schemeClr val="lt1"/>
                </a:solidFill>
                <a:latin typeface="微软雅黑"/>
                <a:ea typeface="微软雅黑"/>
              </a:rPr>
              <a:t>284</a:t>
            </a:r>
            <a:r>
              <a:rPr b="1" lang="zh-CN" sz="2800" spc="-1" strike="noStrike">
                <a:solidFill>
                  <a:schemeClr val="lt1"/>
                </a:solidFill>
                <a:latin typeface="微软雅黑"/>
                <a:ea typeface="微软雅黑"/>
              </a:rPr>
              <a:t>号 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矩形 7"/>
          <p:cNvSpPr/>
          <p:nvPr/>
        </p:nvSpPr>
        <p:spPr>
          <a:xfrm>
            <a:off x="584640" y="5512320"/>
            <a:ext cx="11010960" cy="10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zh-CN" sz="3200" spc="-1" strike="noStrike">
                <a:solidFill>
                  <a:srgbClr val="c00000"/>
                </a:solidFill>
                <a:latin typeface="方正粗宋简体"/>
                <a:ea typeface="方正粗宋简体"/>
              </a:rPr>
              <a:t>知识点：亲和数由费马发现，亲和数指的是一对数，其中每一个数是另一个数的因数之和。</a:t>
            </a:r>
            <a:r>
              <a:rPr b="0" lang="en-US" sz="3200" spc="-1" strike="noStrike">
                <a:solidFill>
                  <a:srgbClr val="c00000"/>
                </a:solidFill>
                <a:latin typeface="方正粗宋简体"/>
                <a:ea typeface="方正粗宋简体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>
        <p:random/>
      </p:transition>
    </mc:Choice>
    <mc:Fallback>
      <p:transition spd="slow">
        <p:random/>
      </p:transition>
    </mc:Fallback>
  </mc:AlternateContent>
  <p:timing>
    <p:tnLst>
      <p:par>
        <p:cTn id="69" dur="indefinite" restart="never" nodeType="tmRoot">
          <p:childTnLst>
            <p:seq>
              <p:cTn id="70" dur="indefinite" nodeType="mainSeq">
                <p:childTnLst>
                  <p:par>
                    <p:cTn id="71" fill="hold">
                      <p:stCondLst>
                        <p:cond delay="0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5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6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1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6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91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nodeType="clickEffect" fill="hold" presetClass="entr" presetID="6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ircle(in)" transition="in">
                                      <p:cBhvr additive="repl">
                                        <p:cTn id="96" dur="2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图片 25" descr=""/>
          <p:cNvPicPr/>
          <p:nvPr/>
        </p:nvPicPr>
        <p:blipFill>
          <a:blip r:embed="rId1"/>
          <a:stretch/>
        </p:blipFill>
        <p:spPr>
          <a:xfrm>
            <a:off x="378720" y="407160"/>
            <a:ext cx="410760" cy="387720"/>
          </a:xfrm>
          <a:prstGeom prst="rect">
            <a:avLst/>
          </a:prstGeom>
          <a:ln w="0">
            <a:noFill/>
          </a:ln>
        </p:spPr>
      </p:pic>
      <p:sp>
        <p:nvSpPr>
          <p:cNvPr id="143" name="文本框 17"/>
          <p:cNvSpPr/>
          <p:nvPr/>
        </p:nvSpPr>
        <p:spPr>
          <a:xfrm>
            <a:off x="790200" y="278280"/>
            <a:ext cx="71755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zh-CN" sz="3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经典繁毛楷"/>
                <a:ea typeface="经典繁毛楷"/>
              </a:rPr>
              <a:t>为什么要学数学</a:t>
            </a:r>
            <a:r>
              <a:rPr b="0" lang="en-US" sz="3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经典繁毛楷"/>
                <a:ea typeface="经典繁毛楷"/>
              </a:rPr>
              <a:t>——</a:t>
            </a:r>
            <a:r>
              <a:rPr b="0" lang="zh-CN" sz="3600" spc="-1" strike="noStrike">
                <a:solidFill>
                  <a:srgbClr val="c00000"/>
                </a:solidFill>
                <a:latin typeface="经典繁毛楷"/>
                <a:ea typeface="经典繁毛楷"/>
              </a:rPr>
              <a:t>数学是浪漫的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矩形 3"/>
          <p:cNvSpPr/>
          <p:nvPr/>
        </p:nvSpPr>
        <p:spPr>
          <a:xfrm>
            <a:off x="790200" y="2033280"/>
            <a:ext cx="1115352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zh-CN" sz="2800" spc="-1" strike="noStrike">
                <a:solidFill>
                  <a:schemeClr val="dk1"/>
                </a:solidFill>
                <a:latin typeface="方正粗宋简体"/>
                <a:ea typeface="方正粗宋简体"/>
              </a:rPr>
              <a:t>第</a:t>
            </a:r>
            <a:r>
              <a:rPr b="0" lang="en-US" sz="2800" spc="-1" strike="noStrike">
                <a:solidFill>
                  <a:schemeClr val="dk1"/>
                </a:solidFill>
                <a:latin typeface="方正粗宋简体"/>
                <a:ea typeface="方正粗宋简体"/>
              </a:rPr>
              <a:t>1</a:t>
            </a:r>
            <a:r>
              <a:rPr b="0" lang="zh-CN" sz="2800" spc="-1" strike="noStrike">
                <a:solidFill>
                  <a:schemeClr val="dk1"/>
                </a:solidFill>
                <a:latin typeface="方正粗宋简体"/>
                <a:ea typeface="方正粗宋简体"/>
              </a:rPr>
              <a:t>道：根据公式图象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50000"/>
              </a:lnSpc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矩形 4"/>
          <p:cNvSpPr/>
          <p:nvPr/>
        </p:nvSpPr>
        <p:spPr>
          <a:xfrm>
            <a:off x="584640" y="1163880"/>
            <a:ext cx="11010960" cy="622800"/>
          </a:xfrm>
          <a:prstGeom prst="rect">
            <a:avLst/>
          </a:prstGeom>
          <a:solidFill>
            <a:srgbClr val="437f76"/>
          </a:solidFill>
          <a:ln>
            <a:solidFill>
              <a:srgbClr val="70ad47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800" spc="-1" strike="noStrike">
                <a:solidFill>
                  <a:schemeClr val="lt1"/>
                </a:solidFill>
                <a:latin typeface="微软雅黑"/>
                <a:ea typeface="微软雅黑"/>
              </a:rPr>
              <a:t>男主裴之给女主林朝夕出了两道题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6" name="Picture 2" descr="C:\Users\user50\AppData\Roaming\Seewo\EasiNote5\Data\18200709059\Courseware\85cfb5e0-e094-4e74-95fd-7a906e11ccf1\7a138e0f935a124056749deb296d5699_S5646.0381exqtyzt.vms.jpeg"/>
          <p:cNvPicPr/>
          <p:nvPr/>
        </p:nvPicPr>
        <p:blipFill>
          <a:blip r:embed="rId2"/>
          <a:stretch/>
        </p:blipFill>
        <p:spPr>
          <a:xfrm>
            <a:off x="378720" y="3412080"/>
            <a:ext cx="5001480" cy="2625840"/>
          </a:xfrm>
          <a:prstGeom prst="rect">
            <a:avLst/>
          </a:prstGeom>
          <a:ln w="0">
            <a:noFill/>
          </a:ln>
        </p:spPr>
      </p:pic>
      <p:pic>
        <p:nvPicPr>
          <p:cNvPr id="147" name="Picture 6" descr="C:\Users\user50\AppData\Roaming\Seewo\EasiNote5\Data\18200709059\Courseware\85cfb5e0-e094-4e74-95fd-7a906e11ccf1\ee23b78666c01bdc15073fa4050a4511_S5646.042uqtnrma5.cy2.jpeg"/>
          <p:cNvPicPr/>
          <p:nvPr/>
        </p:nvPicPr>
        <p:blipFill>
          <a:blip r:embed="rId3"/>
          <a:srcRect l="0" t="0" r="0" b="8215"/>
          <a:stretch/>
        </p:blipFill>
        <p:spPr>
          <a:xfrm>
            <a:off x="6367320" y="3236040"/>
            <a:ext cx="5177520" cy="2978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>
        <p:random/>
      </p:transition>
    </mc:Choice>
    <mc:Fallback>
      <p:transition spd="slow">
        <p:random/>
      </p:transition>
    </mc:Fallback>
  </mc:AlternateContent>
  <p:timing>
    <p:tnLst>
      <p:par>
        <p:cTn id="97" dur="indefinite" restart="never" nodeType="tmRoot">
          <p:childTnLst>
            <p:seq>
              <p:cTn id="98" dur="indefinite" nodeType="mainSeq"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03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4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9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114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3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图片 25" descr=""/>
          <p:cNvPicPr/>
          <p:nvPr/>
        </p:nvPicPr>
        <p:blipFill>
          <a:blip r:embed="rId1"/>
          <a:stretch/>
        </p:blipFill>
        <p:spPr>
          <a:xfrm>
            <a:off x="378720" y="407160"/>
            <a:ext cx="410760" cy="387720"/>
          </a:xfrm>
          <a:prstGeom prst="rect">
            <a:avLst/>
          </a:prstGeom>
          <a:ln w="0">
            <a:noFill/>
          </a:ln>
        </p:spPr>
      </p:pic>
      <p:sp>
        <p:nvSpPr>
          <p:cNvPr id="149" name="文本框 17"/>
          <p:cNvSpPr/>
          <p:nvPr/>
        </p:nvSpPr>
        <p:spPr>
          <a:xfrm>
            <a:off x="790200" y="278280"/>
            <a:ext cx="71755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zh-CN" sz="3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经典繁毛楷"/>
                <a:ea typeface="经典繁毛楷"/>
              </a:rPr>
              <a:t>为什么要学数学</a:t>
            </a:r>
            <a:r>
              <a:rPr b="0" lang="en-US" sz="3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经典繁毛楷"/>
                <a:ea typeface="经典繁毛楷"/>
              </a:rPr>
              <a:t>——</a:t>
            </a:r>
            <a:r>
              <a:rPr b="0" lang="zh-CN" sz="3600" spc="-1" strike="noStrike">
                <a:solidFill>
                  <a:srgbClr val="c00000"/>
                </a:solidFill>
                <a:latin typeface="经典繁毛楷"/>
                <a:ea typeface="经典繁毛楷"/>
              </a:rPr>
              <a:t>数学是浪漫的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矩形 3"/>
          <p:cNvSpPr/>
          <p:nvPr/>
        </p:nvSpPr>
        <p:spPr>
          <a:xfrm>
            <a:off x="790200" y="2033280"/>
            <a:ext cx="1115352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zh-CN" sz="2800" spc="-1" strike="noStrike">
                <a:solidFill>
                  <a:schemeClr val="dk1"/>
                </a:solidFill>
                <a:latin typeface="方正粗宋简体"/>
                <a:ea typeface="方正粗宋简体"/>
              </a:rPr>
              <a:t>第</a:t>
            </a:r>
            <a:r>
              <a:rPr b="0" lang="en-US" sz="2800" spc="-1" strike="noStrike">
                <a:solidFill>
                  <a:schemeClr val="dk1"/>
                </a:solidFill>
                <a:latin typeface="方正粗宋简体"/>
                <a:ea typeface="方正粗宋简体"/>
              </a:rPr>
              <a:t>2</a:t>
            </a:r>
            <a:r>
              <a:rPr b="0" lang="zh-CN" sz="2800" spc="-1" strike="noStrike">
                <a:solidFill>
                  <a:schemeClr val="dk1"/>
                </a:solidFill>
                <a:latin typeface="方正粗宋简体"/>
                <a:ea typeface="方正粗宋简体"/>
              </a:rPr>
              <a:t>道：根据图象写出公式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矩形 4"/>
          <p:cNvSpPr/>
          <p:nvPr/>
        </p:nvSpPr>
        <p:spPr>
          <a:xfrm>
            <a:off x="584640" y="1163880"/>
            <a:ext cx="11010960" cy="622800"/>
          </a:xfrm>
          <a:prstGeom prst="rect">
            <a:avLst/>
          </a:prstGeom>
          <a:solidFill>
            <a:srgbClr val="437f76"/>
          </a:solidFill>
          <a:ln>
            <a:solidFill>
              <a:srgbClr val="70ad47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800" spc="-1" strike="noStrike">
                <a:solidFill>
                  <a:schemeClr val="lt1"/>
                </a:solidFill>
                <a:latin typeface="微软雅黑"/>
                <a:ea typeface="微软雅黑"/>
              </a:rPr>
              <a:t>男主裴之给女主林朝夕出了两道题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2" name="Picture 2" descr="C:\Users\user50\AppData\Roaming\Seewo\EasiNote5\Data\18200709059\Courseware\85cfb5e0-e094-4e74-95fd-7a906e11ccf1\e0dc078e7d6ff1c40b2bc3cafd0473f0_S5646.043elq2nzu5.ll2.png"/>
          <p:cNvPicPr/>
          <p:nvPr/>
        </p:nvPicPr>
        <p:blipFill>
          <a:blip r:embed="rId2"/>
          <a:stretch/>
        </p:blipFill>
        <p:spPr>
          <a:xfrm>
            <a:off x="584640" y="3304080"/>
            <a:ext cx="5000760" cy="2712600"/>
          </a:xfrm>
          <a:prstGeom prst="rect">
            <a:avLst/>
          </a:prstGeom>
          <a:ln w="0">
            <a:noFill/>
          </a:ln>
        </p:spPr>
      </p:pic>
      <p:pic>
        <p:nvPicPr>
          <p:cNvPr id="153" name="Picture 4" descr="C:\Users\user50\AppData\Roaming\Seewo\EasiNote5\Data\18200709059\Courseware\85cfb5e0-e094-4e74-95fd-7a906e11ccf1\3ad8e50c6cb4c112974d6c059508280a_S5646.045oeogpc5p.nfz.png"/>
          <p:cNvPicPr/>
          <p:nvPr/>
        </p:nvPicPr>
        <p:blipFill>
          <a:blip r:embed="rId3"/>
          <a:stretch/>
        </p:blipFill>
        <p:spPr>
          <a:xfrm>
            <a:off x="7356600" y="1965240"/>
            <a:ext cx="3171240" cy="2675880"/>
          </a:xfrm>
          <a:prstGeom prst="rect">
            <a:avLst/>
          </a:prstGeom>
          <a:ln w="0">
            <a:noFill/>
          </a:ln>
        </p:spPr>
      </p:pic>
      <mc:AlternateContent>
        <mc:Choice xmlns:a14="http://schemas.microsoft.com/office/drawing/2010/main" Requires="a14">
          <p:sp>
            <p:nvSpPr>
              <p:cNvPr id="154" name="文本框 1"/>
              <p:cNvSpPr txBox="1"/>
              <p:nvPr/>
            </p:nvSpPr>
            <p:spPr>
              <a:xfrm>
                <a:off x="6706800" y="4709880"/>
                <a:ext cx="4888800" cy="5958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p>
                      <m:e>
                        <m:r>
                          <m:t xml:space="preserve">𝑥</m:t>
                        </m:r>
                      </m:e>
                      <m:sup>
                        <m:r>
                          <m:t xml:space="preserve">2</m:t>
                        </m:r>
                      </m:sup>
                    </m:sSup>
                    <m:r>
                      <m:t xml:space="preserve">+</m:t>
                    </m:r>
                    <m:sSup>
                      <m:e>
                        <m:r>
                          <m:t xml:space="preserve">𝑦</m:t>
                        </m:r>
                      </m:e>
                      <m:sup>
                        <m:r>
                          <m:t xml:space="preserve">2</m:t>
                        </m:r>
                      </m:sup>
                    </m:sSup>
                    <m:r>
                      <m:t xml:space="preserve">∓</m:t>
                    </m:r>
                    <m:r>
                      <m:t xml:space="preserve">𝑎𝑥</m:t>
                    </m:r>
                    <m:r>
                      <m:t xml:space="preserve">=</m:t>
                    </m:r>
                    <m:r>
                      <m:t xml:space="preserve">𝑎</m:t>
                    </m:r>
                    <m:rad>
                      <m:radPr>
                        <m:degHide m:val="1"/>
                      </m:radPr>
                      <m:deg/>
                      <m:e>
                        <m:sSup>
                          <m:e>
                            <m:r>
                              <m:t xml:space="preserve">𝑥</m:t>
                            </m:r>
                          </m:e>
                          <m:sup>
                            <m:r>
                              <m:t xml:space="preserve">2</m:t>
                            </m:r>
                          </m:sup>
                        </m:sSup>
                        <m:r>
                          <m:t xml:space="preserve">+</m:t>
                        </m:r>
                        <m:sSup>
                          <m:e>
                            <m:r>
                              <m:t xml:space="preserve">𝑦</m:t>
                            </m:r>
                          </m:e>
                          <m:sup>
                            <m:r>
                              <m:t xml:space="preserve">2</m:t>
                            </m:r>
                          </m:sup>
                        </m:sSup>
                      </m:e>
                    </m:rad>
                  </m:oMath>
                </a14:m>
              </a:p>
            </p:txBody>
          </p:sp>
        </mc:Choice>
        <mc:Fallback/>
      </mc:AlternateContent>
      <mc:AlternateContent>
        <mc:Choice xmlns:a14="http://schemas.microsoft.com/office/drawing/2010/main" Requires="a14">
          <p:sp>
            <p:nvSpPr>
              <p:cNvPr id="155" name="文本框 12"/>
              <p:cNvSpPr txBox="1"/>
              <p:nvPr/>
            </p:nvSpPr>
            <p:spPr>
              <a:xfrm>
                <a:off x="6706800" y="5525280"/>
                <a:ext cx="4888800" cy="4917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p>
                      <m:e>
                        <m:r>
                          <m:t xml:space="preserve">𝑥</m:t>
                        </m:r>
                      </m:e>
                      <m:sup>
                        <m:r>
                          <m:t xml:space="preserve">2</m:t>
                        </m:r>
                      </m:sup>
                    </m:sSup>
                    <m:r>
                      <m:t xml:space="preserve">+</m:t>
                    </m:r>
                    <m:sSup>
                      <m:e>
                        <m:r>
                          <m:t xml:space="preserve">𝑦</m:t>
                        </m:r>
                      </m:e>
                      <m:sup>
                        <m:r>
                          <m:t xml:space="preserve">2</m:t>
                        </m:r>
                      </m:sup>
                    </m:sSup>
                    <m:r>
                      <m:t xml:space="preserve">=</m:t>
                    </m:r>
                    <m:r>
                      <m:t xml:space="preserve">1</m:t>
                    </m:r>
                    <m:r>
                      <m:t xml:space="preserve">+</m:t>
                    </m:r>
                    <m:d>
                      <m:dPr>
                        <m:begChr m:val="|"/>
                        <m:endChr m:val="|"/>
                      </m:dPr>
                      <m:e>
                        <m:r>
                          <m:t xml:space="preserve">𝑥</m:t>
                        </m:r>
                      </m:e>
                    </m:d>
                    <m:r>
                      <m:t xml:space="preserve">𝑦</m:t>
                    </m:r>
                  </m:oMath>
                </a14:m>
              </a:p>
            </p:txBody>
          </p:sp>
        </mc:Choice>
        <mc:Fallback/>
      </mc:AlternateContent>
      <mc:AlternateContent>
        <mc:Choice xmlns:a14="http://schemas.microsoft.com/office/drawing/2010/main" Requires="a14">
          <p:sp>
            <p:nvSpPr>
              <p:cNvPr id="156" name="文本框 13"/>
              <p:cNvSpPr txBox="1"/>
              <p:nvPr/>
            </p:nvSpPr>
            <p:spPr>
              <a:xfrm>
                <a:off x="6706800" y="6236640"/>
                <a:ext cx="4888800" cy="4917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𝑟</m:t>
                    </m:r>
                    <m:r>
                      <m:t xml:space="preserve">=</m:t>
                    </m:r>
                    <m:r>
                      <m:t xml:space="preserve">𝑎</m:t>
                    </m:r>
                    <m:r>
                      <m:t xml:space="preserve">(</m:t>
                    </m:r>
                    <m:r>
                      <m:t xml:space="preserve">1</m:t>
                    </m:r>
                    <m:r>
                      <m:t xml:space="preserve">∓</m:t>
                    </m:r>
                    <m:r>
                      <m:t xml:space="preserve">𝑠𝑖𝑛</m:t>
                    </m:r>
                    <m:r>
                      <m:t xml:space="preserve">𝜃</m:t>
                    </m:r>
                    <m:r>
                      <m:t xml:space="preserve">)</m:t>
                    </m:r>
                    <m:r>
                      <m:t xml:space="preserve">(</m:t>
                    </m:r>
                    <m:r>
                      <m:t xml:space="preserve">𝑎</m:t>
                    </m:r>
                    <m:r>
                      <m:t xml:space="preserve">&gt;</m:t>
                    </m:r>
                    <m:r>
                      <m:t xml:space="preserve">0</m:t>
                    </m:r>
                    <m:r>
                      <m:t xml:space="preserve">)</m:t>
                    </m:r>
                  </m:oMath>
                </a14:m>
              </a:p>
            </p:txBody>
          </p:sp>
        </mc:Choice>
        <mc:Fallback/>
      </mc:AlternateContent>
    </p:spTree>
  </p:cSld>
  <mc:AlternateContent>
    <mc:Choice Requires="p14">
      <p:transition spd="slow" p14:dur="2000">
        <p:random/>
      </p:transition>
    </mc:Choice>
    <mc:Fallback>
      <p:transition spd="slow">
        <p:random/>
      </p:transition>
    </mc:Fallback>
  </mc:AlternateContent>
  <p:timing>
    <p:tnLst>
      <p:par>
        <p:cTn id="124" dur="indefinite" restart="never" nodeType="tmRoot">
          <p:childTnLst>
            <p:seq>
              <p:cTn id="125" dur="indefinite" nodeType="mainSeq">
                <p:childTnLst>
                  <p:par>
                    <p:cTn id="126" fill="hold">
                      <p:stCondLst>
                        <p:cond delay="0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0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1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6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141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6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1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6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1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6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图片 25" descr=""/>
          <p:cNvPicPr/>
          <p:nvPr/>
        </p:nvPicPr>
        <p:blipFill>
          <a:blip r:embed="rId1"/>
          <a:stretch/>
        </p:blipFill>
        <p:spPr>
          <a:xfrm>
            <a:off x="378720" y="407160"/>
            <a:ext cx="410760" cy="387720"/>
          </a:xfrm>
          <a:prstGeom prst="rect">
            <a:avLst/>
          </a:prstGeom>
          <a:ln w="0">
            <a:noFill/>
          </a:ln>
        </p:spPr>
      </p:pic>
      <p:sp>
        <p:nvSpPr>
          <p:cNvPr id="158" name="文本框 17"/>
          <p:cNvSpPr/>
          <p:nvPr/>
        </p:nvSpPr>
        <p:spPr>
          <a:xfrm>
            <a:off x="790200" y="278280"/>
            <a:ext cx="71755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zh-CN" sz="3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经典繁毛楷"/>
                <a:ea typeface="经典繁毛楷"/>
              </a:rPr>
              <a:t>为什么要学数学</a:t>
            </a:r>
            <a:r>
              <a:rPr b="0" lang="en-US" sz="3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经典繁毛楷"/>
                <a:ea typeface="经典繁毛楷"/>
              </a:rPr>
              <a:t>——</a:t>
            </a:r>
            <a:r>
              <a:rPr b="0" lang="zh-CN" sz="3600" spc="-1" strike="noStrike">
                <a:solidFill>
                  <a:schemeClr val="accent1">
                    <a:lumMod val="75000"/>
                  </a:schemeClr>
                </a:solidFill>
                <a:latin typeface="经典繁毛楷"/>
                <a:ea typeface="经典繁毛楷"/>
              </a:rPr>
              <a:t>数学是有用的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9" name="Picture 2" descr="C:\Users\user50\AppData\Roaming\Seewo\EasiNote5\Data\18200709059\Courseware\85cfb5e0-e094-4e74-95fd-7a906e11ccf1\dba35451f383f958359e66f9d6e9a752_S0139.7635f11wu0t.03n.jpg"/>
          <p:cNvPicPr/>
          <p:nvPr/>
        </p:nvPicPr>
        <p:blipFill>
          <a:blip r:embed="rId2"/>
          <a:stretch/>
        </p:blipFill>
        <p:spPr>
          <a:xfrm>
            <a:off x="56880" y="1617840"/>
            <a:ext cx="5218200" cy="3296880"/>
          </a:xfrm>
          <a:prstGeom prst="rect">
            <a:avLst/>
          </a:prstGeom>
          <a:ln w="0">
            <a:noFill/>
          </a:ln>
        </p:spPr>
      </p:pic>
      <p:sp>
        <p:nvSpPr>
          <p:cNvPr id="160" name="矩形 1"/>
          <p:cNvSpPr/>
          <p:nvPr/>
        </p:nvSpPr>
        <p:spPr>
          <a:xfrm>
            <a:off x="1391760" y="5333040"/>
            <a:ext cx="2548800" cy="809280"/>
          </a:xfrm>
          <a:prstGeom prst="rect">
            <a:avLst/>
          </a:prstGeom>
          <a:solidFill>
            <a:srgbClr val="4282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3600" spc="-1" strike="noStrike">
                <a:solidFill>
                  <a:schemeClr val="lt1"/>
                </a:solidFill>
                <a:latin typeface="Arial"/>
                <a:ea typeface="微软雅黑"/>
              </a:rPr>
              <a:t>七桥问题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矩形 2"/>
          <p:cNvSpPr/>
          <p:nvPr/>
        </p:nvSpPr>
        <p:spPr>
          <a:xfrm>
            <a:off x="5415120" y="1171080"/>
            <a:ext cx="6288480" cy="1552680"/>
          </a:xfrm>
          <a:prstGeom prst="rect">
            <a:avLst/>
          </a:prstGeom>
          <a:noFill/>
          <a:ln w="76200">
            <a:solidFill>
              <a:srgbClr val="4282bd"/>
            </a:solidFill>
            <a:prstDash val="sys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微软雅黑"/>
                <a:ea typeface="微软雅黑"/>
              </a:rPr>
              <a:t>18</a:t>
            </a:r>
            <a:r>
              <a:rPr b="0" lang="zh-CN" sz="2400" spc="-1" strike="noStrike">
                <a:solidFill>
                  <a:schemeClr val="dk1"/>
                </a:solidFill>
                <a:latin typeface="微软雅黑"/>
                <a:ea typeface="微软雅黑"/>
              </a:rPr>
              <a:t>世纪初普鲁士的哥尼斯堡，有一条河穿过，河上有两个小岛，有七座桥把两个岛与河岸联系起来，一个步行者怎样才能不重复、不遗漏一次走完七座桥，最后回到出发点？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矩形 3"/>
          <p:cNvSpPr/>
          <p:nvPr/>
        </p:nvSpPr>
        <p:spPr>
          <a:xfrm>
            <a:off x="5415120" y="3207600"/>
            <a:ext cx="6288480" cy="338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"/>
            </a:pPr>
            <a:r>
              <a:rPr b="0" lang="zh-CN" sz="2400" spc="-1" strike="noStrike">
                <a:solidFill>
                  <a:schemeClr val="dk1"/>
                </a:solidFill>
                <a:latin typeface="微软雅黑"/>
                <a:ea typeface="微软雅黑"/>
              </a:rPr>
              <a:t>数学家欧拉把它转化成一个几何问题</a:t>
            </a:r>
            <a:r>
              <a:rPr b="0" lang="en-US" sz="2400" spc="-1" strike="noStrike">
                <a:solidFill>
                  <a:schemeClr val="dk1"/>
                </a:solidFill>
                <a:latin typeface="微软雅黑"/>
                <a:ea typeface="微软雅黑"/>
              </a:rPr>
              <a:t>——一笔画问题。他不仅解决了此问题，且给出了连通图可以一笔画的充要条件是： </a:t>
            </a:r>
            <a:r>
              <a:rPr b="1" lang="zh-CN" sz="2400" spc="-1" strike="noStrike">
                <a:solidFill>
                  <a:schemeClr val="accent1">
                    <a:lumMod val="75000"/>
                  </a:schemeClr>
                </a:solidFill>
                <a:latin typeface="微软雅黑"/>
                <a:ea typeface="微软雅黑"/>
              </a:rPr>
              <a:t>奇点的数目不是</a:t>
            </a:r>
            <a:r>
              <a:rPr b="1" lang="en-US" sz="2400" spc="-1" strike="noStrike">
                <a:solidFill>
                  <a:schemeClr val="accent1">
                    <a:lumMod val="75000"/>
                  </a:schemeClr>
                </a:solidFill>
                <a:latin typeface="微软雅黑"/>
                <a:ea typeface="微软雅黑"/>
              </a:rPr>
              <a:t>0</a:t>
            </a:r>
            <a:r>
              <a:rPr b="1" lang="zh-CN" sz="2400" spc="-1" strike="noStrike">
                <a:solidFill>
                  <a:schemeClr val="accent1">
                    <a:lumMod val="75000"/>
                  </a:schemeClr>
                </a:solidFill>
                <a:latin typeface="微软雅黑"/>
                <a:ea typeface="微软雅黑"/>
              </a:rPr>
              <a:t>个就是</a:t>
            </a:r>
            <a:r>
              <a:rPr b="1" lang="en-US" sz="2400" spc="-1" strike="noStrike">
                <a:solidFill>
                  <a:schemeClr val="accent1">
                    <a:lumMod val="75000"/>
                  </a:schemeClr>
                </a:solidFill>
                <a:latin typeface="微软雅黑"/>
                <a:ea typeface="微软雅黑"/>
              </a:rPr>
              <a:t>2</a:t>
            </a:r>
            <a:r>
              <a:rPr b="1" lang="zh-CN" sz="2400" spc="-1" strike="noStrike">
                <a:solidFill>
                  <a:schemeClr val="accent1">
                    <a:lumMod val="75000"/>
                  </a:schemeClr>
                </a:solidFill>
                <a:latin typeface="微软雅黑"/>
                <a:ea typeface="微软雅黑"/>
              </a:rPr>
              <a:t>个。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"/>
            </a:pPr>
            <a:r>
              <a:rPr b="0" lang="en-US" sz="2400" spc="-1" strike="noStrike">
                <a:solidFill>
                  <a:schemeClr val="dk1"/>
                </a:solidFill>
                <a:latin typeface="微软雅黑"/>
                <a:ea typeface="微软雅黑"/>
              </a:rPr>
              <a:t>1736</a:t>
            </a:r>
            <a:r>
              <a:rPr b="0" lang="zh-CN" sz="2400" spc="-1" strike="noStrike">
                <a:solidFill>
                  <a:schemeClr val="dk1"/>
                </a:solidFill>
                <a:latin typeface="微软雅黑"/>
                <a:ea typeface="微软雅黑"/>
              </a:rPr>
              <a:t>年</a:t>
            </a:r>
            <a:r>
              <a:rPr b="0" lang="en-US" sz="2400" spc="-1" strike="noStrike">
                <a:solidFill>
                  <a:schemeClr val="dk1"/>
                </a:solidFill>
                <a:latin typeface="微软雅黑"/>
                <a:ea typeface="微软雅黑"/>
              </a:rPr>
              <a:t>29</a:t>
            </a:r>
            <a:r>
              <a:rPr b="0" lang="zh-CN" sz="2400" spc="-1" strike="noStrike">
                <a:solidFill>
                  <a:schemeClr val="dk1"/>
                </a:solidFill>
                <a:latin typeface="微软雅黑"/>
                <a:ea typeface="微软雅黑"/>
              </a:rPr>
              <a:t>岁的欧拉向圣彼得堡科学院递交了《哥尼斯堡的七座桥》的论文，在解答问题的同时，开创了数学的一个新的分支—— </a:t>
            </a:r>
            <a:r>
              <a:rPr b="1" lang="zh-CN" sz="2400" spc="-1" strike="noStrike">
                <a:solidFill>
                  <a:schemeClr val="accent1">
                    <a:lumMod val="75000"/>
                  </a:schemeClr>
                </a:solidFill>
                <a:latin typeface="微软雅黑"/>
                <a:ea typeface="微软雅黑"/>
              </a:rPr>
              <a:t>图论与几何拓扑</a:t>
            </a:r>
            <a:r>
              <a:rPr b="0" lang="en-US" sz="2400" spc="-1" strike="noStrike">
                <a:solidFill>
                  <a:schemeClr val="dk1"/>
                </a:solidFill>
                <a:latin typeface="微软雅黑"/>
                <a:ea typeface="微软雅黑"/>
              </a:rPr>
              <a:t> ，也由此展开了数学史上的新历程。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>
        <p:random/>
      </p:transition>
    </mc:Choice>
    <mc:Fallback>
      <p:transition spd="slow">
        <p:random/>
      </p:transition>
    </mc:Fallback>
  </mc:AlternateContent>
  <p:timing>
    <p:tnLst>
      <p:par>
        <p:cTn id="167" dur="indefinite" restart="never" nodeType="tmRoot">
          <p:childTnLst>
            <p:seq>
              <p:cTn id="168" dur="indefinite" nodeType="mainSeq">
                <p:childTnLst>
                  <p:par>
                    <p:cTn id="169" fill="hold">
                      <p:stCondLst>
                        <p:cond delay="0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73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4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图片 25" descr=""/>
          <p:cNvPicPr/>
          <p:nvPr/>
        </p:nvPicPr>
        <p:blipFill>
          <a:blip r:embed="rId1"/>
          <a:stretch/>
        </p:blipFill>
        <p:spPr>
          <a:xfrm>
            <a:off x="378720" y="407160"/>
            <a:ext cx="410760" cy="387720"/>
          </a:xfrm>
          <a:prstGeom prst="rect">
            <a:avLst/>
          </a:prstGeom>
          <a:ln w="0">
            <a:noFill/>
          </a:ln>
        </p:spPr>
      </p:pic>
      <p:sp>
        <p:nvSpPr>
          <p:cNvPr id="164" name="文本框 17"/>
          <p:cNvSpPr/>
          <p:nvPr/>
        </p:nvSpPr>
        <p:spPr>
          <a:xfrm>
            <a:off x="790200" y="278280"/>
            <a:ext cx="71755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zh-CN" sz="3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经典繁毛楷"/>
                <a:ea typeface="经典繁毛楷"/>
              </a:rPr>
              <a:t>为什么要学数学</a:t>
            </a:r>
            <a:r>
              <a:rPr b="0" lang="en-US" sz="3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经典繁毛楷"/>
                <a:ea typeface="经典繁毛楷"/>
              </a:rPr>
              <a:t>——</a:t>
            </a:r>
            <a:r>
              <a:rPr b="0" lang="zh-CN" sz="3600" spc="-1" strike="noStrike">
                <a:solidFill>
                  <a:schemeClr val="accent1">
                    <a:lumMod val="75000"/>
                  </a:schemeClr>
                </a:solidFill>
                <a:latin typeface="经典繁毛楷"/>
                <a:ea typeface="经典繁毛楷"/>
              </a:rPr>
              <a:t>数学是有用的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5" name="Picture 2" descr="C:\Users\user50\AppData\Roaming\Seewo\EasiNote5\Data\18200709059\Courseware\85cfb5e0-e094-4e74-95fd-7a906e11ccf1\833e5eb4738ba8056fa7401dd9c37c7d_S0139.765xyreepyk.iqc.png"/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tretch/>
        </p:blipFill>
        <p:spPr>
          <a:xfrm>
            <a:off x="2245680" y="1273680"/>
            <a:ext cx="8517240" cy="3532680"/>
          </a:xfrm>
          <a:prstGeom prst="rect">
            <a:avLst/>
          </a:prstGeom>
          <a:ln w="0">
            <a:noFill/>
          </a:ln>
        </p:spPr>
      </p:pic>
      <p:sp>
        <p:nvSpPr>
          <p:cNvPr id="166" name="矩形 4"/>
          <p:cNvSpPr/>
          <p:nvPr/>
        </p:nvSpPr>
        <p:spPr>
          <a:xfrm>
            <a:off x="1187280" y="5339160"/>
            <a:ext cx="1063368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zh-CN" sz="2800" spc="-1" strike="noStrike">
                <a:solidFill>
                  <a:schemeClr val="dk1"/>
                </a:solidFill>
                <a:latin typeface="微软雅黑"/>
                <a:ea typeface="微软雅黑"/>
              </a:rPr>
              <a:t>女主林朝夕使用贝叶斯网络进行算法建模，来预测嫌犯行动轨迹和抓捕时间方位。她还利用该方法顺利预测老林车祸的地点。</a:t>
            </a:r>
            <a:r>
              <a:rPr b="0" lang="en-US" sz="2800" spc="-1" strike="noStrike">
                <a:solidFill>
                  <a:schemeClr val="dk1"/>
                </a:solidFill>
                <a:latin typeface="微软雅黑"/>
                <a:ea typeface="微软雅黑"/>
              </a:rPr>
              <a:t>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>
        <p:random/>
      </p:transition>
    </mc:Choice>
    <mc:Fallback>
      <p:transition spd="slow">
        <p:random/>
      </p:transition>
    </mc:Fallback>
  </mc:AlternateContent>
  <p:timing>
    <p:tnLst>
      <p:par>
        <p:cTn id="175" dur="indefinite" restart="never" nodeType="tmRoot">
          <p:childTnLst>
            <p:seq>
              <p:cTn id="176" dur="indefinite" nodeType="mainSeq">
                <p:childTnLst>
                  <p:par>
                    <p:cTn id="177" fill="hold">
                      <p:stCondLst>
                        <p:cond delay="0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81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2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图片 25" descr=""/>
          <p:cNvPicPr/>
          <p:nvPr/>
        </p:nvPicPr>
        <p:blipFill>
          <a:blip r:embed="rId1"/>
          <a:stretch/>
        </p:blipFill>
        <p:spPr>
          <a:xfrm>
            <a:off x="378720" y="407160"/>
            <a:ext cx="410760" cy="387720"/>
          </a:xfrm>
          <a:prstGeom prst="rect">
            <a:avLst/>
          </a:prstGeom>
          <a:ln w="0">
            <a:noFill/>
          </a:ln>
        </p:spPr>
      </p:pic>
      <p:sp>
        <p:nvSpPr>
          <p:cNvPr id="168" name="文本框 17"/>
          <p:cNvSpPr/>
          <p:nvPr/>
        </p:nvSpPr>
        <p:spPr>
          <a:xfrm>
            <a:off x="790200" y="278280"/>
            <a:ext cx="71755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zh-CN" sz="3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经典繁毛楷"/>
                <a:ea typeface="经典繁毛楷"/>
              </a:rPr>
              <a:t>为什么要学数学</a:t>
            </a:r>
            <a:r>
              <a:rPr b="0" lang="en-US" sz="3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经典繁毛楷"/>
                <a:ea typeface="经典繁毛楷"/>
              </a:rPr>
              <a:t>——</a:t>
            </a:r>
            <a:r>
              <a:rPr b="0" lang="zh-CN" sz="3600" spc="-1" strike="noStrike">
                <a:solidFill>
                  <a:schemeClr val="accent1">
                    <a:lumMod val="75000"/>
                  </a:schemeClr>
                </a:solidFill>
                <a:latin typeface="经典繁毛楷"/>
                <a:ea typeface="经典繁毛楷"/>
              </a:rPr>
              <a:t>数学是有用的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矩形 2"/>
          <p:cNvSpPr/>
          <p:nvPr/>
        </p:nvSpPr>
        <p:spPr>
          <a:xfrm>
            <a:off x="1350000" y="2426400"/>
            <a:ext cx="9491760" cy="2832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zh-CN" sz="6000" spc="-1" strike="noStrike">
                <a:solidFill>
                  <a:schemeClr val="dk1"/>
                </a:solidFill>
                <a:latin typeface="方正流行体繁体"/>
                <a:ea typeface="方正流行体繁体"/>
              </a:rPr>
              <a:t>这就是数学，你永远不知道 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6000" spc="-1" strike="noStrike">
                <a:solidFill>
                  <a:schemeClr val="dk1"/>
                </a:solidFill>
                <a:latin typeface="方正流行体繁体"/>
                <a:ea typeface="方正流行体繁体"/>
              </a:rPr>
              <a:t>在解决一个看似无意义的问题背后，会藏着怎样的未来</a:t>
            </a:r>
            <a:r>
              <a:rPr b="0" lang="en-US" sz="6000" spc="-1" strike="noStrike">
                <a:solidFill>
                  <a:schemeClr val="dk1"/>
                </a:solidFill>
                <a:latin typeface="方正流行体繁体"/>
                <a:ea typeface="微软雅黑"/>
              </a:rPr>
              <a:t> 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>
        <p:random/>
      </p:transition>
    </mc:Choice>
    <mc:Fallback>
      <p:transition spd="slow">
        <p:random/>
      </p:transition>
    </mc:Fallback>
  </mc:AlternateContent>
  <p:timing>
    <p:tnLst>
      <p:par>
        <p:cTn id="183" dur="indefinite" restart="never" nodeType="tmRoot">
          <p:childTnLst>
            <p:seq>
              <p:cTn id="184" dur="indefinite" nodeType="mainSeq">
                <p:childTnLst>
                  <p:par>
                    <p:cTn id="185" fill="hold">
                      <p:stCondLst>
                        <p:cond delay="0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89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0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nodeType="clickEffect" fill="hold" presetClass="entr" presetID="3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5" dur="10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6" dur="10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7" dur="10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9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98"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椭圆 15"/>
          <p:cNvSpPr/>
          <p:nvPr/>
        </p:nvSpPr>
        <p:spPr>
          <a:xfrm rot="2842200">
            <a:off x="9421920" y="-53280"/>
            <a:ext cx="2259360" cy="2194200"/>
          </a:xfrm>
          <a:custGeom>
            <a:avLst/>
            <a:gdLst>
              <a:gd name="textAreaLeft" fmla="*/ 0 w 2259360"/>
              <a:gd name="textAreaRight" fmla="*/ 2260080 w 2259360"/>
              <a:gd name="textAreaTop" fmla="*/ 0 h 2194200"/>
              <a:gd name="textAreaBottom" fmla="*/ 2194920 h 2194200"/>
            </a:gdLst>
            <a:ahLst/>
            <a:rect l="textAreaLeft" t="textAreaTop" r="textAreaRight" b="textAreaBottom"/>
            <a:pathLst>
              <a:path w="2260220" h="2194971">
                <a:moveTo>
                  <a:pt x="72" y="990786"/>
                </a:moveTo>
                <a:cubicBezTo>
                  <a:pt x="10232" y="625026"/>
                  <a:pt x="1119215" y="-12514"/>
                  <a:pt x="1495906" y="186"/>
                </a:cubicBezTo>
                <a:cubicBezTo>
                  <a:pt x="1872597" y="12886"/>
                  <a:pt x="2260220" y="452558"/>
                  <a:pt x="2260220" y="1066986"/>
                </a:cubicBezTo>
                <a:cubicBezTo>
                  <a:pt x="2260220" y="1681414"/>
                  <a:pt x="1811637" y="2207446"/>
                  <a:pt x="1434946" y="2194746"/>
                </a:cubicBezTo>
                <a:cubicBezTo>
                  <a:pt x="1058255" y="2182046"/>
                  <a:pt x="-10088" y="1356546"/>
                  <a:pt x="72" y="990786"/>
                </a:cubicBezTo>
                <a:close/>
              </a:path>
            </a:pathLst>
          </a:custGeom>
          <a:solidFill>
            <a:srgbClr val="dde6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微软雅黑"/>
            </a:endParaRPr>
          </a:p>
        </p:txBody>
      </p:sp>
      <p:sp>
        <p:nvSpPr>
          <p:cNvPr id="171" name="任意多边形: 形状 52"/>
          <p:cNvSpPr/>
          <p:nvPr/>
        </p:nvSpPr>
        <p:spPr>
          <a:xfrm rot="21045000">
            <a:off x="10180800" y="1461600"/>
            <a:ext cx="2331000" cy="3606840"/>
          </a:xfrm>
          <a:custGeom>
            <a:avLst/>
            <a:gdLst>
              <a:gd name="textAreaLeft" fmla="*/ 0 w 2331000"/>
              <a:gd name="textAreaRight" fmla="*/ 2331720 w 2331000"/>
              <a:gd name="textAreaTop" fmla="*/ 0 h 3606840"/>
              <a:gd name="textAreaBottom" fmla="*/ 3607560 h 3606840"/>
            </a:gdLst>
            <a:ahLst/>
            <a:rect l="textAreaLeft" t="textAreaTop" r="textAreaRight" b="textAreaBottom"/>
            <a:pathLst>
              <a:path w="2331561" h="3607613">
                <a:moveTo>
                  <a:pt x="2331561" y="0"/>
                </a:moveTo>
                <a:lnTo>
                  <a:pt x="1744322" y="3607613"/>
                </a:lnTo>
                <a:lnTo>
                  <a:pt x="1670871" y="3576558"/>
                </a:lnTo>
                <a:cubicBezTo>
                  <a:pt x="1011725" y="3255565"/>
                  <a:pt x="-172288" y="2133388"/>
                  <a:pt x="21069" y="1563934"/>
                </a:cubicBezTo>
                <a:cubicBezTo>
                  <a:pt x="171267" y="1121591"/>
                  <a:pt x="1356739" y="411448"/>
                  <a:pt x="2269564" y="25026"/>
                </a:cubicBezTo>
                <a:close/>
              </a:path>
            </a:pathLst>
          </a:custGeom>
          <a:solidFill>
            <a:srgbClr val="dde6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微软雅黑"/>
            </a:endParaRPr>
          </a:p>
        </p:txBody>
      </p:sp>
      <p:sp>
        <p:nvSpPr>
          <p:cNvPr id="172" name="任意多边形: 形状 66"/>
          <p:cNvSpPr/>
          <p:nvPr/>
        </p:nvSpPr>
        <p:spPr>
          <a:xfrm rot="3262800">
            <a:off x="3424680" y="4976280"/>
            <a:ext cx="2247120" cy="2177280"/>
          </a:xfrm>
          <a:custGeom>
            <a:avLst/>
            <a:gdLst>
              <a:gd name="textAreaLeft" fmla="*/ 0 w 2247120"/>
              <a:gd name="textAreaRight" fmla="*/ 2247840 w 2247120"/>
              <a:gd name="textAreaTop" fmla="*/ 0 h 2177280"/>
              <a:gd name="textAreaBottom" fmla="*/ 2178000 h 2177280"/>
            </a:gdLst>
            <a:ahLst/>
            <a:rect l="textAreaLeft" t="textAreaTop" r="textAreaRight" b="textAreaBottom"/>
            <a:pathLst>
              <a:path w="2247974" h="2177942">
                <a:moveTo>
                  <a:pt x="51813" y="842687"/>
                </a:moveTo>
                <a:cubicBezTo>
                  <a:pt x="276035" y="475801"/>
                  <a:pt x="1166301" y="-10926"/>
                  <a:pt x="1495906" y="186"/>
                </a:cubicBezTo>
                <a:cubicBezTo>
                  <a:pt x="1825511" y="11298"/>
                  <a:pt x="2163485" y="349312"/>
                  <a:pt x="2242829" y="845260"/>
                </a:cubicBezTo>
                <a:lnTo>
                  <a:pt x="2247974" y="910860"/>
                </a:lnTo>
                <a:lnTo>
                  <a:pt x="1340011" y="2177942"/>
                </a:lnTo>
                <a:lnTo>
                  <a:pt x="1264723" y="2154369"/>
                </a:lnTo>
                <a:cubicBezTo>
                  <a:pt x="808021" y="1982854"/>
                  <a:pt x="-8818" y="1310826"/>
                  <a:pt x="72" y="990786"/>
                </a:cubicBezTo>
                <a:cubicBezTo>
                  <a:pt x="1342" y="945066"/>
                  <a:pt x="19781" y="895100"/>
                  <a:pt x="51813" y="842687"/>
                </a:cubicBezTo>
                <a:close/>
              </a:path>
            </a:pathLst>
          </a:custGeom>
          <a:solidFill>
            <a:srgbClr val="dde6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微软雅黑"/>
            </a:endParaRPr>
          </a:p>
        </p:txBody>
      </p:sp>
      <p:sp>
        <p:nvSpPr>
          <p:cNvPr id="173" name="椭圆 15"/>
          <p:cNvSpPr/>
          <p:nvPr/>
        </p:nvSpPr>
        <p:spPr>
          <a:xfrm rot="17148600">
            <a:off x="1352160" y="4430880"/>
            <a:ext cx="1682640" cy="1513800"/>
          </a:xfrm>
          <a:custGeom>
            <a:avLst/>
            <a:gdLst>
              <a:gd name="textAreaLeft" fmla="*/ 0 w 1682640"/>
              <a:gd name="textAreaRight" fmla="*/ 1683360 w 1682640"/>
              <a:gd name="textAreaTop" fmla="*/ 0 h 1513800"/>
              <a:gd name="textAreaBottom" fmla="*/ 1514520 h 1513800"/>
            </a:gdLst>
            <a:ahLst/>
            <a:rect l="textAreaLeft" t="textAreaTop" r="textAreaRight" b="textAreaBottom"/>
            <a:pathLst>
              <a:path w="2260220" h="2194971">
                <a:moveTo>
                  <a:pt x="72" y="990786"/>
                </a:moveTo>
                <a:cubicBezTo>
                  <a:pt x="10232" y="625026"/>
                  <a:pt x="1119215" y="-12514"/>
                  <a:pt x="1495906" y="186"/>
                </a:cubicBezTo>
                <a:cubicBezTo>
                  <a:pt x="1872597" y="12886"/>
                  <a:pt x="2260220" y="452558"/>
                  <a:pt x="2260220" y="1066986"/>
                </a:cubicBezTo>
                <a:cubicBezTo>
                  <a:pt x="2260220" y="1681414"/>
                  <a:pt x="1811637" y="2207446"/>
                  <a:pt x="1434946" y="2194746"/>
                </a:cubicBezTo>
                <a:cubicBezTo>
                  <a:pt x="1058255" y="2182046"/>
                  <a:pt x="-10088" y="1356546"/>
                  <a:pt x="72" y="990786"/>
                </a:cubicBezTo>
                <a:close/>
              </a:path>
            </a:pathLst>
          </a:custGeom>
          <a:solidFill>
            <a:srgbClr val="dde6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微软雅黑"/>
            </a:endParaRPr>
          </a:p>
        </p:txBody>
      </p:sp>
      <p:sp>
        <p:nvSpPr>
          <p:cNvPr id="174" name="任意多边形: 形状 64"/>
          <p:cNvSpPr/>
          <p:nvPr/>
        </p:nvSpPr>
        <p:spPr>
          <a:xfrm>
            <a:off x="0" y="4189320"/>
            <a:ext cx="5747040" cy="2667960"/>
          </a:xfrm>
          <a:custGeom>
            <a:avLst/>
            <a:gdLst>
              <a:gd name="textAreaLeft" fmla="*/ 0 w 5747040"/>
              <a:gd name="textAreaRight" fmla="*/ 5747760 w 5747040"/>
              <a:gd name="textAreaTop" fmla="*/ 0 h 2667960"/>
              <a:gd name="textAreaBottom" fmla="*/ 2668680 h 2667960"/>
            </a:gdLst>
            <a:ahLst/>
            <a:rect l="textAreaLeft" t="textAreaTop" r="textAreaRight" b="textAreaBottom"/>
            <a:pathLst>
              <a:path w="5747714" h="2668654">
                <a:moveTo>
                  <a:pt x="1624616" y="110"/>
                </a:moveTo>
                <a:cubicBezTo>
                  <a:pt x="2534078" y="-19001"/>
                  <a:pt x="1894140" y="2458488"/>
                  <a:pt x="2209218" y="2067944"/>
                </a:cubicBezTo>
                <a:cubicBezTo>
                  <a:pt x="3560354" y="205583"/>
                  <a:pt x="3585999" y="2093580"/>
                  <a:pt x="3823996" y="2312238"/>
                </a:cubicBezTo>
                <a:cubicBezTo>
                  <a:pt x="3944533" y="2467912"/>
                  <a:pt x="6062040" y="1910373"/>
                  <a:pt x="5707813" y="2627676"/>
                </a:cubicBezTo>
                <a:lnTo>
                  <a:pt x="5684304" y="2668654"/>
                </a:lnTo>
                <a:lnTo>
                  <a:pt x="0" y="2668654"/>
                </a:lnTo>
                <a:lnTo>
                  <a:pt x="0" y="1160865"/>
                </a:lnTo>
                <a:lnTo>
                  <a:pt x="40483" y="1117818"/>
                </a:lnTo>
                <a:cubicBezTo>
                  <a:pt x="818280" y="307039"/>
                  <a:pt x="1312621" y="6666"/>
                  <a:pt x="1624616" y="110"/>
                </a:cubicBezTo>
                <a:close/>
              </a:path>
            </a:pathLst>
          </a:custGeom>
          <a:solidFill>
            <a:srgbClr val="437f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微软雅黑"/>
            </a:endParaRPr>
          </a:p>
        </p:txBody>
      </p:sp>
      <p:sp>
        <p:nvSpPr>
          <p:cNvPr id="175" name="任意多边形: 形状 54"/>
          <p:cNvSpPr/>
          <p:nvPr/>
        </p:nvSpPr>
        <p:spPr>
          <a:xfrm flipH="1" flipV="1">
            <a:off x="6817680" y="-360"/>
            <a:ext cx="5388120" cy="2590200"/>
          </a:xfrm>
          <a:custGeom>
            <a:avLst/>
            <a:gdLst>
              <a:gd name="textAreaLeft" fmla="*/ 360 w 5388120"/>
              <a:gd name="textAreaRight" fmla="*/ 5389200 w 5388120"/>
              <a:gd name="textAreaTop" fmla="*/ 360 h 2590200"/>
              <a:gd name="textAreaBottom" fmla="*/ 2591280 h 2590200"/>
            </a:gdLst>
            <a:ahLst/>
            <a:rect l="textAreaLeft" t="textAreaTop" r="textAreaRight" b="textAreaBottom"/>
            <a:pathLst>
              <a:path w="5388932" h="2590800">
                <a:moveTo>
                  <a:pt x="5259419" y="2590800"/>
                </a:moveTo>
                <a:lnTo>
                  <a:pt x="0" y="2590800"/>
                </a:lnTo>
                <a:lnTo>
                  <a:pt x="0" y="920456"/>
                </a:lnTo>
                <a:lnTo>
                  <a:pt x="43304" y="877720"/>
                </a:lnTo>
                <a:cubicBezTo>
                  <a:pt x="698632" y="245254"/>
                  <a:pt x="1127005" y="5755"/>
                  <a:pt x="1405263" y="103"/>
                </a:cubicBezTo>
                <a:cubicBezTo>
                  <a:pt x="2283970" y="-17748"/>
                  <a:pt x="1665672" y="2296390"/>
                  <a:pt x="1970095" y="1931596"/>
                </a:cubicBezTo>
                <a:cubicBezTo>
                  <a:pt x="3275541" y="192028"/>
                  <a:pt x="3300319" y="1955541"/>
                  <a:pt x="3530267" y="2159782"/>
                </a:cubicBezTo>
                <a:cubicBezTo>
                  <a:pt x="3650485" y="2309882"/>
                  <a:pt x="5826630" y="1750122"/>
                  <a:pt x="5309659" y="2523042"/>
                </a:cubicBezTo>
                <a:close/>
              </a:path>
            </a:pathLst>
          </a:custGeom>
          <a:solidFill>
            <a:srgbClr val="437f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微软雅黑"/>
            </a:endParaRPr>
          </a:p>
        </p:txBody>
      </p:sp>
      <p:sp>
        <p:nvSpPr>
          <p:cNvPr id="176" name="矩形 11"/>
          <p:cNvSpPr/>
          <p:nvPr/>
        </p:nvSpPr>
        <p:spPr>
          <a:xfrm>
            <a:off x="7869240" y="5082840"/>
            <a:ext cx="4337280" cy="1774440"/>
          </a:xfrm>
          <a:custGeom>
            <a:avLst/>
            <a:gdLst>
              <a:gd name="textAreaLeft" fmla="*/ 0 w 4337280"/>
              <a:gd name="textAreaRight" fmla="*/ 4338000 w 4337280"/>
              <a:gd name="textAreaTop" fmla="*/ 0 h 1774440"/>
              <a:gd name="textAreaBottom" fmla="*/ 1775160 h 1774440"/>
            </a:gdLst>
            <a:ahLst/>
            <a:rect l="textAreaLeft" t="textAreaTop" r="textAreaRight" b="textAreaBottom"/>
            <a:pathLst>
              <a:path w="4337863" h="1775000">
                <a:moveTo>
                  <a:pt x="2310943" y="1150160"/>
                </a:moveTo>
                <a:cubicBezTo>
                  <a:pt x="3306623" y="1454960"/>
                  <a:pt x="1376223" y="-648160"/>
                  <a:pt x="4337863" y="205280"/>
                </a:cubicBezTo>
                <a:lnTo>
                  <a:pt x="4322623" y="1775000"/>
                </a:lnTo>
                <a:lnTo>
                  <a:pt x="314503" y="1775000"/>
                </a:lnTo>
                <a:cubicBezTo>
                  <a:pt x="-493217" y="738680"/>
                  <a:pt x="284023" y="586280"/>
                  <a:pt x="2310943" y="1150160"/>
                </a:cubicBezTo>
                <a:close/>
              </a:path>
            </a:pathLst>
          </a:custGeom>
          <a:solidFill>
            <a:srgbClr val="cbba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微软雅黑"/>
            </a:endParaRPr>
          </a:p>
        </p:txBody>
      </p:sp>
      <p:sp>
        <p:nvSpPr>
          <p:cNvPr id="177" name="任意多边形: 形状 14"/>
          <p:cNvSpPr/>
          <p:nvPr/>
        </p:nvSpPr>
        <p:spPr>
          <a:xfrm flipH="1" flipV="1" rot="1261200">
            <a:off x="844200" y="-462240"/>
            <a:ext cx="2931480" cy="1413000"/>
          </a:xfrm>
          <a:custGeom>
            <a:avLst/>
            <a:gdLst>
              <a:gd name="textAreaLeft" fmla="*/ 360 w 2931480"/>
              <a:gd name="textAreaRight" fmla="*/ 2932560 w 2931480"/>
              <a:gd name="textAreaTop" fmla="*/ 360 h 1413000"/>
              <a:gd name="textAreaBottom" fmla="*/ 1414080 h 1413000"/>
            </a:gdLst>
            <a:ahLst/>
            <a:rect l="textAreaLeft" t="textAreaTop" r="textAreaRight" b="textAreaBottom"/>
            <a:pathLst>
              <a:path w="4608708" h="1949134">
                <a:moveTo>
                  <a:pt x="4608708" y="612347"/>
                </a:moveTo>
                <a:lnTo>
                  <a:pt x="627416" y="1949134"/>
                </a:lnTo>
                <a:lnTo>
                  <a:pt x="596046" y="1928925"/>
                </a:lnTo>
                <a:cubicBezTo>
                  <a:pt x="179625" y="1648364"/>
                  <a:pt x="-960031" y="553643"/>
                  <a:pt x="1745193" y="1233638"/>
                </a:cubicBezTo>
                <a:cubicBezTo>
                  <a:pt x="3216455" y="1640585"/>
                  <a:pt x="559360" y="-1151268"/>
                  <a:pt x="4492609" y="561039"/>
                </a:cubicBezTo>
                <a:close/>
              </a:path>
            </a:pathLst>
          </a:custGeom>
          <a:solidFill>
            <a:srgbClr val="cbba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微软雅黑"/>
            </a:endParaRPr>
          </a:p>
        </p:txBody>
      </p:sp>
      <p:sp>
        <p:nvSpPr>
          <p:cNvPr id="178" name="任意多边形: 形状 25"/>
          <p:cNvSpPr/>
          <p:nvPr/>
        </p:nvSpPr>
        <p:spPr>
          <a:xfrm flipV="1">
            <a:off x="3714120" y="-720"/>
            <a:ext cx="2189160" cy="1209240"/>
          </a:xfrm>
          <a:custGeom>
            <a:avLst/>
            <a:gdLst>
              <a:gd name="textAreaLeft" fmla="*/ 0 w 2189160"/>
              <a:gd name="textAreaRight" fmla="*/ 2189880 w 2189160"/>
              <a:gd name="textAreaTop" fmla="*/ 360 h 1209240"/>
              <a:gd name="textAreaBottom" fmla="*/ 1210320 h 1209240"/>
            </a:gdLst>
            <a:ahLst/>
            <a:rect l="textAreaLeft" t="textAreaTop" r="textAreaRight" b="textAreaBottom"/>
            <a:pathLst>
              <a:path w="2190032" h="1209887">
                <a:moveTo>
                  <a:pt x="0" y="1209887"/>
                </a:moveTo>
                <a:lnTo>
                  <a:pt x="2186519" y="1209887"/>
                </a:lnTo>
                <a:lnTo>
                  <a:pt x="2189593" y="1095953"/>
                </a:lnTo>
                <a:cubicBezTo>
                  <a:pt x="2196276" y="565249"/>
                  <a:pt x="2131174" y="-8823"/>
                  <a:pt x="1691820" y="103"/>
                </a:cubicBezTo>
                <a:cubicBezTo>
                  <a:pt x="1390375" y="6226"/>
                  <a:pt x="912751" y="286795"/>
                  <a:pt x="161257" y="1044115"/>
                </a:cubicBezTo>
                <a:close/>
              </a:path>
            </a:pathLst>
          </a:custGeom>
          <a:solidFill>
            <a:srgbClr val="dde6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微软雅黑"/>
            </a:endParaRPr>
          </a:p>
        </p:txBody>
      </p:sp>
      <p:sp>
        <p:nvSpPr>
          <p:cNvPr id="179" name="图片 56"/>
          <p:cNvSpPr/>
          <p:nvPr/>
        </p:nvSpPr>
        <p:spPr>
          <a:xfrm>
            <a:off x="10460520" y="-27720"/>
            <a:ext cx="1746000" cy="1683360"/>
          </a:xfrm>
          <a:custGeom>
            <a:avLst/>
            <a:gdLst>
              <a:gd name="textAreaLeft" fmla="*/ 0 w 1746000"/>
              <a:gd name="textAreaRight" fmla="*/ 1746720 w 1746000"/>
              <a:gd name="textAreaTop" fmla="*/ 0 h 1683360"/>
              <a:gd name="textAreaBottom" fmla="*/ 1684080 h 1683360"/>
            </a:gdLst>
            <a:ahLst/>
            <a:rect l="textAreaLeft" t="textAreaTop" r="textAreaRight" b="textAreaBottom"/>
            <a:pathLst>
              <a:path w="1746571" h="1684066">
                <a:moveTo>
                  <a:pt x="0" y="0"/>
                </a:moveTo>
                <a:lnTo>
                  <a:pt x="1746571" y="0"/>
                </a:lnTo>
                <a:lnTo>
                  <a:pt x="1746571" y="1684066"/>
                </a:lnTo>
                <a:lnTo>
                  <a:pt x="0" y="1684066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微软雅黑"/>
            </a:endParaRPr>
          </a:p>
        </p:txBody>
      </p:sp>
      <p:sp>
        <p:nvSpPr>
          <p:cNvPr id="180" name="图片 62"/>
          <p:cNvSpPr/>
          <p:nvPr/>
        </p:nvSpPr>
        <p:spPr>
          <a:xfrm>
            <a:off x="0" y="5082840"/>
            <a:ext cx="5442840" cy="1774440"/>
          </a:xfrm>
          <a:custGeom>
            <a:avLst/>
            <a:gdLst>
              <a:gd name="textAreaLeft" fmla="*/ 0 w 5442840"/>
              <a:gd name="textAreaRight" fmla="*/ 5443560 w 5442840"/>
              <a:gd name="textAreaTop" fmla="*/ 0 h 1774440"/>
              <a:gd name="textAreaBottom" fmla="*/ 1775160 h 1774440"/>
            </a:gdLst>
            <a:ahLst/>
            <a:rect l="textAreaLeft" t="textAreaTop" r="textAreaRight" b="textAreaBottom"/>
            <a:pathLst>
              <a:path w="5443464" h="1775001">
                <a:moveTo>
                  <a:pt x="0" y="0"/>
                </a:moveTo>
                <a:lnTo>
                  <a:pt x="5443464" y="0"/>
                </a:lnTo>
                <a:lnTo>
                  <a:pt x="5443464" y="1775001"/>
                </a:lnTo>
                <a:lnTo>
                  <a:pt x="0" y="1775001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微软雅黑"/>
            </a:endParaRPr>
          </a:p>
        </p:txBody>
      </p:sp>
      <p:sp>
        <p:nvSpPr>
          <p:cNvPr id="181" name="图片 50"/>
          <p:cNvSpPr/>
          <p:nvPr/>
        </p:nvSpPr>
        <p:spPr>
          <a:xfrm>
            <a:off x="-645840" y="-27720"/>
            <a:ext cx="2480400" cy="2022120"/>
          </a:xfrm>
          <a:custGeom>
            <a:avLst/>
            <a:gdLst>
              <a:gd name="textAreaLeft" fmla="*/ 0 w 2480400"/>
              <a:gd name="textAreaRight" fmla="*/ 2481120 w 2480400"/>
              <a:gd name="textAreaTop" fmla="*/ 0 h 2022120"/>
              <a:gd name="textAreaBottom" fmla="*/ 2022840 h 2022120"/>
            </a:gdLst>
            <a:ahLst/>
            <a:rect l="textAreaLeft" t="textAreaTop" r="textAreaRight" b="textAreaBottom"/>
            <a:pathLst>
              <a:path w="2481287" h="2022787">
                <a:moveTo>
                  <a:pt x="0" y="0"/>
                </a:moveTo>
                <a:lnTo>
                  <a:pt x="2481287" y="0"/>
                </a:lnTo>
                <a:lnTo>
                  <a:pt x="2481287" y="2022787"/>
                </a:lnTo>
                <a:lnTo>
                  <a:pt x="645825" y="2022787"/>
                </a:lnTo>
                <a:lnTo>
                  <a:pt x="645825" y="576367"/>
                </a:lnTo>
                <a:lnTo>
                  <a:pt x="0" y="576367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微软雅黑"/>
            </a:endParaRPr>
          </a:p>
        </p:txBody>
      </p:sp>
      <p:sp>
        <p:nvSpPr>
          <p:cNvPr id="182" name="图片 85"/>
          <p:cNvSpPr/>
          <p:nvPr/>
        </p:nvSpPr>
        <p:spPr>
          <a:xfrm flipV="1" rot="18409200">
            <a:off x="80280" y="723600"/>
            <a:ext cx="1583280" cy="2881080"/>
          </a:xfrm>
          <a:custGeom>
            <a:avLst/>
            <a:gdLst>
              <a:gd name="textAreaLeft" fmla="*/ 0 w 1583280"/>
              <a:gd name="textAreaRight" fmla="*/ 1583640 w 1583280"/>
              <a:gd name="textAreaTop" fmla="*/ 360 h 2881080"/>
              <a:gd name="textAreaBottom" fmla="*/ 2882160 h 2881080"/>
            </a:gdLst>
            <a:ahLst/>
            <a:rect l="textAreaLeft" t="textAreaTop" r="textAreaRight" b="textAreaBottom"/>
            <a:pathLst>
              <a:path w="1722646" h="4034899">
                <a:moveTo>
                  <a:pt x="1722646" y="4034899"/>
                </a:moveTo>
                <a:lnTo>
                  <a:pt x="1722646" y="0"/>
                </a:lnTo>
                <a:lnTo>
                  <a:pt x="0" y="0"/>
                </a:lnTo>
                <a:lnTo>
                  <a:pt x="0" y="2938701"/>
                </a:lnTo>
                <a:lnTo>
                  <a:pt x="1463990" y="4034899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微软雅黑"/>
            </a:endParaRPr>
          </a:p>
        </p:txBody>
      </p:sp>
      <p:sp>
        <p:nvSpPr>
          <p:cNvPr id="183" name="图片 87"/>
          <p:cNvSpPr/>
          <p:nvPr/>
        </p:nvSpPr>
        <p:spPr>
          <a:xfrm rot="17386200">
            <a:off x="10214280" y="3364920"/>
            <a:ext cx="1480680" cy="2761920"/>
          </a:xfrm>
          <a:custGeom>
            <a:avLst/>
            <a:gdLst>
              <a:gd name="textAreaLeft" fmla="*/ 0 w 1480680"/>
              <a:gd name="textAreaRight" fmla="*/ 1481400 w 1480680"/>
              <a:gd name="textAreaTop" fmla="*/ 0 h 2761920"/>
              <a:gd name="textAreaBottom" fmla="*/ 2762640 h 2761920"/>
            </a:gdLst>
            <a:ahLst/>
            <a:rect l="textAreaLeft" t="textAreaTop" r="textAreaRight" b="textAreaBottom"/>
            <a:pathLst>
              <a:path w="1338404" h="3254651">
                <a:moveTo>
                  <a:pt x="1338404" y="0"/>
                </a:moveTo>
                <a:lnTo>
                  <a:pt x="1338404" y="2949509"/>
                </a:lnTo>
                <a:lnTo>
                  <a:pt x="489174" y="3254651"/>
                </a:lnTo>
                <a:lnTo>
                  <a:pt x="0" y="325465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微软雅黑"/>
            </a:endParaRPr>
          </a:p>
        </p:txBody>
      </p:sp>
      <p:pic>
        <p:nvPicPr>
          <p:cNvPr id="184" name="图片 77" descr=""/>
          <p:cNvPicPr/>
          <p:nvPr/>
        </p:nvPicPr>
        <p:blipFill>
          <a:blip r:embed="rId6"/>
          <a:stretch/>
        </p:blipFill>
        <p:spPr>
          <a:xfrm rot="9104400">
            <a:off x="1539360" y="1578960"/>
            <a:ext cx="336960" cy="401400"/>
          </a:xfrm>
          <a:prstGeom prst="rect">
            <a:avLst/>
          </a:prstGeom>
          <a:ln w="0">
            <a:noFill/>
          </a:ln>
        </p:spPr>
      </p:pic>
      <p:pic>
        <p:nvPicPr>
          <p:cNvPr id="185" name="图片 78" descr=""/>
          <p:cNvPicPr/>
          <p:nvPr/>
        </p:nvPicPr>
        <p:blipFill>
          <a:blip r:embed="rId7"/>
          <a:stretch/>
        </p:blipFill>
        <p:spPr>
          <a:xfrm>
            <a:off x="9634680" y="5071680"/>
            <a:ext cx="270720" cy="322560"/>
          </a:xfrm>
          <a:prstGeom prst="rect">
            <a:avLst/>
          </a:prstGeom>
          <a:ln w="0">
            <a:noFill/>
          </a:ln>
        </p:spPr>
      </p:pic>
      <p:pic>
        <p:nvPicPr>
          <p:cNvPr id="186" name="图片 79" descr=""/>
          <p:cNvPicPr/>
          <p:nvPr/>
        </p:nvPicPr>
        <p:blipFill>
          <a:blip r:embed="rId8"/>
          <a:stretch/>
        </p:blipFill>
        <p:spPr>
          <a:xfrm rot="13770600">
            <a:off x="11165040" y="3863160"/>
            <a:ext cx="336960" cy="401400"/>
          </a:xfrm>
          <a:prstGeom prst="rect">
            <a:avLst/>
          </a:prstGeom>
          <a:ln w="0">
            <a:noFill/>
          </a:ln>
        </p:spPr>
      </p:pic>
      <p:pic>
        <p:nvPicPr>
          <p:cNvPr id="187" name="图片 80" descr=""/>
          <p:cNvPicPr/>
          <p:nvPr/>
        </p:nvPicPr>
        <p:blipFill>
          <a:blip r:embed="rId9"/>
          <a:stretch/>
        </p:blipFill>
        <p:spPr>
          <a:xfrm>
            <a:off x="776160" y="660600"/>
            <a:ext cx="270720" cy="322560"/>
          </a:xfrm>
          <a:prstGeom prst="rect">
            <a:avLst/>
          </a:prstGeom>
          <a:ln w="0">
            <a:noFill/>
          </a:ln>
        </p:spPr>
      </p:pic>
      <p:pic>
        <p:nvPicPr>
          <p:cNvPr id="188" name="图片 81" descr=""/>
          <p:cNvPicPr/>
          <p:nvPr/>
        </p:nvPicPr>
        <p:blipFill>
          <a:blip r:embed="rId10"/>
          <a:stretch/>
        </p:blipFill>
        <p:spPr>
          <a:xfrm>
            <a:off x="768960" y="2760480"/>
            <a:ext cx="270720" cy="322560"/>
          </a:xfrm>
          <a:prstGeom prst="rect">
            <a:avLst/>
          </a:prstGeom>
          <a:ln w="0">
            <a:noFill/>
          </a:ln>
        </p:spPr>
      </p:pic>
      <p:pic>
        <p:nvPicPr>
          <p:cNvPr id="189" name="图片 82" descr=""/>
          <p:cNvPicPr/>
          <p:nvPr/>
        </p:nvPicPr>
        <p:blipFill>
          <a:blip r:embed="rId11"/>
          <a:stretch/>
        </p:blipFill>
        <p:spPr>
          <a:xfrm rot="5848200">
            <a:off x="9916920" y="2440440"/>
            <a:ext cx="270720" cy="322560"/>
          </a:xfrm>
          <a:prstGeom prst="rect">
            <a:avLst/>
          </a:prstGeom>
          <a:ln w="0">
            <a:noFill/>
          </a:ln>
        </p:spPr>
      </p:pic>
      <p:pic>
        <p:nvPicPr>
          <p:cNvPr id="190" name="图片 83" descr=""/>
          <p:cNvPicPr/>
          <p:nvPr/>
        </p:nvPicPr>
        <p:blipFill>
          <a:blip r:embed="rId12"/>
          <a:stretch/>
        </p:blipFill>
        <p:spPr>
          <a:xfrm rot="7431000">
            <a:off x="2851560" y="4844520"/>
            <a:ext cx="314640" cy="375120"/>
          </a:xfrm>
          <a:prstGeom prst="rect">
            <a:avLst/>
          </a:prstGeom>
          <a:ln w="0">
            <a:noFill/>
          </a:ln>
        </p:spPr>
      </p:pic>
      <p:pic>
        <p:nvPicPr>
          <p:cNvPr id="191" name="图片 90" descr=""/>
          <p:cNvPicPr/>
          <p:nvPr/>
        </p:nvPicPr>
        <p:blipFill>
          <a:blip r:embed="rId13"/>
          <a:srcRect l="23810" t="50006" r="61590" b="37825"/>
          <a:stretch/>
        </p:blipFill>
        <p:spPr>
          <a:xfrm rot="20863200">
            <a:off x="9224280" y="1700640"/>
            <a:ext cx="458640" cy="382680"/>
          </a:xfrm>
          <a:prstGeom prst="rect">
            <a:avLst/>
          </a:prstGeom>
          <a:ln w="0">
            <a:noFill/>
          </a:ln>
        </p:spPr>
      </p:pic>
      <p:pic>
        <p:nvPicPr>
          <p:cNvPr id="192" name="图片 91" descr=""/>
          <p:cNvPicPr/>
          <p:nvPr/>
        </p:nvPicPr>
        <p:blipFill>
          <a:blip r:embed="rId14"/>
          <a:srcRect l="23810" t="50006" r="61590" b="37825"/>
          <a:stretch/>
        </p:blipFill>
        <p:spPr>
          <a:xfrm rot="1158600">
            <a:off x="4947120" y="622080"/>
            <a:ext cx="458640" cy="382680"/>
          </a:xfrm>
          <a:prstGeom prst="rect">
            <a:avLst/>
          </a:prstGeom>
          <a:ln w="0">
            <a:noFill/>
          </a:ln>
        </p:spPr>
      </p:pic>
      <p:pic>
        <p:nvPicPr>
          <p:cNvPr id="193" name="图片 92" descr=""/>
          <p:cNvPicPr/>
          <p:nvPr/>
        </p:nvPicPr>
        <p:blipFill>
          <a:blip r:embed="rId15"/>
          <a:srcRect l="23810" t="50006" r="61590" b="37825"/>
          <a:stretch/>
        </p:blipFill>
        <p:spPr>
          <a:xfrm rot="1147200">
            <a:off x="2304720" y="4253760"/>
            <a:ext cx="458640" cy="382680"/>
          </a:xfrm>
          <a:prstGeom prst="rect">
            <a:avLst/>
          </a:prstGeom>
          <a:ln w="0">
            <a:noFill/>
          </a:ln>
        </p:spPr>
      </p:pic>
      <p:sp>
        <p:nvSpPr>
          <p:cNvPr id="194" name="椭圆 1"/>
          <p:cNvSpPr/>
          <p:nvPr/>
        </p:nvSpPr>
        <p:spPr>
          <a:xfrm>
            <a:off x="5613120" y="1986840"/>
            <a:ext cx="1180080" cy="1171080"/>
          </a:xfrm>
          <a:prstGeom prst="ellipse">
            <a:avLst/>
          </a:prstGeom>
          <a:solidFill>
            <a:srgbClr val="437f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微软雅黑"/>
            </a:endParaRPr>
          </a:p>
        </p:txBody>
      </p:sp>
      <p:sp>
        <p:nvSpPr>
          <p:cNvPr id="195" name="文本框 3"/>
          <p:cNvSpPr/>
          <p:nvPr/>
        </p:nvSpPr>
        <p:spPr>
          <a:xfrm>
            <a:off x="5728320" y="2221560"/>
            <a:ext cx="85428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4000" spc="-1" strike="noStrike">
                <a:solidFill>
                  <a:schemeClr val="lt1"/>
                </a:solidFill>
                <a:latin typeface="Arial"/>
                <a:ea typeface="微软雅黑"/>
              </a:rPr>
              <a:t>02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文本框 29"/>
          <p:cNvSpPr/>
          <p:nvPr/>
        </p:nvSpPr>
        <p:spPr>
          <a:xfrm>
            <a:off x="2700720" y="3454920"/>
            <a:ext cx="700452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zh-CN" sz="6000" spc="-1" strike="noStrike">
                <a:solidFill>
                  <a:srgbClr val="437f76"/>
                </a:solidFill>
                <a:latin typeface="方正粗宋简体"/>
                <a:ea typeface="方正粗宋简体"/>
              </a:rPr>
              <a:t>初高中数学的区别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>
        <p:random/>
      </p:transition>
    </mc:Choice>
    <mc:Fallback>
      <p:transition spd="slow">
        <p:random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图片 25" descr=""/>
          <p:cNvPicPr/>
          <p:nvPr/>
        </p:nvPicPr>
        <p:blipFill>
          <a:blip r:embed="rId1"/>
          <a:stretch/>
        </p:blipFill>
        <p:spPr>
          <a:xfrm>
            <a:off x="378720" y="407160"/>
            <a:ext cx="410760" cy="387720"/>
          </a:xfrm>
          <a:prstGeom prst="rect">
            <a:avLst/>
          </a:prstGeom>
          <a:ln w="0">
            <a:noFill/>
          </a:ln>
        </p:spPr>
      </p:pic>
      <p:sp>
        <p:nvSpPr>
          <p:cNvPr id="198" name="文本框 17"/>
          <p:cNvSpPr/>
          <p:nvPr/>
        </p:nvSpPr>
        <p:spPr>
          <a:xfrm>
            <a:off x="790200" y="278280"/>
            <a:ext cx="71755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zh-CN" sz="3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经典繁毛楷"/>
                <a:ea typeface="经典繁毛楷"/>
              </a:rPr>
              <a:t>初高中数学的区别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9" name="Picture 2" descr="C:\Users\user50\AppData\Roaming\Seewo\EasiNote5\Data\18200709059\Courseware\85cfb5e0-e094-4e74-95fd-7a906e11ccf1\ea20ae5fbccaa63b93c2d100303b72bf_S5646.047fiu0zvhs.smb.jpg"/>
          <p:cNvPicPr/>
          <p:nvPr/>
        </p:nvPicPr>
        <p:blipFill>
          <a:blip r:embed="rId2"/>
          <a:stretch/>
        </p:blipFill>
        <p:spPr>
          <a:xfrm>
            <a:off x="1025280" y="2148120"/>
            <a:ext cx="10138320" cy="4304160"/>
          </a:xfrm>
          <a:prstGeom prst="rect">
            <a:avLst/>
          </a:prstGeom>
          <a:ln w="0">
            <a:noFill/>
          </a:ln>
        </p:spPr>
      </p:pic>
      <p:sp>
        <p:nvSpPr>
          <p:cNvPr id="200" name="矩形 1"/>
          <p:cNvSpPr/>
          <p:nvPr/>
        </p:nvSpPr>
        <p:spPr>
          <a:xfrm>
            <a:off x="412920" y="1243800"/>
            <a:ext cx="515376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zh-CN" sz="3200" spc="-1" strike="noStrike">
                <a:solidFill>
                  <a:srgbClr val="c00000"/>
                </a:solidFill>
                <a:latin typeface="微软雅黑"/>
                <a:ea typeface="微软雅黑"/>
              </a:rPr>
              <a:t>当代高中生学数学的现状：</a:t>
            </a:r>
            <a:r>
              <a:rPr b="0" lang="en-US" sz="3200" spc="-1" strike="noStrike">
                <a:solidFill>
                  <a:srgbClr val="c00000"/>
                </a:solidFill>
                <a:latin typeface="微软雅黑"/>
                <a:ea typeface="微软雅黑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>
        <p:random/>
      </p:transition>
    </mc:Choice>
    <mc:Fallback>
      <p:transition spd="slow">
        <p:random/>
      </p:transition>
    </mc:Fallback>
  </mc:AlternateContent>
  <p:timing>
    <p:tnLst>
      <p:par>
        <p:cTn id="199" dur="indefinite" restart="never" nodeType="tmRoot">
          <p:childTnLst>
            <p:seq>
              <p:cTn id="200" dur="indefinite" nodeType="mainSeq">
                <p:childTnLst>
                  <p:par>
                    <p:cTn id="201" fill="hold">
                      <p:stCondLst>
                        <p:cond delay="0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05" dur="5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6" dur="5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1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6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1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1" name="组合 48"/>
          <p:cNvGrpSpPr/>
          <p:nvPr/>
        </p:nvGrpSpPr>
        <p:grpSpPr>
          <a:xfrm>
            <a:off x="6308640" y="1358640"/>
            <a:ext cx="5276520" cy="4959720"/>
            <a:chOff x="6308640" y="1358640"/>
            <a:chExt cx="5276520" cy="4959720"/>
          </a:xfrm>
        </p:grpSpPr>
        <p:sp>
          <p:nvSpPr>
            <p:cNvPr id="202" name="圆角矩形 53"/>
            <p:cNvSpPr/>
            <p:nvPr/>
          </p:nvSpPr>
          <p:spPr>
            <a:xfrm>
              <a:off x="6761160" y="1874880"/>
              <a:ext cx="4824000" cy="4443480"/>
            </a:xfrm>
            <a:prstGeom prst="roundRect">
              <a:avLst>
                <a:gd name="adj" fmla="val 16667"/>
              </a:avLst>
            </a:prstGeom>
            <a:solidFill>
              <a:srgbClr val="437f7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微软雅黑"/>
              </a:endParaRPr>
            </a:p>
          </p:txBody>
        </p:sp>
        <p:sp>
          <p:nvSpPr>
            <p:cNvPr id="203" name="圆角矩形 54"/>
            <p:cNvSpPr/>
            <p:nvPr/>
          </p:nvSpPr>
          <p:spPr>
            <a:xfrm>
              <a:off x="6308640" y="1751760"/>
              <a:ext cx="5132880" cy="444348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rgbClr val="fbdf9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微软雅黑"/>
              </a:endParaRPr>
            </a:p>
          </p:txBody>
        </p:sp>
        <p:sp>
          <p:nvSpPr>
            <p:cNvPr id="204" name="圆角矩形 55"/>
            <p:cNvSpPr/>
            <p:nvPr/>
          </p:nvSpPr>
          <p:spPr>
            <a:xfrm>
              <a:off x="6906240" y="1466640"/>
              <a:ext cx="4178520" cy="748440"/>
            </a:xfrm>
            <a:prstGeom prst="roundRect">
              <a:avLst>
                <a:gd name="adj" fmla="val 16667"/>
              </a:avLst>
            </a:prstGeom>
            <a:solidFill>
              <a:srgbClr val="437f7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微软雅黑"/>
              </a:endParaRPr>
            </a:p>
          </p:txBody>
        </p:sp>
        <p:sp>
          <p:nvSpPr>
            <p:cNvPr id="205" name="圆角矩形 56"/>
            <p:cNvSpPr/>
            <p:nvPr/>
          </p:nvSpPr>
          <p:spPr>
            <a:xfrm>
              <a:off x="6757560" y="1358640"/>
              <a:ext cx="4178520" cy="748440"/>
            </a:xfrm>
            <a:prstGeom prst="roundRect">
              <a:avLst>
                <a:gd name="adj" fmla="val 16667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微软雅黑"/>
              </a:endParaRPr>
            </a:p>
          </p:txBody>
        </p:sp>
      </p:grpSp>
      <p:sp>
        <p:nvSpPr>
          <p:cNvPr id="206" name="文本框 18"/>
          <p:cNvSpPr/>
          <p:nvPr/>
        </p:nvSpPr>
        <p:spPr>
          <a:xfrm>
            <a:off x="790200" y="278280"/>
            <a:ext cx="93459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zh-CN" sz="3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经典繁毛楷"/>
                <a:ea typeface="经典繁毛楷"/>
              </a:rPr>
              <a:t>初高中数学的区别</a:t>
            </a:r>
            <a:r>
              <a:rPr b="0" lang="en-US" sz="3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经典繁毛楷"/>
                <a:ea typeface="经典繁毛楷"/>
              </a:rPr>
              <a:t>——</a:t>
            </a:r>
            <a:r>
              <a:rPr b="0" lang="zh-CN" sz="3600" spc="-1" strike="noStrike">
                <a:solidFill>
                  <a:srgbClr val="c00000"/>
                </a:solidFill>
                <a:latin typeface="经典繁毛楷"/>
                <a:ea typeface="经典繁毛楷"/>
              </a:rPr>
              <a:t>课程标准定位不同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07" name="组合 19"/>
          <p:cNvGrpSpPr/>
          <p:nvPr/>
        </p:nvGrpSpPr>
        <p:grpSpPr>
          <a:xfrm>
            <a:off x="339480" y="1358640"/>
            <a:ext cx="10990800" cy="4865040"/>
            <a:chOff x="339480" y="1358640"/>
            <a:chExt cx="10990800" cy="4865040"/>
          </a:xfrm>
        </p:grpSpPr>
        <p:grpSp>
          <p:nvGrpSpPr>
            <p:cNvPr id="208" name="组合 23"/>
            <p:cNvGrpSpPr/>
            <p:nvPr/>
          </p:nvGrpSpPr>
          <p:grpSpPr>
            <a:xfrm>
              <a:off x="339480" y="1358640"/>
              <a:ext cx="5497200" cy="4865040"/>
              <a:chOff x="339480" y="1358640"/>
              <a:chExt cx="5497200" cy="4865040"/>
            </a:xfrm>
          </p:grpSpPr>
          <p:sp>
            <p:nvSpPr>
              <p:cNvPr id="209" name="圆角矩形 43"/>
              <p:cNvSpPr/>
              <p:nvPr/>
            </p:nvSpPr>
            <p:spPr>
              <a:xfrm>
                <a:off x="811080" y="1865160"/>
                <a:ext cx="5025600" cy="4358520"/>
              </a:xfrm>
              <a:prstGeom prst="roundRect">
                <a:avLst>
                  <a:gd name="adj" fmla="val 16667"/>
                </a:avLst>
              </a:prstGeom>
              <a:solidFill>
                <a:srgbClr val="437f7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  <a:ea typeface="微软雅黑"/>
                </a:endParaRPr>
              </a:p>
            </p:txBody>
          </p:sp>
          <p:sp>
            <p:nvSpPr>
              <p:cNvPr id="210" name="圆角矩形 44"/>
              <p:cNvSpPr/>
              <p:nvPr/>
            </p:nvSpPr>
            <p:spPr>
              <a:xfrm>
                <a:off x="339480" y="1744200"/>
                <a:ext cx="5347080" cy="4358520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>
                <a:solidFill>
                  <a:srgbClr val="fbdf9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  <a:ea typeface="微软雅黑"/>
                </a:endParaRPr>
              </a:p>
            </p:txBody>
          </p:sp>
          <p:sp>
            <p:nvSpPr>
              <p:cNvPr id="211" name="圆角矩形 45"/>
              <p:cNvSpPr/>
              <p:nvPr/>
            </p:nvSpPr>
            <p:spPr>
              <a:xfrm>
                <a:off x="961920" y="1464480"/>
                <a:ext cx="4352760" cy="734400"/>
              </a:xfrm>
              <a:prstGeom prst="roundRect">
                <a:avLst>
                  <a:gd name="adj" fmla="val 16667"/>
                </a:avLst>
              </a:prstGeom>
              <a:solidFill>
                <a:srgbClr val="437f7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  <a:ea typeface="微软雅黑"/>
                </a:endParaRPr>
              </a:p>
            </p:txBody>
          </p:sp>
          <p:sp>
            <p:nvSpPr>
              <p:cNvPr id="212" name="圆角矩形 46"/>
              <p:cNvSpPr/>
              <p:nvPr/>
            </p:nvSpPr>
            <p:spPr>
              <a:xfrm>
                <a:off x="807120" y="1358640"/>
                <a:ext cx="4352760" cy="734400"/>
              </a:xfrm>
              <a:prstGeom prst="roundRect">
                <a:avLst>
                  <a:gd name="adj" fmla="val 16667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  <a:ea typeface="微软雅黑"/>
                </a:endParaRPr>
              </a:p>
            </p:txBody>
          </p:sp>
        </p:grpSp>
        <p:sp>
          <p:nvSpPr>
            <p:cNvPr id="213" name="内容占位符 2"/>
            <p:cNvSpPr/>
            <p:nvPr/>
          </p:nvSpPr>
          <p:spPr>
            <a:xfrm>
              <a:off x="788760" y="1376280"/>
              <a:ext cx="4447440" cy="52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algn="ctr" defTabSz="914400">
                <a:lnSpc>
                  <a:spcPct val="120000"/>
                </a:lnSpc>
                <a:spcBef>
                  <a:spcPts val="1001"/>
                </a:spcBef>
                <a:tabLst>
                  <a:tab algn="l" pos="0"/>
                </a:tabLst>
              </a:pPr>
              <a:r>
                <a:rPr b="1" lang="zh-CN" sz="3200" spc="-1" strike="noStrike">
                  <a:solidFill>
                    <a:schemeClr val="dk1"/>
                  </a:solidFill>
                  <a:latin typeface="Arial"/>
                  <a:ea typeface="微软雅黑"/>
                </a:rPr>
                <a:t>初中数学</a:t>
              </a:r>
              <a:endParaRPr b="0" lang="en-US" sz="3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4" name="文本框 33"/>
            <p:cNvSpPr/>
            <p:nvPr/>
          </p:nvSpPr>
          <p:spPr>
            <a:xfrm>
              <a:off x="785880" y="2767320"/>
              <a:ext cx="4676400" cy="1797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zh-CN" sz="2800" spc="-1" strike="noStrike">
                  <a:solidFill>
                    <a:schemeClr val="dk1"/>
                  </a:solidFill>
                  <a:latin typeface="Arial"/>
                  <a:ea typeface="微软雅黑"/>
                </a:rPr>
                <a:t>小学数学的延续以及初步的体系化，主要由初等代数、平面几何，与数理统计的最基础内容三部分构成。</a:t>
              </a:r>
              <a:endParaRPr b="0" lang="en-US" sz="2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5" name="文本框 60"/>
            <p:cNvSpPr/>
            <p:nvPr/>
          </p:nvSpPr>
          <p:spPr>
            <a:xfrm>
              <a:off x="6659640" y="2402640"/>
              <a:ext cx="4670640" cy="3505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zh-CN" sz="2800" spc="-1" strike="noStrike">
                  <a:solidFill>
                    <a:schemeClr val="dk1"/>
                  </a:solidFill>
                  <a:latin typeface="Arial"/>
                  <a:ea typeface="微软雅黑"/>
                </a:rPr>
                <a:t>大学高等数学、线性代数等课程的预备知识。由集合论、函数论、不等式、三角函数、向量代数、算法、数理逻辑、立体几何、解析几何、微积分、统计与概率、复数的基础部分构成。</a:t>
              </a:r>
              <a:r>
                <a:rPr b="1" lang="zh-CN" sz="2800" spc="-1" strike="noStrike">
                  <a:solidFill>
                    <a:srgbClr val="c00000"/>
                  </a:solidFill>
                  <a:latin typeface="Arial"/>
                  <a:ea typeface="微软雅黑"/>
                </a:rPr>
                <a:t>平时不认真，考试两行泪。</a:t>
              </a:r>
              <a:endParaRPr b="0" lang="en-US" sz="2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216" name="图片 57" descr=""/>
          <p:cNvPicPr/>
          <p:nvPr/>
        </p:nvPicPr>
        <p:blipFill>
          <a:blip r:embed="rId1"/>
          <a:stretch/>
        </p:blipFill>
        <p:spPr>
          <a:xfrm>
            <a:off x="378720" y="407160"/>
            <a:ext cx="410760" cy="387720"/>
          </a:xfrm>
          <a:prstGeom prst="rect">
            <a:avLst/>
          </a:prstGeom>
          <a:ln w="0">
            <a:noFill/>
          </a:ln>
        </p:spPr>
      </p:pic>
      <p:sp>
        <p:nvSpPr>
          <p:cNvPr id="217" name="内容占位符 2"/>
          <p:cNvSpPr/>
          <p:nvPr/>
        </p:nvSpPr>
        <p:spPr>
          <a:xfrm>
            <a:off x="6757560" y="1398960"/>
            <a:ext cx="44474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2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zh-CN" sz="3200" spc="-1" strike="noStrike">
                <a:solidFill>
                  <a:schemeClr val="dk1"/>
                </a:solidFill>
                <a:latin typeface="Arial"/>
                <a:ea typeface="微软雅黑"/>
              </a:rPr>
              <a:t>高中数学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>
        <p:random/>
      </p:transition>
    </mc:Choice>
    <mc:Fallback>
      <p:transition spd="slow">
        <p:random/>
      </p:transition>
    </mc:Fallback>
  </mc:AlternateContent>
  <p:timing>
    <p:tnLst>
      <p:par>
        <p:cTn id="222" dur="indefinite" restart="never" nodeType="tmRoot">
          <p:childTnLst>
            <p:seq>
              <p:cTn id="223" dur="indefinite" nodeType="mainSeq">
                <p:childTnLst>
                  <p:par>
                    <p:cTn id="224" fill="hold">
                      <p:stCondLst>
                        <p:cond delay="0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28" dur="5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29" dur="5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" name="组合 48"/>
          <p:cNvGrpSpPr/>
          <p:nvPr/>
        </p:nvGrpSpPr>
        <p:grpSpPr>
          <a:xfrm>
            <a:off x="6308640" y="1358640"/>
            <a:ext cx="5276520" cy="4959720"/>
            <a:chOff x="6308640" y="1358640"/>
            <a:chExt cx="5276520" cy="4959720"/>
          </a:xfrm>
        </p:grpSpPr>
        <p:sp>
          <p:nvSpPr>
            <p:cNvPr id="219" name="圆角矩形 53"/>
            <p:cNvSpPr/>
            <p:nvPr/>
          </p:nvSpPr>
          <p:spPr>
            <a:xfrm>
              <a:off x="6761160" y="1874880"/>
              <a:ext cx="4824000" cy="4443480"/>
            </a:xfrm>
            <a:prstGeom prst="roundRect">
              <a:avLst>
                <a:gd name="adj" fmla="val 16667"/>
              </a:avLst>
            </a:prstGeom>
            <a:solidFill>
              <a:srgbClr val="437f7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微软雅黑"/>
              </a:endParaRPr>
            </a:p>
          </p:txBody>
        </p:sp>
        <p:sp>
          <p:nvSpPr>
            <p:cNvPr id="220" name="圆角矩形 54"/>
            <p:cNvSpPr/>
            <p:nvPr/>
          </p:nvSpPr>
          <p:spPr>
            <a:xfrm>
              <a:off x="6308640" y="1751760"/>
              <a:ext cx="5132880" cy="444348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rgbClr val="fbdf9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微软雅黑"/>
              </a:endParaRPr>
            </a:p>
          </p:txBody>
        </p:sp>
        <p:sp>
          <p:nvSpPr>
            <p:cNvPr id="221" name="圆角矩形 55"/>
            <p:cNvSpPr/>
            <p:nvPr/>
          </p:nvSpPr>
          <p:spPr>
            <a:xfrm>
              <a:off x="6906240" y="1466640"/>
              <a:ext cx="4178520" cy="748440"/>
            </a:xfrm>
            <a:prstGeom prst="roundRect">
              <a:avLst>
                <a:gd name="adj" fmla="val 16667"/>
              </a:avLst>
            </a:prstGeom>
            <a:solidFill>
              <a:srgbClr val="437f7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微软雅黑"/>
              </a:endParaRPr>
            </a:p>
          </p:txBody>
        </p:sp>
        <p:sp>
          <p:nvSpPr>
            <p:cNvPr id="222" name="圆角矩形 56"/>
            <p:cNvSpPr/>
            <p:nvPr/>
          </p:nvSpPr>
          <p:spPr>
            <a:xfrm>
              <a:off x="6757560" y="1358640"/>
              <a:ext cx="4178520" cy="748440"/>
            </a:xfrm>
            <a:prstGeom prst="roundRect">
              <a:avLst>
                <a:gd name="adj" fmla="val 16667"/>
              </a:avLst>
            </a:prstGeom>
            <a:solidFill>
              <a:srgbClr val="fbdf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微软雅黑"/>
              </a:endParaRPr>
            </a:p>
          </p:txBody>
        </p:sp>
      </p:grpSp>
      <p:sp>
        <p:nvSpPr>
          <p:cNvPr id="223" name="文本框 18"/>
          <p:cNvSpPr/>
          <p:nvPr/>
        </p:nvSpPr>
        <p:spPr>
          <a:xfrm>
            <a:off x="790200" y="278280"/>
            <a:ext cx="93459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zh-CN" sz="3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经典繁毛楷"/>
                <a:ea typeface="经典繁毛楷"/>
              </a:rPr>
              <a:t>初高中数学的区别</a:t>
            </a:r>
            <a:r>
              <a:rPr b="0" lang="en-US" sz="3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经典繁毛楷"/>
                <a:ea typeface="经典繁毛楷"/>
              </a:rPr>
              <a:t>——</a:t>
            </a:r>
            <a:r>
              <a:rPr b="0" lang="zh-CN" sz="3600" spc="-1" strike="noStrike">
                <a:solidFill>
                  <a:srgbClr val="ffc000"/>
                </a:solidFill>
                <a:latin typeface="经典繁毛楷"/>
                <a:ea typeface="经典繁毛楷"/>
              </a:rPr>
              <a:t>知识容量不同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24" name="组合 19"/>
          <p:cNvGrpSpPr/>
          <p:nvPr/>
        </p:nvGrpSpPr>
        <p:grpSpPr>
          <a:xfrm>
            <a:off x="339480" y="1358640"/>
            <a:ext cx="10990800" cy="4865040"/>
            <a:chOff x="339480" y="1358640"/>
            <a:chExt cx="10990800" cy="4865040"/>
          </a:xfrm>
        </p:grpSpPr>
        <p:grpSp>
          <p:nvGrpSpPr>
            <p:cNvPr id="225" name="组合 23"/>
            <p:cNvGrpSpPr/>
            <p:nvPr/>
          </p:nvGrpSpPr>
          <p:grpSpPr>
            <a:xfrm>
              <a:off x="339480" y="1358640"/>
              <a:ext cx="5497200" cy="4865040"/>
              <a:chOff x="339480" y="1358640"/>
              <a:chExt cx="5497200" cy="4865040"/>
            </a:xfrm>
          </p:grpSpPr>
          <p:sp>
            <p:nvSpPr>
              <p:cNvPr id="226" name="圆角矩形 43"/>
              <p:cNvSpPr/>
              <p:nvPr/>
            </p:nvSpPr>
            <p:spPr>
              <a:xfrm>
                <a:off x="811080" y="1865160"/>
                <a:ext cx="5025600" cy="4358520"/>
              </a:xfrm>
              <a:prstGeom prst="roundRect">
                <a:avLst>
                  <a:gd name="adj" fmla="val 16667"/>
                </a:avLst>
              </a:prstGeom>
              <a:solidFill>
                <a:srgbClr val="437f7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  <a:ea typeface="微软雅黑"/>
                </a:endParaRPr>
              </a:p>
            </p:txBody>
          </p:sp>
          <p:sp>
            <p:nvSpPr>
              <p:cNvPr id="227" name="圆角矩形 44"/>
              <p:cNvSpPr/>
              <p:nvPr/>
            </p:nvSpPr>
            <p:spPr>
              <a:xfrm>
                <a:off x="339480" y="1744200"/>
                <a:ext cx="5347080" cy="4358520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>
                <a:solidFill>
                  <a:srgbClr val="fbdf9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  <a:ea typeface="微软雅黑"/>
                </a:endParaRPr>
              </a:p>
            </p:txBody>
          </p:sp>
          <p:sp>
            <p:nvSpPr>
              <p:cNvPr id="228" name="圆角矩形 45"/>
              <p:cNvSpPr/>
              <p:nvPr/>
            </p:nvSpPr>
            <p:spPr>
              <a:xfrm>
                <a:off x="961920" y="1464480"/>
                <a:ext cx="4352760" cy="734400"/>
              </a:xfrm>
              <a:prstGeom prst="roundRect">
                <a:avLst>
                  <a:gd name="adj" fmla="val 16667"/>
                </a:avLst>
              </a:prstGeom>
              <a:solidFill>
                <a:srgbClr val="437f7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  <a:ea typeface="微软雅黑"/>
                </a:endParaRPr>
              </a:p>
            </p:txBody>
          </p:sp>
          <p:sp>
            <p:nvSpPr>
              <p:cNvPr id="229" name="圆角矩形 46"/>
              <p:cNvSpPr/>
              <p:nvPr/>
            </p:nvSpPr>
            <p:spPr>
              <a:xfrm>
                <a:off x="807120" y="1358640"/>
                <a:ext cx="4352760" cy="734400"/>
              </a:xfrm>
              <a:prstGeom prst="roundRect">
                <a:avLst>
                  <a:gd name="adj" fmla="val 16667"/>
                </a:avLst>
              </a:prstGeom>
              <a:solidFill>
                <a:srgbClr val="fbdf9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  <a:ea typeface="微软雅黑"/>
                </a:endParaRPr>
              </a:p>
            </p:txBody>
          </p:sp>
        </p:grpSp>
        <p:sp>
          <p:nvSpPr>
            <p:cNvPr id="230" name="内容占位符 2"/>
            <p:cNvSpPr/>
            <p:nvPr/>
          </p:nvSpPr>
          <p:spPr>
            <a:xfrm>
              <a:off x="788760" y="1376280"/>
              <a:ext cx="4447440" cy="52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algn="ctr" defTabSz="914400">
                <a:lnSpc>
                  <a:spcPct val="120000"/>
                </a:lnSpc>
                <a:spcBef>
                  <a:spcPts val="1001"/>
                </a:spcBef>
                <a:tabLst>
                  <a:tab algn="l" pos="0"/>
                </a:tabLst>
              </a:pPr>
              <a:r>
                <a:rPr b="1" lang="zh-CN" sz="3200" spc="-1" strike="noStrike">
                  <a:solidFill>
                    <a:schemeClr val="dk1"/>
                  </a:solidFill>
                  <a:latin typeface="Arial"/>
                  <a:ea typeface="微软雅黑"/>
                </a:rPr>
                <a:t>初中数学</a:t>
              </a:r>
              <a:endParaRPr b="0" lang="en-US" sz="3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1" name="文本框 33"/>
            <p:cNvSpPr/>
            <p:nvPr/>
          </p:nvSpPr>
          <p:spPr>
            <a:xfrm>
              <a:off x="785880" y="2767320"/>
              <a:ext cx="4676400" cy="1797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zh-CN" sz="2800" spc="-1" strike="noStrike">
                  <a:solidFill>
                    <a:schemeClr val="dk1"/>
                  </a:solidFill>
                  <a:latin typeface="Arial"/>
                  <a:ea typeface="微软雅黑"/>
                </a:rPr>
                <a:t>知识少、浅、难度容易，概念清晰可理解，习惯于“静态”思维，可通过大量刷题提高成绩。</a:t>
              </a:r>
              <a:endParaRPr b="0" lang="en-US" sz="2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2" name="文本框 60"/>
            <p:cNvSpPr/>
            <p:nvPr/>
          </p:nvSpPr>
          <p:spPr>
            <a:xfrm>
              <a:off x="6659640" y="2402640"/>
              <a:ext cx="4670640" cy="3505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zh-CN" sz="2800" spc="-1" strike="noStrike">
                  <a:solidFill>
                    <a:schemeClr val="dk1"/>
                  </a:solidFill>
                  <a:latin typeface="Arial"/>
                  <a:ea typeface="微软雅黑"/>
                </a:rPr>
                <a:t>数学公式枯燥难记忆、数学符号抽象难想象、数学习题晦涩难理解，数学知识难且多，无论从思维的广度和深度上都有很大的提高，对学生思维要求较高，</a:t>
              </a:r>
              <a:r>
                <a:rPr b="1" lang="zh-CN" sz="2800" spc="-1" strike="noStrike">
                  <a:solidFill>
                    <a:srgbClr val="ffc000"/>
                  </a:solidFill>
                  <a:latin typeface="Arial"/>
                  <a:ea typeface="微软雅黑"/>
                </a:rPr>
                <a:t>需要对知识灵活应用，理解本质才可提高成绩。</a:t>
              </a:r>
              <a:endParaRPr b="0" lang="en-US" sz="2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233" name="图片 57" descr=""/>
          <p:cNvPicPr/>
          <p:nvPr/>
        </p:nvPicPr>
        <p:blipFill>
          <a:blip r:embed="rId1"/>
          <a:stretch/>
        </p:blipFill>
        <p:spPr>
          <a:xfrm>
            <a:off x="378720" y="407160"/>
            <a:ext cx="410760" cy="387720"/>
          </a:xfrm>
          <a:prstGeom prst="rect">
            <a:avLst/>
          </a:prstGeom>
          <a:ln w="0">
            <a:noFill/>
          </a:ln>
        </p:spPr>
      </p:pic>
      <p:sp>
        <p:nvSpPr>
          <p:cNvPr id="234" name="内容占位符 2"/>
          <p:cNvSpPr/>
          <p:nvPr/>
        </p:nvSpPr>
        <p:spPr>
          <a:xfrm>
            <a:off x="6757560" y="1398960"/>
            <a:ext cx="44474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2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zh-CN" sz="3200" spc="-1" strike="noStrike">
                <a:solidFill>
                  <a:schemeClr val="dk1"/>
                </a:solidFill>
                <a:latin typeface="Arial"/>
                <a:ea typeface="微软雅黑"/>
              </a:rPr>
              <a:t>高中数学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>
        <p:random/>
      </p:transition>
    </mc:Choice>
    <mc:Fallback>
      <p:transition spd="slow">
        <p:random/>
      </p:transition>
    </mc:Fallback>
  </mc:AlternateContent>
  <p:timing>
    <p:tnLst>
      <p:par>
        <p:cTn id="230" dur="indefinite" restart="never" nodeType="tmRoot">
          <p:childTnLst>
            <p:seq>
              <p:cTn id="231" dur="indefinite" nodeType="mainSeq">
                <p:childTnLst>
                  <p:par>
                    <p:cTn id="232" fill="hold">
                      <p:stCondLst>
                        <p:cond delay="0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36" dur="5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37" dur="5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组合 48"/>
          <p:cNvGrpSpPr/>
          <p:nvPr/>
        </p:nvGrpSpPr>
        <p:grpSpPr>
          <a:xfrm>
            <a:off x="6308640" y="1358640"/>
            <a:ext cx="5276520" cy="4959720"/>
            <a:chOff x="6308640" y="1358640"/>
            <a:chExt cx="5276520" cy="4959720"/>
          </a:xfrm>
        </p:grpSpPr>
        <p:sp>
          <p:nvSpPr>
            <p:cNvPr id="236" name="圆角矩形 53"/>
            <p:cNvSpPr/>
            <p:nvPr/>
          </p:nvSpPr>
          <p:spPr>
            <a:xfrm>
              <a:off x="6761160" y="1874880"/>
              <a:ext cx="4824000" cy="4443480"/>
            </a:xfrm>
            <a:prstGeom prst="roundRect">
              <a:avLst>
                <a:gd name="adj" fmla="val 16667"/>
              </a:avLst>
            </a:prstGeom>
            <a:solidFill>
              <a:srgbClr val="437f7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微软雅黑"/>
              </a:endParaRPr>
            </a:p>
          </p:txBody>
        </p:sp>
        <p:sp>
          <p:nvSpPr>
            <p:cNvPr id="237" name="圆角矩形 54"/>
            <p:cNvSpPr/>
            <p:nvPr/>
          </p:nvSpPr>
          <p:spPr>
            <a:xfrm>
              <a:off x="6308640" y="1751760"/>
              <a:ext cx="5132880" cy="444348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rgbClr val="fbdf9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微软雅黑"/>
              </a:endParaRPr>
            </a:p>
          </p:txBody>
        </p:sp>
        <p:sp>
          <p:nvSpPr>
            <p:cNvPr id="238" name="圆角矩形 55"/>
            <p:cNvSpPr/>
            <p:nvPr/>
          </p:nvSpPr>
          <p:spPr>
            <a:xfrm>
              <a:off x="6906240" y="1466640"/>
              <a:ext cx="4178520" cy="748440"/>
            </a:xfrm>
            <a:prstGeom prst="roundRect">
              <a:avLst>
                <a:gd name="adj" fmla="val 16667"/>
              </a:avLst>
            </a:prstGeom>
            <a:solidFill>
              <a:srgbClr val="437f7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微软雅黑"/>
              </a:endParaRPr>
            </a:p>
          </p:txBody>
        </p:sp>
        <p:sp>
          <p:nvSpPr>
            <p:cNvPr id="239" name="圆角矩形 56"/>
            <p:cNvSpPr/>
            <p:nvPr/>
          </p:nvSpPr>
          <p:spPr>
            <a:xfrm>
              <a:off x="6757560" y="1358640"/>
              <a:ext cx="4178520" cy="748440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微软雅黑"/>
              </a:endParaRPr>
            </a:p>
          </p:txBody>
        </p:sp>
      </p:grpSp>
      <p:sp>
        <p:nvSpPr>
          <p:cNvPr id="240" name="文本框 18"/>
          <p:cNvSpPr/>
          <p:nvPr/>
        </p:nvSpPr>
        <p:spPr>
          <a:xfrm>
            <a:off x="790200" y="278280"/>
            <a:ext cx="93459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zh-CN" sz="3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经典繁毛楷"/>
                <a:ea typeface="经典繁毛楷"/>
              </a:rPr>
              <a:t>初高中数学的区别</a:t>
            </a:r>
            <a:r>
              <a:rPr b="0" lang="en-US" sz="3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经典繁毛楷"/>
                <a:ea typeface="经典繁毛楷"/>
              </a:rPr>
              <a:t>——</a:t>
            </a:r>
            <a:r>
              <a:rPr b="0" lang="zh-CN" sz="3600" spc="-1" strike="noStrike">
                <a:solidFill>
                  <a:srgbClr val="4282bd"/>
                </a:solidFill>
                <a:latin typeface="经典繁毛楷"/>
                <a:ea typeface="经典繁毛楷"/>
              </a:rPr>
              <a:t>学习方式不同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41" name="组合 19"/>
          <p:cNvGrpSpPr/>
          <p:nvPr/>
        </p:nvGrpSpPr>
        <p:grpSpPr>
          <a:xfrm>
            <a:off x="339480" y="1358640"/>
            <a:ext cx="10990800" cy="4865040"/>
            <a:chOff x="339480" y="1358640"/>
            <a:chExt cx="10990800" cy="4865040"/>
          </a:xfrm>
        </p:grpSpPr>
        <p:grpSp>
          <p:nvGrpSpPr>
            <p:cNvPr id="242" name="组合 23"/>
            <p:cNvGrpSpPr/>
            <p:nvPr/>
          </p:nvGrpSpPr>
          <p:grpSpPr>
            <a:xfrm>
              <a:off x="339480" y="1358640"/>
              <a:ext cx="5497200" cy="4865040"/>
              <a:chOff x="339480" y="1358640"/>
              <a:chExt cx="5497200" cy="4865040"/>
            </a:xfrm>
          </p:grpSpPr>
          <p:sp>
            <p:nvSpPr>
              <p:cNvPr id="243" name="圆角矩形 43"/>
              <p:cNvSpPr/>
              <p:nvPr/>
            </p:nvSpPr>
            <p:spPr>
              <a:xfrm>
                <a:off x="811080" y="1865160"/>
                <a:ext cx="5025600" cy="4358520"/>
              </a:xfrm>
              <a:prstGeom prst="roundRect">
                <a:avLst>
                  <a:gd name="adj" fmla="val 16667"/>
                </a:avLst>
              </a:prstGeom>
              <a:solidFill>
                <a:srgbClr val="437f7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  <a:ea typeface="微软雅黑"/>
                </a:endParaRPr>
              </a:p>
            </p:txBody>
          </p:sp>
          <p:sp>
            <p:nvSpPr>
              <p:cNvPr id="244" name="圆角矩形 44"/>
              <p:cNvSpPr/>
              <p:nvPr/>
            </p:nvSpPr>
            <p:spPr>
              <a:xfrm>
                <a:off x="339480" y="1744200"/>
                <a:ext cx="5347080" cy="4358520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>
                <a:solidFill>
                  <a:srgbClr val="fbdf9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  <a:ea typeface="微软雅黑"/>
                </a:endParaRPr>
              </a:p>
            </p:txBody>
          </p:sp>
          <p:sp>
            <p:nvSpPr>
              <p:cNvPr id="245" name="圆角矩形 45"/>
              <p:cNvSpPr/>
              <p:nvPr/>
            </p:nvSpPr>
            <p:spPr>
              <a:xfrm>
                <a:off x="961920" y="1464480"/>
                <a:ext cx="4352760" cy="734400"/>
              </a:xfrm>
              <a:prstGeom prst="roundRect">
                <a:avLst>
                  <a:gd name="adj" fmla="val 16667"/>
                </a:avLst>
              </a:prstGeom>
              <a:solidFill>
                <a:srgbClr val="437f7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  <a:ea typeface="微软雅黑"/>
                </a:endParaRPr>
              </a:p>
            </p:txBody>
          </p:sp>
          <p:sp>
            <p:nvSpPr>
              <p:cNvPr id="246" name="圆角矩形 46"/>
              <p:cNvSpPr/>
              <p:nvPr/>
            </p:nvSpPr>
            <p:spPr>
              <a:xfrm>
                <a:off x="807120" y="1358640"/>
                <a:ext cx="4352760" cy="734400"/>
              </a:xfrm>
              <a:prstGeom prst="roundRect">
                <a:avLst>
                  <a:gd name="adj" fmla="val 16667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  <a:ea typeface="微软雅黑"/>
                </a:endParaRPr>
              </a:p>
            </p:txBody>
          </p:sp>
        </p:grpSp>
        <p:sp>
          <p:nvSpPr>
            <p:cNvPr id="247" name="内容占位符 2"/>
            <p:cNvSpPr/>
            <p:nvPr/>
          </p:nvSpPr>
          <p:spPr>
            <a:xfrm>
              <a:off x="788760" y="1376280"/>
              <a:ext cx="4447440" cy="52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algn="ctr" defTabSz="914400">
                <a:lnSpc>
                  <a:spcPct val="120000"/>
                </a:lnSpc>
                <a:spcBef>
                  <a:spcPts val="1001"/>
                </a:spcBef>
                <a:tabLst>
                  <a:tab algn="l" pos="0"/>
                </a:tabLst>
              </a:pPr>
              <a:r>
                <a:rPr b="1" lang="zh-CN" sz="3200" spc="-1" strike="noStrike">
                  <a:solidFill>
                    <a:schemeClr val="dk1"/>
                  </a:solidFill>
                  <a:latin typeface="Arial"/>
                  <a:ea typeface="微软雅黑"/>
                </a:rPr>
                <a:t>初中数学</a:t>
              </a:r>
              <a:endParaRPr b="0" lang="en-US" sz="3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8" name="文本框 33"/>
            <p:cNvSpPr/>
            <p:nvPr/>
          </p:nvSpPr>
          <p:spPr>
            <a:xfrm>
              <a:off x="785880" y="2767320"/>
              <a:ext cx="4676400" cy="137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zh-CN" sz="2800" spc="-1" strike="noStrike">
                  <a:solidFill>
                    <a:schemeClr val="dk1"/>
                  </a:solidFill>
                  <a:latin typeface="Arial"/>
                  <a:ea typeface="微软雅黑"/>
                </a:rPr>
                <a:t>初中课堂教学量小、老师反复讲，学生反复练。出题有规律。</a:t>
              </a:r>
              <a:endParaRPr b="0" lang="en-US" sz="2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9" name="文本框 60"/>
            <p:cNvSpPr/>
            <p:nvPr/>
          </p:nvSpPr>
          <p:spPr>
            <a:xfrm>
              <a:off x="6659640" y="2402640"/>
              <a:ext cx="4670640" cy="3505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zh-CN" sz="2800" spc="-1" strike="noStrike">
                  <a:solidFill>
                    <a:schemeClr val="dk1"/>
                  </a:solidFill>
                  <a:latin typeface="Arial"/>
                  <a:ea typeface="微软雅黑"/>
                </a:rPr>
                <a:t>高中科目多，课堂容量大，课时紧，老师无法反复讲，学生连作业都做不完。高考数学注重考察学生能力，避免学生高分低能，避免定势思维，避免刷题，故意反套路，</a:t>
              </a:r>
              <a:r>
                <a:rPr b="1" lang="zh-CN" sz="2800" spc="-1" strike="noStrike">
                  <a:solidFill>
                    <a:srgbClr val="4282bd"/>
                  </a:solidFill>
                  <a:latin typeface="Arial"/>
                  <a:ea typeface="微软雅黑"/>
                </a:rPr>
                <a:t>这就要求学生总结反思，理解知识，灵活应用。</a:t>
              </a:r>
              <a:endParaRPr b="0" lang="en-US" sz="2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250" name="图片 57" descr=""/>
          <p:cNvPicPr/>
          <p:nvPr/>
        </p:nvPicPr>
        <p:blipFill>
          <a:blip r:embed="rId1"/>
          <a:stretch/>
        </p:blipFill>
        <p:spPr>
          <a:xfrm>
            <a:off x="378720" y="407160"/>
            <a:ext cx="410760" cy="387720"/>
          </a:xfrm>
          <a:prstGeom prst="rect">
            <a:avLst/>
          </a:prstGeom>
          <a:ln w="0">
            <a:noFill/>
          </a:ln>
        </p:spPr>
      </p:pic>
      <p:sp>
        <p:nvSpPr>
          <p:cNvPr id="251" name="内容占位符 2"/>
          <p:cNvSpPr/>
          <p:nvPr/>
        </p:nvSpPr>
        <p:spPr>
          <a:xfrm>
            <a:off x="6757560" y="1398960"/>
            <a:ext cx="44474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2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zh-CN" sz="3200" spc="-1" strike="noStrike">
                <a:solidFill>
                  <a:schemeClr val="dk1"/>
                </a:solidFill>
                <a:latin typeface="Arial"/>
                <a:ea typeface="微软雅黑"/>
              </a:rPr>
              <a:t>高中数学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>
        <p:random/>
      </p:transition>
    </mc:Choice>
    <mc:Fallback>
      <p:transition spd="slow">
        <p:random/>
      </p:transition>
    </mc:Fallback>
  </mc:AlternateContent>
  <p:timing>
    <p:tnLst>
      <p:par>
        <p:cTn id="238" dur="indefinite" restart="never" nodeType="tmRoot">
          <p:childTnLst>
            <p:seq>
              <p:cTn id="239" dur="indefinite" nodeType="mainSeq">
                <p:childTnLst>
                  <p:par>
                    <p:cTn id="240" fill="hold">
                      <p:stCondLst>
                        <p:cond delay="0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44" dur="50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45" dur="50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2" name="组合 48"/>
          <p:cNvGrpSpPr/>
          <p:nvPr/>
        </p:nvGrpSpPr>
        <p:grpSpPr>
          <a:xfrm>
            <a:off x="6308640" y="1358640"/>
            <a:ext cx="5276520" cy="4959720"/>
            <a:chOff x="6308640" y="1358640"/>
            <a:chExt cx="5276520" cy="4959720"/>
          </a:xfrm>
        </p:grpSpPr>
        <p:sp>
          <p:nvSpPr>
            <p:cNvPr id="253" name="圆角矩形 53"/>
            <p:cNvSpPr/>
            <p:nvPr/>
          </p:nvSpPr>
          <p:spPr>
            <a:xfrm>
              <a:off x="6761160" y="1874880"/>
              <a:ext cx="4824000" cy="4443480"/>
            </a:xfrm>
            <a:prstGeom prst="roundRect">
              <a:avLst>
                <a:gd name="adj" fmla="val 16667"/>
              </a:avLst>
            </a:prstGeom>
            <a:solidFill>
              <a:srgbClr val="437f7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微软雅黑"/>
              </a:endParaRPr>
            </a:p>
          </p:txBody>
        </p:sp>
        <p:sp>
          <p:nvSpPr>
            <p:cNvPr id="254" name="圆角矩形 54"/>
            <p:cNvSpPr/>
            <p:nvPr/>
          </p:nvSpPr>
          <p:spPr>
            <a:xfrm>
              <a:off x="6308640" y="1751760"/>
              <a:ext cx="5132880" cy="444348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rgbClr val="fbdf9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微软雅黑"/>
              </a:endParaRPr>
            </a:p>
          </p:txBody>
        </p:sp>
        <p:sp>
          <p:nvSpPr>
            <p:cNvPr id="255" name="圆角矩形 55"/>
            <p:cNvSpPr/>
            <p:nvPr/>
          </p:nvSpPr>
          <p:spPr>
            <a:xfrm>
              <a:off x="6906240" y="1466640"/>
              <a:ext cx="4178520" cy="748440"/>
            </a:xfrm>
            <a:prstGeom prst="roundRect">
              <a:avLst>
                <a:gd name="adj" fmla="val 16667"/>
              </a:avLst>
            </a:prstGeom>
            <a:solidFill>
              <a:srgbClr val="437f7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微软雅黑"/>
              </a:endParaRPr>
            </a:p>
          </p:txBody>
        </p:sp>
        <p:sp>
          <p:nvSpPr>
            <p:cNvPr id="256" name="圆角矩形 56"/>
            <p:cNvSpPr/>
            <p:nvPr/>
          </p:nvSpPr>
          <p:spPr>
            <a:xfrm>
              <a:off x="6757560" y="1358640"/>
              <a:ext cx="4178520" cy="748440"/>
            </a:xfrm>
            <a:prstGeom prst="roundRect">
              <a:avLst>
                <a:gd name="adj" fmla="val 16667"/>
              </a:avLst>
            </a:prstGeom>
            <a:solidFill>
              <a:srgbClr val="ffcc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微软雅黑"/>
              </a:endParaRPr>
            </a:p>
          </p:txBody>
        </p:sp>
      </p:grpSp>
      <p:sp>
        <p:nvSpPr>
          <p:cNvPr id="257" name="文本框 18"/>
          <p:cNvSpPr/>
          <p:nvPr/>
        </p:nvSpPr>
        <p:spPr>
          <a:xfrm>
            <a:off x="790200" y="278280"/>
            <a:ext cx="93459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zh-CN" sz="3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经典繁毛楷"/>
                <a:ea typeface="经典繁毛楷"/>
              </a:rPr>
              <a:t>初高中数学的区别</a:t>
            </a:r>
            <a:r>
              <a:rPr b="0" lang="en-US" sz="3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经典繁毛楷"/>
                <a:ea typeface="经典繁毛楷"/>
              </a:rPr>
              <a:t>——</a:t>
            </a:r>
            <a:r>
              <a:rPr b="0" lang="zh-CN" sz="3600" spc="-1" strike="noStrike">
                <a:solidFill>
                  <a:srgbClr val="ff33cc"/>
                </a:solidFill>
                <a:latin typeface="经典繁毛楷"/>
                <a:ea typeface="经典繁毛楷"/>
              </a:rPr>
              <a:t>能力要求不同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58" name="组合 19"/>
          <p:cNvGrpSpPr/>
          <p:nvPr/>
        </p:nvGrpSpPr>
        <p:grpSpPr>
          <a:xfrm>
            <a:off x="339480" y="1358640"/>
            <a:ext cx="10990800" cy="4865040"/>
            <a:chOff x="339480" y="1358640"/>
            <a:chExt cx="10990800" cy="4865040"/>
          </a:xfrm>
        </p:grpSpPr>
        <p:grpSp>
          <p:nvGrpSpPr>
            <p:cNvPr id="259" name="组合 23"/>
            <p:cNvGrpSpPr/>
            <p:nvPr/>
          </p:nvGrpSpPr>
          <p:grpSpPr>
            <a:xfrm>
              <a:off x="339480" y="1358640"/>
              <a:ext cx="5497200" cy="4865040"/>
              <a:chOff x="339480" y="1358640"/>
              <a:chExt cx="5497200" cy="4865040"/>
            </a:xfrm>
          </p:grpSpPr>
          <p:sp>
            <p:nvSpPr>
              <p:cNvPr id="260" name="圆角矩形 43"/>
              <p:cNvSpPr/>
              <p:nvPr/>
            </p:nvSpPr>
            <p:spPr>
              <a:xfrm>
                <a:off x="811080" y="1865160"/>
                <a:ext cx="5025600" cy="4358520"/>
              </a:xfrm>
              <a:prstGeom prst="roundRect">
                <a:avLst>
                  <a:gd name="adj" fmla="val 16667"/>
                </a:avLst>
              </a:prstGeom>
              <a:solidFill>
                <a:srgbClr val="437f7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  <a:ea typeface="微软雅黑"/>
                </a:endParaRPr>
              </a:p>
            </p:txBody>
          </p:sp>
          <p:sp>
            <p:nvSpPr>
              <p:cNvPr id="261" name="圆角矩形 44"/>
              <p:cNvSpPr/>
              <p:nvPr/>
            </p:nvSpPr>
            <p:spPr>
              <a:xfrm>
                <a:off x="339480" y="1744200"/>
                <a:ext cx="5347080" cy="4358520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>
                <a:solidFill>
                  <a:srgbClr val="fbdf9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  <a:ea typeface="微软雅黑"/>
                </a:endParaRPr>
              </a:p>
            </p:txBody>
          </p:sp>
          <p:sp>
            <p:nvSpPr>
              <p:cNvPr id="262" name="圆角矩形 45"/>
              <p:cNvSpPr/>
              <p:nvPr/>
            </p:nvSpPr>
            <p:spPr>
              <a:xfrm>
                <a:off x="961920" y="1464480"/>
                <a:ext cx="4352760" cy="734400"/>
              </a:xfrm>
              <a:prstGeom prst="roundRect">
                <a:avLst>
                  <a:gd name="adj" fmla="val 16667"/>
                </a:avLst>
              </a:prstGeom>
              <a:solidFill>
                <a:srgbClr val="437f7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  <a:ea typeface="微软雅黑"/>
                </a:endParaRPr>
              </a:p>
            </p:txBody>
          </p:sp>
          <p:sp>
            <p:nvSpPr>
              <p:cNvPr id="263" name="圆角矩形 46"/>
              <p:cNvSpPr/>
              <p:nvPr/>
            </p:nvSpPr>
            <p:spPr>
              <a:xfrm>
                <a:off x="807120" y="1358640"/>
                <a:ext cx="4352760" cy="734400"/>
              </a:xfrm>
              <a:prstGeom prst="roundRect">
                <a:avLst>
                  <a:gd name="adj" fmla="val 16667"/>
                </a:avLst>
              </a:prstGeom>
              <a:solidFill>
                <a:srgbClr val="ffcc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  <a:ea typeface="微软雅黑"/>
                </a:endParaRPr>
              </a:p>
            </p:txBody>
          </p:sp>
        </p:grpSp>
        <p:sp>
          <p:nvSpPr>
            <p:cNvPr id="264" name="内容占位符 2"/>
            <p:cNvSpPr/>
            <p:nvPr/>
          </p:nvSpPr>
          <p:spPr>
            <a:xfrm>
              <a:off x="788760" y="1376280"/>
              <a:ext cx="4447440" cy="52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algn="ctr" defTabSz="914400">
                <a:lnSpc>
                  <a:spcPct val="120000"/>
                </a:lnSpc>
                <a:spcBef>
                  <a:spcPts val="1001"/>
                </a:spcBef>
                <a:tabLst>
                  <a:tab algn="l" pos="0"/>
                </a:tabLst>
              </a:pPr>
              <a:r>
                <a:rPr b="1" lang="zh-CN" sz="3200" spc="-1" strike="noStrike">
                  <a:solidFill>
                    <a:schemeClr val="dk1"/>
                  </a:solidFill>
                  <a:latin typeface="Arial"/>
                  <a:ea typeface="微软雅黑"/>
                </a:rPr>
                <a:t>初中数学</a:t>
              </a:r>
              <a:endParaRPr b="0" lang="en-US" sz="3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5" name="文本框 33"/>
            <p:cNvSpPr/>
            <p:nvPr/>
          </p:nvSpPr>
          <p:spPr>
            <a:xfrm>
              <a:off x="785880" y="2767320"/>
              <a:ext cx="4676400" cy="943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zh-CN" sz="2800" spc="-1" strike="noStrike">
                  <a:solidFill>
                    <a:schemeClr val="dk1"/>
                  </a:solidFill>
                  <a:latin typeface="Arial"/>
                  <a:ea typeface="微软雅黑"/>
                </a:rPr>
                <a:t>分类讨论情况少，多为常数与定量，公式较少</a:t>
              </a:r>
              <a:endParaRPr b="0" lang="en-US" sz="2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6" name="文本框 60"/>
            <p:cNvSpPr/>
            <p:nvPr/>
          </p:nvSpPr>
          <p:spPr>
            <a:xfrm>
              <a:off x="6659640" y="2766600"/>
              <a:ext cx="4670640" cy="137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zh-CN" sz="2800" spc="-1" strike="noStrike">
                  <a:solidFill>
                    <a:schemeClr val="dk1"/>
                  </a:solidFill>
                  <a:latin typeface="Arial"/>
                  <a:ea typeface="微软雅黑"/>
                </a:rPr>
                <a:t>分类讨论情况多，多为参数与变量，公式较多较复杂，对运算的要求比较高。</a:t>
              </a:r>
              <a:endParaRPr b="0" lang="en-US" sz="2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267" name="图片 57" descr=""/>
          <p:cNvPicPr/>
          <p:nvPr/>
        </p:nvPicPr>
        <p:blipFill>
          <a:blip r:embed="rId1"/>
          <a:stretch/>
        </p:blipFill>
        <p:spPr>
          <a:xfrm>
            <a:off x="378720" y="407160"/>
            <a:ext cx="410760" cy="387720"/>
          </a:xfrm>
          <a:prstGeom prst="rect">
            <a:avLst/>
          </a:prstGeom>
          <a:ln w="0">
            <a:noFill/>
          </a:ln>
        </p:spPr>
      </p:pic>
      <p:sp>
        <p:nvSpPr>
          <p:cNvPr id="268" name="内容占位符 2"/>
          <p:cNvSpPr/>
          <p:nvPr/>
        </p:nvSpPr>
        <p:spPr>
          <a:xfrm>
            <a:off x="6757560" y="1398960"/>
            <a:ext cx="44474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2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zh-CN" sz="3200" spc="-1" strike="noStrike">
                <a:solidFill>
                  <a:schemeClr val="dk1"/>
                </a:solidFill>
                <a:latin typeface="Arial"/>
                <a:ea typeface="微软雅黑"/>
              </a:rPr>
              <a:t>高中数学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>
        <p:random/>
      </p:transition>
    </mc:Choice>
    <mc:Fallback>
      <p:transition spd="slow">
        <p:random/>
      </p:transition>
    </mc:Fallback>
  </mc:AlternateContent>
  <p:timing>
    <p:tnLst>
      <p:par>
        <p:cTn id="246" dur="indefinite" restart="never" nodeType="tmRoot">
          <p:childTnLst>
            <p:seq>
              <p:cTn id="247" dur="indefinite" nodeType="mainSeq">
                <p:childTnLst>
                  <p:par>
                    <p:cTn id="248" fill="hold">
                      <p:stCondLst>
                        <p:cond delay="0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52" dur="500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53" dur="500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椭圆 15"/>
          <p:cNvSpPr/>
          <p:nvPr/>
        </p:nvSpPr>
        <p:spPr>
          <a:xfrm rot="2842200">
            <a:off x="9421920" y="-53280"/>
            <a:ext cx="2259360" cy="2194200"/>
          </a:xfrm>
          <a:custGeom>
            <a:avLst/>
            <a:gdLst>
              <a:gd name="textAreaLeft" fmla="*/ 0 w 2259360"/>
              <a:gd name="textAreaRight" fmla="*/ 2260080 w 2259360"/>
              <a:gd name="textAreaTop" fmla="*/ 0 h 2194200"/>
              <a:gd name="textAreaBottom" fmla="*/ 2194920 h 2194200"/>
            </a:gdLst>
            <a:ahLst/>
            <a:rect l="textAreaLeft" t="textAreaTop" r="textAreaRight" b="textAreaBottom"/>
            <a:pathLst>
              <a:path w="2260220" h="2194971">
                <a:moveTo>
                  <a:pt x="72" y="990786"/>
                </a:moveTo>
                <a:cubicBezTo>
                  <a:pt x="10232" y="625026"/>
                  <a:pt x="1119215" y="-12514"/>
                  <a:pt x="1495906" y="186"/>
                </a:cubicBezTo>
                <a:cubicBezTo>
                  <a:pt x="1872597" y="12886"/>
                  <a:pt x="2260220" y="452558"/>
                  <a:pt x="2260220" y="1066986"/>
                </a:cubicBezTo>
                <a:cubicBezTo>
                  <a:pt x="2260220" y="1681414"/>
                  <a:pt x="1811637" y="2207446"/>
                  <a:pt x="1434946" y="2194746"/>
                </a:cubicBezTo>
                <a:cubicBezTo>
                  <a:pt x="1058255" y="2182046"/>
                  <a:pt x="-10088" y="1356546"/>
                  <a:pt x="72" y="990786"/>
                </a:cubicBezTo>
                <a:close/>
              </a:path>
            </a:pathLst>
          </a:custGeom>
          <a:solidFill>
            <a:srgbClr val="dde6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微软雅黑"/>
            </a:endParaRPr>
          </a:p>
        </p:txBody>
      </p:sp>
      <p:sp>
        <p:nvSpPr>
          <p:cNvPr id="270" name="任意多边形: 形状 52"/>
          <p:cNvSpPr/>
          <p:nvPr/>
        </p:nvSpPr>
        <p:spPr>
          <a:xfrm rot="21045000">
            <a:off x="10180800" y="1461600"/>
            <a:ext cx="2331000" cy="3606840"/>
          </a:xfrm>
          <a:custGeom>
            <a:avLst/>
            <a:gdLst>
              <a:gd name="textAreaLeft" fmla="*/ 0 w 2331000"/>
              <a:gd name="textAreaRight" fmla="*/ 2331720 w 2331000"/>
              <a:gd name="textAreaTop" fmla="*/ 0 h 3606840"/>
              <a:gd name="textAreaBottom" fmla="*/ 3607560 h 3606840"/>
            </a:gdLst>
            <a:ahLst/>
            <a:rect l="textAreaLeft" t="textAreaTop" r="textAreaRight" b="textAreaBottom"/>
            <a:pathLst>
              <a:path w="2331561" h="3607613">
                <a:moveTo>
                  <a:pt x="2331561" y="0"/>
                </a:moveTo>
                <a:lnTo>
                  <a:pt x="1744322" y="3607613"/>
                </a:lnTo>
                <a:lnTo>
                  <a:pt x="1670871" y="3576558"/>
                </a:lnTo>
                <a:cubicBezTo>
                  <a:pt x="1011725" y="3255565"/>
                  <a:pt x="-172288" y="2133388"/>
                  <a:pt x="21069" y="1563934"/>
                </a:cubicBezTo>
                <a:cubicBezTo>
                  <a:pt x="171267" y="1121591"/>
                  <a:pt x="1356739" y="411448"/>
                  <a:pt x="2269564" y="25026"/>
                </a:cubicBezTo>
                <a:close/>
              </a:path>
            </a:pathLst>
          </a:custGeom>
          <a:solidFill>
            <a:srgbClr val="dde6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微软雅黑"/>
            </a:endParaRPr>
          </a:p>
        </p:txBody>
      </p:sp>
      <p:sp>
        <p:nvSpPr>
          <p:cNvPr id="271" name="任意多边形: 形状 66"/>
          <p:cNvSpPr/>
          <p:nvPr/>
        </p:nvSpPr>
        <p:spPr>
          <a:xfrm rot="3262800">
            <a:off x="3424680" y="4976280"/>
            <a:ext cx="2247120" cy="2177280"/>
          </a:xfrm>
          <a:custGeom>
            <a:avLst/>
            <a:gdLst>
              <a:gd name="textAreaLeft" fmla="*/ 0 w 2247120"/>
              <a:gd name="textAreaRight" fmla="*/ 2247840 w 2247120"/>
              <a:gd name="textAreaTop" fmla="*/ 0 h 2177280"/>
              <a:gd name="textAreaBottom" fmla="*/ 2178000 h 2177280"/>
            </a:gdLst>
            <a:ahLst/>
            <a:rect l="textAreaLeft" t="textAreaTop" r="textAreaRight" b="textAreaBottom"/>
            <a:pathLst>
              <a:path w="2247974" h="2177942">
                <a:moveTo>
                  <a:pt x="51813" y="842687"/>
                </a:moveTo>
                <a:cubicBezTo>
                  <a:pt x="276035" y="475801"/>
                  <a:pt x="1166301" y="-10926"/>
                  <a:pt x="1495906" y="186"/>
                </a:cubicBezTo>
                <a:cubicBezTo>
                  <a:pt x="1825511" y="11298"/>
                  <a:pt x="2163485" y="349312"/>
                  <a:pt x="2242829" y="845260"/>
                </a:cubicBezTo>
                <a:lnTo>
                  <a:pt x="2247974" y="910860"/>
                </a:lnTo>
                <a:lnTo>
                  <a:pt x="1340011" y="2177942"/>
                </a:lnTo>
                <a:lnTo>
                  <a:pt x="1264723" y="2154369"/>
                </a:lnTo>
                <a:cubicBezTo>
                  <a:pt x="808021" y="1982854"/>
                  <a:pt x="-8818" y="1310826"/>
                  <a:pt x="72" y="990786"/>
                </a:cubicBezTo>
                <a:cubicBezTo>
                  <a:pt x="1342" y="945066"/>
                  <a:pt x="19781" y="895100"/>
                  <a:pt x="51813" y="842687"/>
                </a:cubicBezTo>
                <a:close/>
              </a:path>
            </a:pathLst>
          </a:custGeom>
          <a:solidFill>
            <a:srgbClr val="dde6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微软雅黑"/>
            </a:endParaRPr>
          </a:p>
        </p:txBody>
      </p:sp>
      <p:sp>
        <p:nvSpPr>
          <p:cNvPr id="272" name="椭圆 15"/>
          <p:cNvSpPr/>
          <p:nvPr/>
        </p:nvSpPr>
        <p:spPr>
          <a:xfrm rot="17148600">
            <a:off x="1352160" y="4430880"/>
            <a:ext cx="1682640" cy="1513800"/>
          </a:xfrm>
          <a:custGeom>
            <a:avLst/>
            <a:gdLst>
              <a:gd name="textAreaLeft" fmla="*/ 0 w 1682640"/>
              <a:gd name="textAreaRight" fmla="*/ 1683360 w 1682640"/>
              <a:gd name="textAreaTop" fmla="*/ 0 h 1513800"/>
              <a:gd name="textAreaBottom" fmla="*/ 1514520 h 1513800"/>
            </a:gdLst>
            <a:ahLst/>
            <a:rect l="textAreaLeft" t="textAreaTop" r="textAreaRight" b="textAreaBottom"/>
            <a:pathLst>
              <a:path w="2260220" h="2194971">
                <a:moveTo>
                  <a:pt x="72" y="990786"/>
                </a:moveTo>
                <a:cubicBezTo>
                  <a:pt x="10232" y="625026"/>
                  <a:pt x="1119215" y="-12514"/>
                  <a:pt x="1495906" y="186"/>
                </a:cubicBezTo>
                <a:cubicBezTo>
                  <a:pt x="1872597" y="12886"/>
                  <a:pt x="2260220" y="452558"/>
                  <a:pt x="2260220" y="1066986"/>
                </a:cubicBezTo>
                <a:cubicBezTo>
                  <a:pt x="2260220" y="1681414"/>
                  <a:pt x="1811637" y="2207446"/>
                  <a:pt x="1434946" y="2194746"/>
                </a:cubicBezTo>
                <a:cubicBezTo>
                  <a:pt x="1058255" y="2182046"/>
                  <a:pt x="-10088" y="1356546"/>
                  <a:pt x="72" y="990786"/>
                </a:cubicBezTo>
                <a:close/>
              </a:path>
            </a:pathLst>
          </a:custGeom>
          <a:solidFill>
            <a:srgbClr val="dde6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微软雅黑"/>
            </a:endParaRPr>
          </a:p>
        </p:txBody>
      </p:sp>
      <p:sp>
        <p:nvSpPr>
          <p:cNvPr id="273" name="任意多边形: 形状 64"/>
          <p:cNvSpPr/>
          <p:nvPr/>
        </p:nvSpPr>
        <p:spPr>
          <a:xfrm>
            <a:off x="0" y="4189320"/>
            <a:ext cx="5747040" cy="2667960"/>
          </a:xfrm>
          <a:custGeom>
            <a:avLst/>
            <a:gdLst>
              <a:gd name="textAreaLeft" fmla="*/ 0 w 5747040"/>
              <a:gd name="textAreaRight" fmla="*/ 5747760 w 5747040"/>
              <a:gd name="textAreaTop" fmla="*/ 0 h 2667960"/>
              <a:gd name="textAreaBottom" fmla="*/ 2668680 h 2667960"/>
            </a:gdLst>
            <a:ahLst/>
            <a:rect l="textAreaLeft" t="textAreaTop" r="textAreaRight" b="textAreaBottom"/>
            <a:pathLst>
              <a:path w="5747714" h="2668654">
                <a:moveTo>
                  <a:pt x="1624616" y="110"/>
                </a:moveTo>
                <a:cubicBezTo>
                  <a:pt x="2534078" y="-19001"/>
                  <a:pt x="1894140" y="2458488"/>
                  <a:pt x="2209218" y="2067944"/>
                </a:cubicBezTo>
                <a:cubicBezTo>
                  <a:pt x="3560354" y="205583"/>
                  <a:pt x="3585999" y="2093580"/>
                  <a:pt x="3823996" y="2312238"/>
                </a:cubicBezTo>
                <a:cubicBezTo>
                  <a:pt x="3944533" y="2467912"/>
                  <a:pt x="6062040" y="1910373"/>
                  <a:pt x="5707813" y="2627676"/>
                </a:cubicBezTo>
                <a:lnTo>
                  <a:pt x="5684304" y="2668654"/>
                </a:lnTo>
                <a:lnTo>
                  <a:pt x="0" y="2668654"/>
                </a:lnTo>
                <a:lnTo>
                  <a:pt x="0" y="1160865"/>
                </a:lnTo>
                <a:lnTo>
                  <a:pt x="40483" y="1117818"/>
                </a:lnTo>
                <a:cubicBezTo>
                  <a:pt x="818280" y="307039"/>
                  <a:pt x="1312621" y="6666"/>
                  <a:pt x="1624616" y="110"/>
                </a:cubicBezTo>
                <a:close/>
              </a:path>
            </a:pathLst>
          </a:custGeom>
          <a:solidFill>
            <a:srgbClr val="437f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微软雅黑"/>
            </a:endParaRPr>
          </a:p>
        </p:txBody>
      </p:sp>
      <p:sp>
        <p:nvSpPr>
          <p:cNvPr id="274" name="任意多边形: 形状 54"/>
          <p:cNvSpPr/>
          <p:nvPr/>
        </p:nvSpPr>
        <p:spPr>
          <a:xfrm flipH="1" flipV="1">
            <a:off x="6817680" y="-360"/>
            <a:ext cx="5388120" cy="2590200"/>
          </a:xfrm>
          <a:custGeom>
            <a:avLst/>
            <a:gdLst>
              <a:gd name="textAreaLeft" fmla="*/ 360 w 5388120"/>
              <a:gd name="textAreaRight" fmla="*/ 5389200 w 5388120"/>
              <a:gd name="textAreaTop" fmla="*/ 360 h 2590200"/>
              <a:gd name="textAreaBottom" fmla="*/ 2591280 h 2590200"/>
            </a:gdLst>
            <a:ahLst/>
            <a:rect l="textAreaLeft" t="textAreaTop" r="textAreaRight" b="textAreaBottom"/>
            <a:pathLst>
              <a:path w="5388932" h="2590800">
                <a:moveTo>
                  <a:pt x="5259419" y="2590800"/>
                </a:moveTo>
                <a:lnTo>
                  <a:pt x="0" y="2590800"/>
                </a:lnTo>
                <a:lnTo>
                  <a:pt x="0" y="920456"/>
                </a:lnTo>
                <a:lnTo>
                  <a:pt x="43304" y="877720"/>
                </a:lnTo>
                <a:cubicBezTo>
                  <a:pt x="698632" y="245254"/>
                  <a:pt x="1127005" y="5755"/>
                  <a:pt x="1405263" y="103"/>
                </a:cubicBezTo>
                <a:cubicBezTo>
                  <a:pt x="2283970" y="-17748"/>
                  <a:pt x="1665672" y="2296390"/>
                  <a:pt x="1970095" y="1931596"/>
                </a:cubicBezTo>
                <a:cubicBezTo>
                  <a:pt x="3275541" y="192028"/>
                  <a:pt x="3300319" y="1955541"/>
                  <a:pt x="3530267" y="2159782"/>
                </a:cubicBezTo>
                <a:cubicBezTo>
                  <a:pt x="3650485" y="2309882"/>
                  <a:pt x="5826630" y="1750122"/>
                  <a:pt x="5309659" y="2523042"/>
                </a:cubicBezTo>
                <a:close/>
              </a:path>
            </a:pathLst>
          </a:custGeom>
          <a:solidFill>
            <a:srgbClr val="437f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微软雅黑"/>
            </a:endParaRPr>
          </a:p>
        </p:txBody>
      </p:sp>
      <p:sp>
        <p:nvSpPr>
          <p:cNvPr id="275" name="矩形 11"/>
          <p:cNvSpPr/>
          <p:nvPr/>
        </p:nvSpPr>
        <p:spPr>
          <a:xfrm>
            <a:off x="7869240" y="5082840"/>
            <a:ext cx="4337280" cy="1774440"/>
          </a:xfrm>
          <a:custGeom>
            <a:avLst/>
            <a:gdLst>
              <a:gd name="textAreaLeft" fmla="*/ 0 w 4337280"/>
              <a:gd name="textAreaRight" fmla="*/ 4338000 w 4337280"/>
              <a:gd name="textAreaTop" fmla="*/ 0 h 1774440"/>
              <a:gd name="textAreaBottom" fmla="*/ 1775160 h 1774440"/>
            </a:gdLst>
            <a:ahLst/>
            <a:rect l="textAreaLeft" t="textAreaTop" r="textAreaRight" b="textAreaBottom"/>
            <a:pathLst>
              <a:path w="4337863" h="1775000">
                <a:moveTo>
                  <a:pt x="2310943" y="1150160"/>
                </a:moveTo>
                <a:cubicBezTo>
                  <a:pt x="3306623" y="1454960"/>
                  <a:pt x="1376223" y="-648160"/>
                  <a:pt x="4337863" y="205280"/>
                </a:cubicBezTo>
                <a:lnTo>
                  <a:pt x="4322623" y="1775000"/>
                </a:lnTo>
                <a:lnTo>
                  <a:pt x="314503" y="1775000"/>
                </a:lnTo>
                <a:cubicBezTo>
                  <a:pt x="-493217" y="738680"/>
                  <a:pt x="284023" y="586280"/>
                  <a:pt x="2310943" y="1150160"/>
                </a:cubicBezTo>
                <a:close/>
              </a:path>
            </a:pathLst>
          </a:custGeom>
          <a:solidFill>
            <a:srgbClr val="cbba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微软雅黑"/>
            </a:endParaRPr>
          </a:p>
        </p:txBody>
      </p:sp>
      <p:sp>
        <p:nvSpPr>
          <p:cNvPr id="276" name="任意多边形: 形状 14"/>
          <p:cNvSpPr/>
          <p:nvPr/>
        </p:nvSpPr>
        <p:spPr>
          <a:xfrm flipH="1" flipV="1" rot="1261200">
            <a:off x="844200" y="-462240"/>
            <a:ext cx="2931480" cy="1413000"/>
          </a:xfrm>
          <a:custGeom>
            <a:avLst/>
            <a:gdLst>
              <a:gd name="textAreaLeft" fmla="*/ 360 w 2931480"/>
              <a:gd name="textAreaRight" fmla="*/ 2932560 w 2931480"/>
              <a:gd name="textAreaTop" fmla="*/ 360 h 1413000"/>
              <a:gd name="textAreaBottom" fmla="*/ 1414080 h 1413000"/>
            </a:gdLst>
            <a:ahLst/>
            <a:rect l="textAreaLeft" t="textAreaTop" r="textAreaRight" b="textAreaBottom"/>
            <a:pathLst>
              <a:path w="4608708" h="1949134">
                <a:moveTo>
                  <a:pt x="4608708" y="612347"/>
                </a:moveTo>
                <a:lnTo>
                  <a:pt x="627416" y="1949134"/>
                </a:lnTo>
                <a:lnTo>
                  <a:pt x="596046" y="1928925"/>
                </a:lnTo>
                <a:cubicBezTo>
                  <a:pt x="179625" y="1648364"/>
                  <a:pt x="-960031" y="553643"/>
                  <a:pt x="1745193" y="1233638"/>
                </a:cubicBezTo>
                <a:cubicBezTo>
                  <a:pt x="3216455" y="1640585"/>
                  <a:pt x="559360" y="-1151268"/>
                  <a:pt x="4492609" y="561039"/>
                </a:cubicBezTo>
                <a:close/>
              </a:path>
            </a:pathLst>
          </a:custGeom>
          <a:solidFill>
            <a:srgbClr val="cbba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微软雅黑"/>
            </a:endParaRPr>
          </a:p>
        </p:txBody>
      </p:sp>
      <p:sp>
        <p:nvSpPr>
          <p:cNvPr id="277" name="任意多边形: 形状 25"/>
          <p:cNvSpPr/>
          <p:nvPr/>
        </p:nvSpPr>
        <p:spPr>
          <a:xfrm flipV="1">
            <a:off x="3714120" y="-720"/>
            <a:ext cx="2189160" cy="1209240"/>
          </a:xfrm>
          <a:custGeom>
            <a:avLst/>
            <a:gdLst>
              <a:gd name="textAreaLeft" fmla="*/ 0 w 2189160"/>
              <a:gd name="textAreaRight" fmla="*/ 2189880 w 2189160"/>
              <a:gd name="textAreaTop" fmla="*/ 360 h 1209240"/>
              <a:gd name="textAreaBottom" fmla="*/ 1210320 h 1209240"/>
            </a:gdLst>
            <a:ahLst/>
            <a:rect l="textAreaLeft" t="textAreaTop" r="textAreaRight" b="textAreaBottom"/>
            <a:pathLst>
              <a:path w="2190032" h="1209887">
                <a:moveTo>
                  <a:pt x="0" y="1209887"/>
                </a:moveTo>
                <a:lnTo>
                  <a:pt x="2186519" y="1209887"/>
                </a:lnTo>
                <a:lnTo>
                  <a:pt x="2189593" y="1095953"/>
                </a:lnTo>
                <a:cubicBezTo>
                  <a:pt x="2196276" y="565249"/>
                  <a:pt x="2131174" y="-8823"/>
                  <a:pt x="1691820" y="103"/>
                </a:cubicBezTo>
                <a:cubicBezTo>
                  <a:pt x="1390375" y="6226"/>
                  <a:pt x="912751" y="286795"/>
                  <a:pt x="161257" y="1044115"/>
                </a:cubicBezTo>
                <a:close/>
              </a:path>
            </a:pathLst>
          </a:custGeom>
          <a:solidFill>
            <a:srgbClr val="dde6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微软雅黑"/>
            </a:endParaRPr>
          </a:p>
        </p:txBody>
      </p:sp>
      <p:sp>
        <p:nvSpPr>
          <p:cNvPr id="278" name="图片 56"/>
          <p:cNvSpPr/>
          <p:nvPr/>
        </p:nvSpPr>
        <p:spPr>
          <a:xfrm>
            <a:off x="10460520" y="-27720"/>
            <a:ext cx="1746000" cy="1683360"/>
          </a:xfrm>
          <a:custGeom>
            <a:avLst/>
            <a:gdLst>
              <a:gd name="textAreaLeft" fmla="*/ 0 w 1746000"/>
              <a:gd name="textAreaRight" fmla="*/ 1746720 w 1746000"/>
              <a:gd name="textAreaTop" fmla="*/ 0 h 1683360"/>
              <a:gd name="textAreaBottom" fmla="*/ 1684080 h 1683360"/>
            </a:gdLst>
            <a:ahLst/>
            <a:rect l="textAreaLeft" t="textAreaTop" r="textAreaRight" b="textAreaBottom"/>
            <a:pathLst>
              <a:path w="1746571" h="1684066">
                <a:moveTo>
                  <a:pt x="0" y="0"/>
                </a:moveTo>
                <a:lnTo>
                  <a:pt x="1746571" y="0"/>
                </a:lnTo>
                <a:lnTo>
                  <a:pt x="1746571" y="1684066"/>
                </a:lnTo>
                <a:lnTo>
                  <a:pt x="0" y="1684066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微软雅黑"/>
            </a:endParaRPr>
          </a:p>
        </p:txBody>
      </p:sp>
      <p:sp>
        <p:nvSpPr>
          <p:cNvPr id="279" name="图片 62"/>
          <p:cNvSpPr/>
          <p:nvPr/>
        </p:nvSpPr>
        <p:spPr>
          <a:xfrm>
            <a:off x="0" y="5082840"/>
            <a:ext cx="5442840" cy="1774440"/>
          </a:xfrm>
          <a:custGeom>
            <a:avLst/>
            <a:gdLst>
              <a:gd name="textAreaLeft" fmla="*/ 0 w 5442840"/>
              <a:gd name="textAreaRight" fmla="*/ 5443560 w 5442840"/>
              <a:gd name="textAreaTop" fmla="*/ 0 h 1774440"/>
              <a:gd name="textAreaBottom" fmla="*/ 1775160 h 1774440"/>
            </a:gdLst>
            <a:ahLst/>
            <a:rect l="textAreaLeft" t="textAreaTop" r="textAreaRight" b="textAreaBottom"/>
            <a:pathLst>
              <a:path w="5443464" h="1775001">
                <a:moveTo>
                  <a:pt x="0" y="0"/>
                </a:moveTo>
                <a:lnTo>
                  <a:pt x="5443464" y="0"/>
                </a:lnTo>
                <a:lnTo>
                  <a:pt x="5443464" y="1775001"/>
                </a:lnTo>
                <a:lnTo>
                  <a:pt x="0" y="1775001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微软雅黑"/>
            </a:endParaRPr>
          </a:p>
        </p:txBody>
      </p:sp>
      <p:sp>
        <p:nvSpPr>
          <p:cNvPr id="280" name="图片 50"/>
          <p:cNvSpPr/>
          <p:nvPr/>
        </p:nvSpPr>
        <p:spPr>
          <a:xfrm>
            <a:off x="-645840" y="-27720"/>
            <a:ext cx="2480400" cy="2022120"/>
          </a:xfrm>
          <a:custGeom>
            <a:avLst/>
            <a:gdLst>
              <a:gd name="textAreaLeft" fmla="*/ 0 w 2480400"/>
              <a:gd name="textAreaRight" fmla="*/ 2481120 w 2480400"/>
              <a:gd name="textAreaTop" fmla="*/ 0 h 2022120"/>
              <a:gd name="textAreaBottom" fmla="*/ 2022840 h 2022120"/>
            </a:gdLst>
            <a:ahLst/>
            <a:rect l="textAreaLeft" t="textAreaTop" r="textAreaRight" b="textAreaBottom"/>
            <a:pathLst>
              <a:path w="2481287" h="2022787">
                <a:moveTo>
                  <a:pt x="0" y="0"/>
                </a:moveTo>
                <a:lnTo>
                  <a:pt x="2481287" y="0"/>
                </a:lnTo>
                <a:lnTo>
                  <a:pt x="2481287" y="2022787"/>
                </a:lnTo>
                <a:lnTo>
                  <a:pt x="645825" y="2022787"/>
                </a:lnTo>
                <a:lnTo>
                  <a:pt x="645825" y="576367"/>
                </a:lnTo>
                <a:lnTo>
                  <a:pt x="0" y="576367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微软雅黑"/>
            </a:endParaRPr>
          </a:p>
        </p:txBody>
      </p:sp>
      <p:sp>
        <p:nvSpPr>
          <p:cNvPr id="281" name="图片 85"/>
          <p:cNvSpPr/>
          <p:nvPr/>
        </p:nvSpPr>
        <p:spPr>
          <a:xfrm flipV="1" rot="18409200">
            <a:off x="80280" y="723600"/>
            <a:ext cx="1583280" cy="2881080"/>
          </a:xfrm>
          <a:custGeom>
            <a:avLst/>
            <a:gdLst>
              <a:gd name="textAreaLeft" fmla="*/ 0 w 1583280"/>
              <a:gd name="textAreaRight" fmla="*/ 1583640 w 1583280"/>
              <a:gd name="textAreaTop" fmla="*/ 360 h 2881080"/>
              <a:gd name="textAreaBottom" fmla="*/ 2882160 h 2881080"/>
            </a:gdLst>
            <a:ahLst/>
            <a:rect l="textAreaLeft" t="textAreaTop" r="textAreaRight" b="textAreaBottom"/>
            <a:pathLst>
              <a:path w="1722646" h="4034899">
                <a:moveTo>
                  <a:pt x="1722646" y="4034899"/>
                </a:moveTo>
                <a:lnTo>
                  <a:pt x="1722646" y="0"/>
                </a:lnTo>
                <a:lnTo>
                  <a:pt x="0" y="0"/>
                </a:lnTo>
                <a:lnTo>
                  <a:pt x="0" y="2938701"/>
                </a:lnTo>
                <a:lnTo>
                  <a:pt x="1463990" y="4034899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微软雅黑"/>
            </a:endParaRPr>
          </a:p>
        </p:txBody>
      </p:sp>
      <p:sp>
        <p:nvSpPr>
          <p:cNvPr id="282" name="图片 87"/>
          <p:cNvSpPr/>
          <p:nvPr/>
        </p:nvSpPr>
        <p:spPr>
          <a:xfrm rot="17386200">
            <a:off x="10214280" y="3364920"/>
            <a:ext cx="1480680" cy="2761920"/>
          </a:xfrm>
          <a:custGeom>
            <a:avLst/>
            <a:gdLst>
              <a:gd name="textAreaLeft" fmla="*/ 0 w 1480680"/>
              <a:gd name="textAreaRight" fmla="*/ 1481400 w 1480680"/>
              <a:gd name="textAreaTop" fmla="*/ 0 h 2761920"/>
              <a:gd name="textAreaBottom" fmla="*/ 2762640 h 2761920"/>
            </a:gdLst>
            <a:ahLst/>
            <a:rect l="textAreaLeft" t="textAreaTop" r="textAreaRight" b="textAreaBottom"/>
            <a:pathLst>
              <a:path w="1338404" h="3254651">
                <a:moveTo>
                  <a:pt x="1338404" y="0"/>
                </a:moveTo>
                <a:lnTo>
                  <a:pt x="1338404" y="2949509"/>
                </a:lnTo>
                <a:lnTo>
                  <a:pt x="489174" y="3254651"/>
                </a:lnTo>
                <a:lnTo>
                  <a:pt x="0" y="325465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微软雅黑"/>
            </a:endParaRPr>
          </a:p>
        </p:txBody>
      </p:sp>
      <p:pic>
        <p:nvPicPr>
          <p:cNvPr id="283" name="图片 77" descr=""/>
          <p:cNvPicPr/>
          <p:nvPr/>
        </p:nvPicPr>
        <p:blipFill>
          <a:blip r:embed="rId6"/>
          <a:stretch/>
        </p:blipFill>
        <p:spPr>
          <a:xfrm rot="9104400">
            <a:off x="1539360" y="1578960"/>
            <a:ext cx="336960" cy="401400"/>
          </a:xfrm>
          <a:prstGeom prst="rect">
            <a:avLst/>
          </a:prstGeom>
          <a:ln w="0">
            <a:noFill/>
          </a:ln>
        </p:spPr>
      </p:pic>
      <p:pic>
        <p:nvPicPr>
          <p:cNvPr id="284" name="图片 78" descr=""/>
          <p:cNvPicPr/>
          <p:nvPr/>
        </p:nvPicPr>
        <p:blipFill>
          <a:blip r:embed="rId7"/>
          <a:stretch/>
        </p:blipFill>
        <p:spPr>
          <a:xfrm>
            <a:off x="9634680" y="5071680"/>
            <a:ext cx="270720" cy="322560"/>
          </a:xfrm>
          <a:prstGeom prst="rect">
            <a:avLst/>
          </a:prstGeom>
          <a:ln w="0">
            <a:noFill/>
          </a:ln>
        </p:spPr>
      </p:pic>
      <p:pic>
        <p:nvPicPr>
          <p:cNvPr id="285" name="图片 79" descr=""/>
          <p:cNvPicPr/>
          <p:nvPr/>
        </p:nvPicPr>
        <p:blipFill>
          <a:blip r:embed="rId8"/>
          <a:stretch/>
        </p:blipFill>
        <p:spPr>
          <a:xfrm rot="13770600">
            <a:off x="11165040" y="3863160"/>
            <a:ext cx="336960" cy="401400"/>
          </a:xfrm>
          <a:prstGeom prst="rect">
            <a:avLst/>
          </a:prstGeom>
          <a:ln w="0">
            <a:noFill/>
          </a:ln>
        </p:spPr>
      </p:pic>
      <p:pic>
        <p:nvPicPr>
          <p:cNvPr id="286" name="图片 80" descr=""/>
          <p:cNvPicPr/>
          <p:nvPr/>
        </p:nvPicPr>
        <p:blipFill>
          <a:blip r:embed="rId9"/>
          <a:stretch/>
        </p:blipFill>
        <p:spPr>
          <a:xfrm>
            <a:off x="776160" y="660600"/>
            <a:ext cx="270720" cy="322560"/>
          </a:xfrm>
          <a:prstGeom prst="rect">
            <a:avLst/>
          </a:prstGeom>
          <a:ln w="0">
            <a:noFill/>
          </a:ln>
        </p:spPr>
      </p:pic>
      <p:pic>
        <p:nvPicPr>
          <p:cNvPr id="287" name="图片 81" descr=""/>
          <p:cNvPicPr/>
          <p:nvPr/>
        </p:nvPicPr>
        <p:blipFill>
          <a:blip r:embed="rId10"/>
          <a:stretch/>
        </p:blipFill>
        <p:spPr>
          <a:xfrm>
            <a:off x="768960" y="2760480"/>
            <a:ext cx="270720" cy="322560"/>
          </a:xfrm>
          <a:prstGeom prst="rect">
            <a:avLst/>
          </a:prstGeom>
          <a:ln w="0">
            <a:noFill/>
          </a:ln>
        </p:spPr>
      </p:pic>
      <p:pic>
        <p:nvPicPr>
          <p:cNvPr id="288" name="图片 82" descr=""/>
          <p:cNvPicPr/>
          <p:nvPr/>
        </p:nvPicPr>
        <p:blipFill>
          <a:blip r:embed="rId11"/>
          <a:stretch/>
        </p:blipFill>
        <p:spPr>
          <a:xfrm rot="5848200">
            <a:off x="9916920" y="2440440"/>
            <a:ext cx="270720" cy="322560"/>
          </a:xfrm>
          <a:prstGeom prst="rect">
            <a:avLst/>
          </a:prstGeom>
          <a:ln w="0">
            <a:noFill/>
          </a:ln>
        </p:spPr>
      </p:pic>
      <p:pic>
        <p:nvPicPr>
          <p:cNvPr id="289" name="图片 83" descr=""/>
          <p:cNvPicPr/>
          <p:nvPr/>
        </p:nvPicPr>
        <p:blipFill>
          <a:blip r:embed="rId12"/>
          <a:stretch/>
        </p:blipFill>
        <p:spPr>
          <a:xfrm rot="7431000">
            <a:off x="2851560" y="4844520"/>
            <a:ext cx="314640" cy="375120"/>
          </a:xfrm>
          <a:prstGeom prst="rect">
            <a:avLst/>
          </a:prstGeom>
          <a:ln w="0">
            <a:noFill/>
          </a:ln>
        </p:spPr>
      </p:pic>
      <p:pic>
        <p:nvPicPr>
          <p:cNvPr id="290" name="图片 90" descr=""/>
          <p:cNvPicPr/>
          <p:nvPr/>
        </p:nvPicPr>
        <p:blipFill>
          <a:blip r:embed="rId13"/>
          <a:srcRect l="23810" t="50006" r="61590" b="37825"/>
          <a:stretch/>
        </p:blipFill>
        <p:spPr>
          <a:xfrm rot="20863200">
            <a:off x="9224280" y="1700640"/>
            <a:ext cx="458640" cy="382680"/>
          </a:xfrm>
          <a:prstGeom prst="rect">
            <a:avLst/>
          </a:prstGeom>
          <a:ln w="0">
            <a:noFill/>
          </a:ln>
        </p:spPr>
      </p:pic>
      <p:pic>
        <p:nvPicPr>
          <p:cNvPr id="291" name="图片 91" descr=""/>
          <p:cNvPicPr/>
          <p:nvPr/>
        </p:nvPicPr>
        <p:blipFill>
          <a:blip r:embed="rId14"/>
          <a:srcRect l="23810" t="50006" r="61590" b="37825"/>
          <a:stretch/>
        </p:blipFill>
        <p:spPr>
          <a:xfrm rot="1158600">
            <a:off x="4947120" y="622080"/>
            <a:ext cx="458640" cy="382680"/>
          </a:xfrm>
          <a:prstGeom prst="rect">
            <a:avLst/>
          </a:prstGeom>
          <a:ln w="0">
            <a:noFill/>
          </a:ln>
        </p:spPr>
      </p:pic>
      <p:pic>
        <p:nvPicPr>
          <p:cNvPr id="292" name="图片 92" descr=""/>
          <p:cNvPicPr/>
          <p:nvPr/>
        </p:nvPicPr>
        <p:blipFill>
          <a:blip r:embed="rId15"/>
          <a:srcRect l="23810" t="50006" r="61590" b="37825"/>
          <a:stretch/>
        </p:blipFill>
        <p:spPr>
          <a:xfrm rot="1147200">
            <a:off x="2304720" y="4253760"/>
            <a:ext cx="458640" cy="382680"/>
          </a:xfrm>
          <a:prstGeom prst="rect">
            <a:avLst/>
          </a:prstGeom>
          <a:ln w="0">
            <a:noFill/>
          </a:ln>
        </p:spPr>
      </p:pic>
      <p:sp>
        <p:nvSpPr>
          <p:cNvPr id="293" name="椭圆 1"/>
          <p:cNvSpPr/>
          <p:nvPr/>
        </p:nvSpPr>
        <p:spPr>
          <a:xfrm>
            <a:off x="5613120" y="1986840"/>
            <a:ext cx="1180080" cy="1171080"/>
          </a:xfrm>
          <a:prstGeom prst="ellipse">
            <a:avLst/>
          </a:prstGeom>
          <a:solidFill>
            <a:srgbClr val="437f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微软雅黑"/>
            </a:endParaRPr>
          </a:p>
        </p:txBody>
      </p:sp>
      <p:sp>
        <p:nvSpPr>
          <p:cNvPr id="294" name="文本框 3"/>
          <p:cNvSpPr/>
          <p:nvPr/>
        </p:nvSpPr>
        <p:spPr>
          <a:xfrm>
            <a:off x="5728320" y="2221560"/>
            <a:ext cx="85428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4000" spc="-1" strike="noStrike">
                <a:solidFill>
                  <a:schemeClr val="lt1"/>
                </a:solidFill>
                <a:latin typeface="Arial"/>
                <a:ea typeface="微软雅黑"/>
              </a:rPr>
              <a:t>03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文本框 29"/>
          <p:cNvSpPr/>
          <p:nvPr/>
        </p:nvSpPr>
        <p:spPr>
          <a:xfrm>
            <a:off x="2700720" y="3454920"/>
            <a:ext cx="700452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zh-CN" sz="6000" spc="-1" strike="noStrike">
                <a:solidFill>
                  <a:srgbClr val="437f76"/>
                </a:solidFill>
                <a:latin typeface="方正粗宋简体"/>
                <a:ea typeface="方正粗宋简体"/>
              </a:rPr>
              <a:t>怎样学好高中数学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>
        <p:random/>
      </p:transition>
    </mc:Choice>
    <mc:Fallback>
      <p:transition spd="slow">
        <p:random/>
      </p:transition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文本框 27"/>
          <p:cNvSpPr/>
          <p:nvPr/>
        </p:nvSpPr>
        <p:spPr>
          <a:xfrm>
            <a:off x="790200" y="278280"/>
            <a:ext cx="93459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zh-CN" sz="3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经典繁毛楷"/>
                <a:ea typeface="经典繁毛楷"/>
              </a:rPr>
              <a:t>怎样学好高中数学</a:t>
            </a:r>
            <a:r>
              <a:rPr b="0" lang="en-US" sz="3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经典繁毛楷"/>
                <a:ea typeface="经典繁毛楷"/>
              </a:rPr>
              <a:t>——</a:t>
            </a:r>
            <a:r>
              <a:rPr b="0" lang="zh-CN" sz="3600" spc="-1" strike="noStrike">
                <a:solidFill>
                  <a:srgbClr val="c00000"/>
                </a:solidFill>
                <a:latin typeface="经典繁毛楷"/>
                <a:ea typeface="经典繁毛楷"/>
              </a:rPr>
              <a:t>转变认知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7" name="图片 28" descr=""/>
          <p:cNvPicPr/>
          <p:nvPr/>
        </p:nvPicPr>
        <p:blipFill>
          <a:blip r:embed="rId1"/>
          <a:stretch/>
        </p:blipFill>
        <p:spPr>
          <a:xfrm>
            <a:off x="378720" y="407160"/>
            <a:ext cx="410760" cy="387720"/>
          </a:xfrm>
          <a:prstGeom prst="rect">
            <a:avLst/>
          </a:prstGeom>
          <a:ln w="0">
            <a:noFill/>
          </a:ln>
        </p:spPr>
      </p:pic>
      <p:sp>
        <p:nvSpPr>
          <p:cNvPr id="298" name="矩形 1"/>
          <p:cNvSpPr/>
          <p:nvPr/>
        </p:nvSpPr>
        <p:spPr>
          <a:xfrm>
            <a:off x="493200" y="1515240"/>
            <a:ext cx="2997360" cy="10702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4400" spc="-1" strike="noStrike">
                <a:solidFill>
                  <a:schemeClr val="lt1"/>
                </a:solidFill>
                <a:latin typeface="Arial"/>
                <a:ea typeface="微软雅黑"/>
              </a:rPr>
              <a:t>有数学天赋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99" name="直接箭头连接符 4"/>
          <p:cNvCxnSpPr/>
          <p:nvPr/>
        </p:nvCxnSpPr>
        <p:spPr>
          <a:xfrm>
            <a:off x="3752280" y="1854720"/>
            <a:ext cx="4624920" cy="720"/>
          </a:xfrm>
          <a:prstGeom prst="straightConnector1">
            <a:avLst/>
          </a:prstGeom>
          <a:ln w="76200">
            <a:solidFill>
              <a:srgbClr val="d92018"/>
            </a:solidFill>
            <a:round/>
            <a:tailEnd len="med" type="triangle" w="med"/>
          </a:ln>
        </p:spPr>
      </p:cxnSp>
      <p:sp>
        <p:nvSpPr>
          <p:cNvPr id="300" name="矩形 7"/>
          <p:cNvSpPr/>
          <p:nvPr/>
        </p:nvSpPr>
        <p:spPr>
          <a:xfrm>
            <a:off x="8637840" y="1515240"/>
            <a:ext cx="2997360" cy="10702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4400" spc="-1" strike="noStrike">
                <a:solidFill>
                  <a:schemeClr val="lt1"/>
                </a:solidFill>
                <a:latin typeface="Arial"/>
                <a:ea typeface="微软雅黑"/>
              </a:rPr>
              <a:t>学好数学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301" name="组合 12"/>
          <p:cNvGrpSpPr/>
          <p:nvPr/>
        </p:nvGrpSpPr>
        <p:grpSpPr>
          <a:xfrm>
            <a:off x="3752280" y="2116080"/>
            <a:ext cx="4624560" cy="470520"/>
            <a:chOff x="3752280" y="2116080"/>
            <a:chExt cx="4624560" cy="470520"/>
          </a:xfrm>
        </p:grpSpPr>
        <p:cxnSp>
          <p:nvCxnSpPr>
            <p:cNvPr id="302" name="直接箭头连接符 10"/>
            <p:cNvCxnSpPr/>
            <p:nvPr/>
          </p:nvCxnSpPr>
          <p:spPr>
            <a:xfrm flipH="1">
              <a:off x="3752280" y="2377440"/>
              <a:ext cx="4624920" cy="720"/>
            </a:xfrm>
            <a:prstGeom prst="straightConnector1">
              <a:avLst/>
            </a:prstGeom>
            <a:ln w="76200">
              <a:solidFill>
                <a:srgbClr val="d92018"/>
              </a:solidFill>
              <a:round/>
              <a:tailEnd len="med" type="triangle" w="med"/>
            </a:ln>
          </p:spPr>
        </p:cxnSp>
        <p:cxnSp>
          <p:nvCxnSpPr>
            <p:cNvPr id="303" name="直接连接符 9"/>
            <p:cNvCxnSpPr/>
            <p:nvPr/>
          </p:nvCxnSpPr>
          <p:spPr>
            <a:xfrm flipH="1">
              <a:off x="5695200" y="2116080"/>
              <a:ext cx="810720" cy="470880"/>
            </a:xfrm>
            <a:prstGeom prst="straightConnector1">
              <a:avLst/>
            </a:prstGeom>
            <a:ln w="76200">
              <a:solidFill>
                <a:srgbClr val="d92018"/>
              </a:solidFill>
              <a:round/>
            </a:ln>
          </p:spPr>
        </p:cxnSp>
      </p:grpSp>
      <p:sp>
        <p:nvSpPr>
          <p:cNvPr id="304" name="矩形 11"/>
          <p:cNvSpPr/>
          <p:nvPr/>
        </p:nvSpPr>
        <p:spPr>
          <a:xfrm>
            <a:off x="790200" y="3516840"/>
            <a:ext cx="10441800" cy="22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7200" indent="-45720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zh-CN" sz="3200" spc="-1" strike="noStrike">
                <a:solidFill>
                  <a:schemeClr val="dk1"/>
                </a:solidFill>
                <a:latin typeface="微软雅黑"/>
                <a:ea typeface="微软雅黑"/>
              </a:rPr>
              <a:t>比起天赋，更需要坚持不懈的努力</a:t>
            </a:r>
            <a:r>
              <a:rPr b="0" lang="en-US" sz="3200" spc="-1" strike="noStrike">
                <a:solidFill>
                  <a:schemeClr val="dk1"/>
                </a:solidFill>
                <a:latin typeface="微软雅黑"/>
                <a:ea typeface="微软雅黑"/>
              </a:rPr>
              <a:t>+</a:t>
            </a:r>
            <a:r>
              <a:rPr b="0" lang="zh-CN" sz="3200" spc="-1" strike="noStrike">
                <a:solidFill>
                  <a:schemeClr val="dk1"/>
                </a:solidFill>
                <a:latin typeface="微软雅黑"/>
                <a:ea typeface="微软雅黑"/>
              </a:rPr>
              <a:t>适合自己的方法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zh-CN" sz="3200" spc="-1" strike="noStrike">
                <a:solidFill>
                  <a:schemeClr val="dk1"/>
                </a:solidFill>
                <a:latin typeface="微软雅黑"/>
                <a:ea typeface="微软雅黑"/>
              </a:rPr>
              <a:t>有一颗不畏惧数学，不害怕困难的♥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zh-CN" sz="3200" spc="-1" strike="noStrike">
                <a:solidFill>
                  <a:schemeClr val="dk1"/>
                </a:solidFill>
                <a:latin typeface="微软雅黑"/>
                <a:ea typeface="微软雅黑"/>
              </a:rPr>
              <a:t>相信老师，互帮互助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>
        <p:random/>
      </p:transition>
    </mc:Choice>
    <mc:Fallback>
      <p:transition spd="slow">
        <p:random/>
      </p:transition>
    </mc:Fallback>
  </mc:AlternateContent>
  <p:timing>
    <p:tnLst>
      <p:par>
        <p:cTn id="254" dur="indefinite" restart="never" nodeType="tmRoot">
          <p:childTnLst>
            <p:seq>
              <p:cTn id="255" dur="indefinite" nodeType="mainSeq">
                <p:childTnLst>
                  <p:par>
                    <p:cTn id="256" fill="hold">
                      <p:stCondLst>
                        <p:cond delay="0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60" dur="500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1" dur="500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>
                      <p:stCondLst>
                        <p:cond delay="indefinite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66"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71"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>
                      <p:stCondLst>
                        <p:cond delay="indefinite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id="27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76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nodeType="clickEffect" fill="hold" presetClass="entr" presetID="2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 additive="repl">
                                        <p:cTn id="281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" fill="hold">
                      <p:stCondLst>
                        <p:cond delay="indefinite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id="28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86"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文本框 27"/>
          <p:cNvSpPr/>
          <p:nvPr/>
        </p:nvSpPr>
        <p:spPr>
          <a:xfrm>
            <a:off x="790200" y="278280"/>
            <a:ext cx="93459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zh-CN" sz="3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经典繁毛楷"/>
                <a:ea typeface="经典繁毛楷"/>
              </a:rPr>
              <a:t>怎样学好高中数学</a:t>
            </a:r>
            <a:r>
              <a:rPr b="0" lang="en-US" sz="3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经典繁毛楷"/>
                <a:ea typeface="经典繁毛楷"/>
              </a:rPr>
              <a:t>——</a:t>
            </a:r>
            <a:r>
              <a:rPr b="0" lang="zh-CN" sz="3600" spc="-1" strike="noStrike">
                <a:solidFill>
                  <a:srgbClr val="0070c0"/>
                </a:solidFill>
                <a:latin typeface="经典繁毛楷"/>
                <a:ea typeface="经典繁毛楷"/>
              </a:rPr>
              <a:t>注重方法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6" name="图片 28" descr=""/>
          <p:cNvPicPr/>
          <p:nvPr/>
        </p:nvPicPr>
        <p:blipFill>
          <a:blip r:embed="rId1"/>
          <a:stretch/>
        </p:blipFill>
        <p:spPr>
          <a:xfrm>
            <a:off x="378720" y="407160"/>
            <a:ext cx="410760" cy="387720"/>
          </a:xfrm>
          <a:prstGeom prst="rect">
            <a:avLst/>
          </a:prstGeom>
          <a:ln w="0">
            <a:noFill/>
          </a:ln>
        </p:spPr>
      </p:pic>
      <p:sp>
        <p:nvSpPr>
          <p:cNvPr id="307" name="矩形 2"/>
          <p:cNvSpPr/>
          <p:nvPr/>
        </p:nvSpPr>
        <p:spPr>
          <a:xfrm>
            <a:off x="813600" y="3453480"/>
            <a:ext cx="2111760" cy="638280"/>
          </a:xfrm>
          <a:prstGeom prst="rect">
            <a:avLst/>
          </a:prstGeom>
          <a:noFill/>
          <a:ln w="38100">
            <a:solidFill>
              <a:srgbClr val="4282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zh-CN" sz="3600" spc="-1" strike="noStrike">
                <a:solidFill>
                  <a:srgbClr val="0070c0"/>
                </a:solidFill>
                <a:latin typeface="微软雅黑"/>
                <a:ea typeface="微软雅黑"/>
              </a:rPr>
              <a:t>课前预习</a:t>
            </a:r>
            <a:r>
              <a:rPr b="0" lang="en-US" sz="3600" spc="-1" strike="noStrike">
                <a:solidFill>
                  <a:srgbClr val="0070c0"/>
                </a:solidFill>
                <a:latin typeface="微软雅黑"/>
                <a:ea typeface="微软雅黑"/>
              </a:rPr>
              <a:t> 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矩形 3"/>
          <p:cNvSpPr/>
          <p:nvPr/>
        </p:nvSpPr>
        <p:spPr>
          <a:xfrm>
            <a:off x="3326760" y="1652760"/>
            <a:ext cx="8864640" cy="420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7200" indent="-45720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"/>
            </a:pPr>
            <a:r>
              <a:rPr b="0" lang="zh-CN" sz="3200" spc="-1" strike="noStrike">
                <a:solidFill>
                  <a:schemeClr val="dk1"/>
                </a:solidFill>
                <a:latin typeface="微软雅黑"/>
                <a:ea typeface="微软雅黑"/>
              </a:rPr>
              <a:t>这节内容讲了什么？是概念，定理还是公式？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0070c0"/>
              </a:buClr>
              <a:buFont typeface="Wingdings" charset="2"/>
              <a:buChar char=""/>
            </a:pPr>
            <a:r>
              <a:rPr b="0" lang="zh-CN" sz="2800" spc="-1" strike="noStrike">
                <a:solidFill>
                  <a:srgbClr val="0070c0"/>
                </a:solidFill>
                <a:latin typeface="微软雅黑"/>
                <a:ea typeface="微软雅黑"/>
              </a:rPr>
              <a:t>概念：能否举出正反例？回答为什么是</a:t>
            </a:r>
            <a:r>
              <a:rPr b="0" lang="en-US" sz="2800" spc="-1" strike="noStrike">
                <a:solidFill>
                  <a:srgbClr val="0070c0"/>
                </a:solidFill>
                <a:latin typeface="微软雅黑"/>
                <a:ea typeface="微软雅黑"/>
              </a:rPr>
              <a:t>/</a:t>
            </a:r>
            <a:r>
              <a:rPr b="0" lang="zh-CN" sz="2800" spc="-1" strike="noStrike">
                <a:solidFill>
                  <a:srgbClr val="0070c0"/>
                </a:solidFill>
                <a:latin typeface="微软雅黑"/>
                <a:ea typeface="微软雅黑"/>
              </a:rPr>
              <a:t>不是？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0070c0"/>
              </a:buClr>
              <a:buFont typeface="Wingdings" charset="2"/>
              <a:buChar char=""/>
            </a:pPr>
            <a:r>
              <a:rPr b="0" lang="zh-CN" sz="2800" spc="-1" strike="noStrike">
                <a:solidFill>
                  <a:srgbClr val="0070c0"/>
                </a:solidFill>
                <a:latin typeface="微软雅黑"/>
                <a:ea typeface="微软雅黑"/>
              </a:rPr>
              <a:t>定理：这个定理是怎么证明出来的？有什么用？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0070c0"/>
              </a:buClr>
              <a:buFont typeface="Wingdings" charset="2"/>
              <a:buChar char=""/>
            </a:pPr>
            <a:r>
              <a:rPr b="0" lang="zh-CN" sz="2800" spc="-1" strike="noStrike">
                <a:solidFill>
                  <a:srgbClr val="0070c0"/>
                </a:solidFill>
                <a:latin typeface="微软雅黑"/>
                <a:ea typeface="微软雅黑"/>
              </a:rPr>
              <a:t>公式：这个公式如何推导？结构如何？怎么用？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"/>
            </a:pPr>
            <a:r>
              <a:rPr b="0" lang="zh-CN" sz="3200" spc="-1" strike="noStrike">
                <a:solidFill>
                  <a:schemeClr val="dk1"/>
                </a:solidFill>
                <a:latin typeface="微软雅黑"/>
                <a:ea typeface="微软雅黑"/>
              </a:rPr>
              <a:t>哪里没看懂？你是如何理解的？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"/>
            </a:pPr>
            <a:r>
              <a:rPr b="0" lang="zh-CN" sz="3200" spc="-1" strike="noStrike">
                <a:solidFill>
                  <a:schemeClr val="dk1"/>
                </a:solidFill>
                <a:latin typeface="微软雅黑"/>
                <a:ea typeface="微软雅黑"/>
              </a:rPr>
              <a:t>这节内容与之前学习的知识的联系？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>
        <p:random/>
      </p:transition>
    </mc:Choice>
    <mc:Fallback>
      <p:transition spd="slow">
        <p:random/>
      </p:transition>
    </mc:Fallback>
  </mc:AlternateContent>
  <p:timing>
    <p:tnLst>
      <p:par>
        <p:cTn id="287" dur="indefinite" restart="never" nodeType="tmRoot">
          <p:childTnLst>
            <p:seq>
              <p:cTn id="288" dur="indefinite" nodeType="mainSeq">
                <p:childTnLst>
                  <p:par>
                    <p:cTn id="289" fill="hold">
                      <p:stCondLst>
                        <p:cond delay="0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93" dur="500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94" dur="500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文本框 27"/>
          <p:cNvSpPr/>
          <p:nvPr/>
        </p:nvSpPr>
        <p:spPr>
          <a:xfrm>
            <a:off x="790200" y="278280"/>
            <a:ext cx="93459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zh-CN" sz="3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经典繁毛楷"/>
                <a:ea typeface="经典繁毛楷"/>
              </a:rPr>
              <a:t>怎样学好高中数学</a:t>
            </a:r>
            <a:r>
              <a:rPr b="0" lang="en-US" sz="3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经典繁毛楷"/>
                <a:ea typeface="经典繁毛楷"/>
              </a:rPr>
              <a:t>——</a:t>
            </a:r>
            <a:r>
              <a:rPr b="0" lang="zh-CN" sz="3600" spc="-1" strike="noStrike">
                <a:solidFill>
                  <a:srgbClr val="0070c0"/>
                </a:solidFill>
                <a:latin typeface="经典繁毛楷"/>
                <a:ea typeface="经典繁毛楷"/>
              </a:rPr>
              <a:t>注重方法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0" name="图片 28" descr=""/>
          <p:cNvPicPr/>
          <p:nvPr/>
        </p:nvPicPr>
        <p:blipFill>
          <a:blip r:embed="rId1"/>
          <a:stretch/>
        </p:blipFill>
        <p:spPr>
          <a:xfrm>
            <a:off x="378720" y="407160"/>
            <a:ext cx="410760" cy="387720"/>
          </a:xfrm>
          <a:prstGeom prst="rect">
            <a:avLst/>
          </a:prstGeom>
          <a:ln w="0">
            <a:noFill/>
          </a:ln>
        </p:spPr>
      </p:pic>
      <p:sp>
        <p:nvSpPr>
          <p:cNvPr id="311" name="矩形 2"/>
          <p:cNvSpPr/>
          <p:nvPr/>
        </p:nvSpPr>
        <p:spPr>
          <a:xfrm>
            <a:off x="864720" y="3453480"/>
            <a:ext cx="2009520" cy="638280"/>
          </a:xfrm>
          <a:prstGeom prst="rect">
            <a:avLst/>
          </a:prstGeom>
          <a:noFill/>
          <a:ln w="38100">
            <a:solidFill>
              <a:srgbClr val="4282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zh-CN" sz="3600" spc="-1" strike="noStrike">
                <a:solidFill>
                  <a:srgbClr val="0070c0"/>
                </a:solidFill>
                <a:latin typeface="微软雅黑"/>
                <a:ea typeface="微软雅黑"/>
              </a:rPr>
              <a:t>课中听课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矩形 1"/>
          <p:cNvSpPr/>
          <p:nvPr/>
        </p:nvSpPr>
        <p:spPr>
          <a:xfrm>
            <a:off x="3274560" y="1130400"/>
            <a:ext cx="8916840" cy="47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7200" indent="-457200" defTabSz="914400">
              <a:lnSpc>
                <a:spcPct val="120000"/>
              </a:lnSpc>
              <a:buClr>
                <a:srgbClr val="000000"/>
              </a:buClr>
              <a:buFont typeface="Wingdings" charset="2"/>
              <a:buChar char=""/>
            </a:pPr>
            <a:r>
              <a:rPr b="0" lang="zh-CN" sz="2800" spc="-1" strike="noStrike">
                <a:solidFill>
                  <a:schemeClr val="dk1"/>
                </a:solidFill>
                <a:latin typeface="微软雅黑"/>
                <a:ea typeface="微软雅黑"/>
              </a:rPr>
              <a:t>提前准备好书本、草稿本、笔记本</a:t>
            </a:r>
            <a:r>
              <a:rPr b="0" lang="en-US" sz="2800" spc="-1" strike="noStrike">
                <a:solidFill>
                  <a:schemeClr val="dk1"/>
                </a:solidFill>
                <a:latin typeface="微软雅黑"/>
                <a:ea typeface="微软雅黑"/>
              </a:rPr>
              <a:t>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20000"/>
              </a:lnSpc>
              <a:buClr>
                <a:srgbClr val="000000"/>
              </a:buClr>
              <a:buFont typeface="Wingdings" charset="2"/>
              <a:buChar char=""/>
            </a:pPr>
            <a:r>
              <a:rPr b="0" lang="zh-CN" sz="2800" spc="-1" strike="noStrike">
                <a:solidFill>
                  <a:schemeClr val="dk1"/>
                </a:solidFill>
                <a:latin typeface="微软雅黑"/>
                <a:ea typeface="微软雅黑"/>
              </a:rPr>
              <a:t>上课优先听课、思考与练习，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20000"/>
              </a:lnSpc>
              <a:buClr>
                <a:srgbClr val="0070c0"/>
              </a:buClr>
              <a:buFont typeface="Wingdings" charset="2"/>
              <a:buChar char=""/>
            </a:pPr>
            <a:r>
              <a:rPr b="0" lang="zh-CN" sz="2400" spc="-1" strike="noStrike">
                <a:solidFill>
                  <a:srgbClr val="0070c0"/>
                </a:solidFill>
                <a:latin typeface="微软雅黑"/>
                <a:ea typeface="微软雅黑"/>
              </a:rPr>
              <a:t>耳到：老师是如何推导？如何找切入口？如何分析的？同学们是怎么想的？我为啥没想到？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20000"/>
              </a:lnSpc>
              <a:buClr>
                <a:srgbClr val="0070c0"/>
              </a:buClr>
              <a:buFont typeface="Wingdings" charset="2"/>
              <a:buChar char=""/>
            </a:pPr>
            <a:r>
              <a:rPr b="0" lang="zh-CN" sz="2400" spc="-1" strike="noStrike">
                <a:solidFill>
                  <a:srgbClr val="0070c0"/>
                </a:solidFill>
                <a:latin typeface="微软雅黑"/>
                <a:ea typeface="微软雅黑"/>
              </a:rPr>
              <a:t>眼到：老师同学的板演过程，书本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20000"/>
              </a:lnSpc>
              <a:buClr>
                <a:srgbClr val="0070c0"/>
              </a:buClr>
              <a:buFont typeface="Wingdings" charset="2"/>
              <a:buChar char=""/>
            </a:pPr>
            <a:r>
              <a:rPr b="0" lang="zh-CN" sz="2400" spc="-1" strike="noStrike">
                <a:solidFill>
                  <a:srgbClr val="0070c0"/>
                </a:solidFill>
                <a:latin typeface="微软雅黑"/>
                <a:ea typeface="微软雅黑"/>
              </a:rPr>
              <a:t>心到：跟上老师的思路，用心思考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20000"/>
              </a:lnSpc>
              <a:buClr>
                <a:srgbClr val="0070c0"/>
              </a:buClr>
              <a:buFont typeface="Wingdings" charset="2"/>
              <a:buChar char=""/>
            </a:pPr>
            <a:r>
              <a:rPr b="0" lang="zh-CN" sz="2400" spc="-1" strike="noStrike">
                <a:solidFill>
                  <a:srgbClr val="0070c0"/>
                </a:solidFill>
                <a:latin typeface="微软雅黑"/>
                <a:ea typeface="微软雅黑"/>
              </a:rPr>
              <a:t>口到：多主动回答问题、参加讨论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20000"/>
              </a:lnSpc>
              <a:buClr>
                <a:srgbClr val="0070c0"/>
              </a:buClr>
              <a:buFont typeface="Wingdings" charset="2"/>
              <a:buChar char=""/>
            </a:pPr>
            <a:r>
              <a:rPr b="0" lang="zh-CN" sz="2400" spc="-1" strike="noStrike">
                <a:solidFill>
                  <a:srgbClr val="0070c0"/>
                </a:solidFill>
                <a:latin typeface="微软雅黑"/>
                <a:ea typeface="微软雅黑"/>
              </a:rPr>
              <a:t>手到：练习时间要动笔，哪怕做不出来也要写分析过程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20000"/>
              </a:lnSpc>
              <a:buClr>
                <a:srgbClr val="000000"/>
              </a:buClr>
              <a:buFont typeface="Wingdings" charset="2"/>
              <a:buChar char=""/>
            </a:pPr>
            <a:r>
              <a:rPr b="0" lang="zh-CN" sz="2800" spc="-1" strike="noStrike">
                <a:solidFill>
                  <a:schemeClr val="dk1"/>
                </a:solidFill>
                <a:latin typeface="微软雅黑"/>
                <a:ea typeface="微软雅黑"/>
              </a:rPr>
              <a:t>没听懂的部分不纠结，在草稿本做好标记，先跟上老师，课后再问老师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>
        <p:random/>
      </p:transition>
    </mc:Choice>
    <mc:Fallback>
      <p:transition spd="slow">
        <p:random/>
      </p:transition>
    </mc:Fallback>
  </mc:AlternateContent>
  <p:timing>
    <p:tnLst>
      <p:par>
        <p:cTn id="295" dur="indefinite" restart="never" nodeType="tmRoot">
          <p:childTnLst>
            <p:seq>
              <p:cTn id="296" dur="indefinite" nodeType="mainSeq">
                <p:childTnLst>
                  <p:par>
                    <p:cTn id="297" fill="hold">
                      <p:stCondLst>
                        <p:cond delay="0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01" dur="500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02" dur="500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文本框 27"/>
          <p:cNvSpPr/>
          <p:nvPr/>
        </p:nvSpPr>
        <p:spPr>
          <a:xfrm>
            <a:off x="790200" y="278280"/>
            <a:ext cx="93459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zh-CN" sz="3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经典繁毛楷"/>
                <a:ea typeface="经典繁毛楷"/>
              </a:rPr>
              <a:t>怎样学好高中数学</a:t>
            </a:r>
            <a:r>
              <a:rPr b="0" lang="en-US" sz="3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经典繁毛楷"/>
                <a:ea typeface="经典繁毛楷"/>
              </a:rPr>
              <a:t>——</a:t>
            </a:r>
            <a:r>
              <a:rPr b="0" lang="zh-CN" sz="3600" spc="-1" strike="noStrike">
                <a:solidFill>
                  <a:srgbClr val="0070c0"/>
                </a:solidFill>
                <a:latin typeface="经典繁毛楷"/>
                <a:ea typeface="经典繁毛楷"/>
              </a:rPr>
              <a:t>注重方法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4" name="图片 28" descr=""/>
          <p:cNvPicPr/>
          <p:nvPr/>
        </p:nvPicPr>
        <p:blipFill>
          <a:blip r:embed="rId1"/>
          <a:stretch/>
        </p:blipFill>
        <p:spPr>
          <a:xfrm>
            <a:off x="378720" y="407160"/>
            <a:ext cx="410760" cy="387720"/>
          </a:xfrm>
          <a:prstGeom prst="rect">
            <a:avLst/>
          </a:prstGeom>
          <a:ln w="0">
            <a:noFill/>
          </a:ln>
        </p:spPr>
      </p:pic>
      <p:sp>
        <p:nvSpPr>
          <p:cNvPr id="315" name="矩形 2"/>
          <p:cNvSpPr/>
          <p:nvPr/>
        </p:nvSpPr>
        <p:spPr>
          <a:xfrm>
            <a:off x="813600" y="3453480"/>
            <a:ext cx="2111760" cy="638280"/>
          </a:xfrm>
          <a:prstGeom prst="rect">
            <a:avLst/>
          </a:prstGeom>
          <a:noFill/>
          <a:ln w="38100">
            <a:solidFill>
              <a:srgbClr val="4282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zh-CN" sz="3600" spc="-1" strike="noStrike">
                <a:solidFill>
                  <a:srgbClr val="0070c0"/>
                </a:solidFill>
                <a:latin typeface="微软雅黑"/>
                <a:ea typeface="微软雅黑"/>
              </a:rPr>
              <a:t>课后复习</a:t>
            </a:r>
            <a:r>
              <a:rPr b="0" lang="en-US" sz="3600" spc="-1" strike="noStrike">
                <a:solidFill>
                  <a:srgbClr val="0070c0"/>
                </a:solidFill>
                <a:latin typeface="微软雅黑"/>
                <a:ea typeface="微软雅黑"/>
              </a:rPr>
              <a:t> 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矩形 1"/>
          <p:cNvSpPr/>
          <p:nvPr/>
        </p:nvSpPr>
        <p:spPr>
          <a:xfrm>
            <a:off x="3152520" y="1283400"/>
            <a:ext cx="8551080" cy="630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7200" indent="-45720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"/>
            </a:pPr>
            <a:r>
              <a:rPr b="0" lang="zh-CN" sz="3200" spc="-1" strike="noStrike">
                <a:solidFill>
                  <a:schemeClr val="dk1"/>
                </a:solidFill>
                <a:latin typeface="微软雅黑"/>
                <a:ea typeface="微软雅黑"/>
              </a:rPr>
              <a:t>当天学习内容要及时结合课件梳理成笔记，上课例题自己要重新做一次（最晚一周一清）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"/>
            </a:pPr>
            <a:r>
              <a:rPr b="0" lang="zh-CN" sz="3200" spc="-1" strike="noStrike">
                <a:solidFill>
                  <a:schemeClr val="dk1"/>
                </a:solidFill>
                <a:latin typeface="微软雅黑"/>
                <a:ea typeface="微软雅黑"/>
              </a:rPr>
              <a:t>一个单元结束，要做一张单元思维导图，梳理知识点的联系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0070c0"/>
              </a:buClr>
              <a:buFont typeface="Wingdings" charset="2"/>
              <a:buChar char=""/>
            </a:pPr>
            <a:r>
              <a:rPr b="0" lang="zh-CN" sz="2800" spc="-1" strike="noStrike">
                <a:solidFill>
                  <a:srgbClr val="0070c0"/>
                </a:solidFill>
                <a:latin typeface="微软雅黑"/>
                <a:ea typeface="微软雅黑"/>
              </a:rPr>
              <a:t>这个单元学了什么知识？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0070c0"/>
              </a:buClr>
              <a:buFont typeface="Wingdings" charset="2"/>
              <a:buChar char=""/>
            </a:pPr>
            <a:r>
              <a:rPr b="0" lang="zh-CN" sz="2800" spc="-1" strike="noStrike">
                <a:solidFill>
                  <a:srgbClr val="0070c0"/>
                </a:solidFill>
                <a:latin typeface="微软雅黑"/>
                <a:ea typeface="微软雅黑"/>
              </a:rPr>
              <a:t>这些知识点间有什么联系？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0070c0"/>
              </a:buClr>
              <a:buFont typeface="Wingdings" charset="2"/>
              <a:buChar char=""/>
            </a:pPr>
            <a:r>
              <a:rPr b="0" lang="zh-CN" sz="2800" spc="-1" strike="noStrike">
                <a:solidFill>
                  <a:srgbClr val="0070c0"/>
                </a:solidFill>
                <a:latin typeface="微软雅黑"/>
                <a:ea typeface="微软雅黑"/>
              </a:rPr>
              <a:t>这个知识一般会考什么题目？我经常会犯什么错误？</a:t>
            </a:r>
            <a:r>
              <a:rPr b="0" lang="en-US" sz="2800" spc="-1" strike="noStrike">
                <a:solidFill>
                  <a:srgbClr val="0070c0"/>
                </a:solidFill>
                <a:latin typeface="微软雅黑"/>
                <a:ea typeface="微软雅黑"/>
              </a:rPr>
              <a:t>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>
        <p:random/>
      </p:transition>
    </mc:Choice>
    <mc:Fallback>
      <p:transition spd="slow">
        <p:random/>
      </p:transition>
    </mc:Fallback>
  </mc:AlternateContent>
  <p:timing>
    <p:tnLst>
      <p:par>
        <p:cTn id="303" dur="indefinite" restart="never" nodeType="tmRoot">
          <p:childTnLst>
            <p:seq>
              <p:cTn id="304" dur="indefinite" nodeType="mainSeq">
                <p:childTnLst>
                  <p:par>
                    <p:cTn id="305" fill="hold">
                      <p:stCondLst>
                        <p:cond delay="0"/>
                      </p:stCondLst>
                      <p:childTnLst>
                        <p:par>
                          <p:cTn id="306" fill="hold">
                            <p:stCondLst>
                              <p:cond delay="0"/>
                            </p:stCondLst>
                            <p:childTnLst>
                              <p:par>
                                <p:cTn id="307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09" dur="500" fill="hold"/>
                                        <p:tgtEl>
                                          <p:spTgt spid="3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10" dur="500" fill="hold"/>
                                        <p:tgtEl>
                                          <p:spTgt spid="3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图片 25" descr=""/>
          <p:cNvPicPr/>
          <p:nvPr/>
        </p:nvPicPr>
        <p:blipFill>
          <a:blip r:embed="rId1"/>
          <a:stretch/>
        </p:blipFill>
        <p:spPr>
          <a:xfrm>
            <a:off x="378720" y="407160"/>
            <a:ext cx="410760" cy="387720"/>
          </a:xfrm>
          <a:prstGeom prst="rect">
            <a:avLst/>
          </a:prstGeom>
          <a:ln w="0">
            <a:noFill/>
          </a:ln>
        </p:spPr>
      </p:pic>
      <p:sp>
        <p:nvSpPr>
          <p:cNvPr id="318" name="文本框 17"/>
          <p:cNvSpPr/>
          <p:nvPr/>
        </p:nvSpPr>
        <p:spPr>
          <a:xfrm>
            <a:off x="790200" y="278280"/>
            <a:ext cx="71755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zh-CN" sz="3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经典繁毛楷"/>
                <a:ea typeface="经典繁毛楷"/>
              </a:rPr>
              <a:t>怎样学好高中数学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319" name="文本框 1"/>
              <p:cNvSpPr txBox="1"/>
              <p:nvPr/>
            </p:nvSpPr>
            <p:spPr>
              <a:xfrm>
                <a:off x="1463040" y="1541520"/>
                <a:ext cx="4079520" cy="7462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p>
                      <m:e>
                        <m:r>
                          <m:t xml:space="preserve">1.01</m:t>
                        </m:r>
                      </m:e>
                      <m:sup>
                        <m:r>
                          <m:t xml:space="preserve">365</m:t>
                        </m:r>
                      </m:sup>
                    </m:sSup>
                    <m:r>
                      <m:t xml:space="preserve">=</m:t>
                    </m:r>
                    <m:r>
                      <m:t xml:space="preserve">37.8</m:t>
                    </m:r>
                  </m:oMath>
                </a14:m>
              </a:p>
            </p:txBody>
          </p:sp>
        </mc:Choice>
        <mc:Fallback/>
      </mc:AlternateContent>
      <mc:AlternateContent>
        <mc:Choice xmlns:a14="http://schemas.microsoft.com/office/drawing/2010/main" Requires="a14">
          <p:sp>
            <p:nvSpPr>
              <p:cNvPr id="320" name="文本框 5"/>
              <p:cNvSpPr txBox="1"/>
              <p:nvPr/>
            </p:nvSpPr>
            <p:spPr>
              <a:xfrm>
                <a:off x="6635880" y="1541520"/>
                <a:ext cx="4079520" cy="7462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p>
                      <m:e>
                        <m:r>
                          <m:t xml:space="preserve">0.99</m:t>
                        </m:r>
                      </m:e>
                      <m:sup>
                        <m:r>
                          <m:t xml:space="preserve">365</m:t>
                        </m:r>
                      </m:sup>
                    </m:sSup>
                    <m:r>
                      <m:t xml:space="preserve">=</m:t>
                    </m:r>
                    <m:r>
                      <m:t xml:space="preserve">0.03</m:t>
                    </m:r>
                  </m:oMath>
                </a14:m>
              </a:p>
            </p:txBody>
          </p:sp>
        </mc:Choice>
        <mc:Fallback/>
      </mc:AlternateContent>
      <p:sp>
        <p:nvSpPr>
          <p:cNvPr id="321" name="矩形 3"/>
          <p:cNvSpPr/>
          <p:nvPr/>
        </p:nvSpPr>
        <p:spPr>
          <a:xfrm>
            <a:off x="378720" y="3124080"/>
            <a:ext cx="11401200" cy="25585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zh-CN" sz="5400" spc="-1" strike="noStrike">
                <a:solidFill>
                  <a:schemeClr val="dk1"/>
                </a:solidFill>
                <a:latin typeface="方正流行体繁体"/>
                <a:ea typeface="方正流行体繁体"/>
              </a:rPr>
              <a:t>一以贯之的努力，不得懈怠的人生</a:t>
            </a:r>
            <a:r>
              <a:rPr b="0" lang="en-US" sz="5400" spc="-1" strike="noStrike">
                <a:solidFill>
                  <a:schemeClr val="dk1"/>
                </a:solidFill>
                <a:latin typeface="方正流行体繁体"/>
                <a:ea typeface="微软雅黑"/>
              </a:rPr>
              <a:t> </a:t>
            </a:r>
            <a:endParaRPr b="0" lang="en-US" sz="5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5400" spc="-1" strike="noStrike">
                <a:solidFill>
                  <a:schemeClr val="dk1"/>
                </a:solidFill>
                <a:latin typeface="方正流行体繁体"/>
                <a:ea typeface="方正流行体繁体"/>
              </a:rPr>
              <a:t>每天的微小积累会决定最终结果</a:t>
            </a:r>
            <a:r>
              <a:rPr b="0" lang="en-US" sz="5400" spc="-1" strike="noStrike">
                <a:solidFill>
                  <a:schemeClr val="dk1"/>
                </a:solidFill>
                <a:latin typeface="方正流行体繁体"/>
                <a:ea typeface="微软雅黑"/>
              </a:rPr>
              <a:t> </a:t>
            </a:r>
            <a:endParaRPr b="0" lang="en-US" sz="5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5400" spc="-1" strike="noStrike">
                <a:solidFill>
                  <a:schemeClr val="dk1"/>
                </a:solidFill>
                <a:latin typeface="方正流行体繁体"/>
                <a:ea typeface="方正流行体繁体"/>
              </a:rPr>
              <a:t>这就是学好数学的答案</a:t>
            </a:r>
            <a:r>
              <a:rPr b="0" lang="en-US" sz="5400" spc="-1" strike="noStrike">
                <a:solidFill>
                  <a:schemeClr val="dk1"/>
                </a:solidFill>
                <a:latin typeface="方正流行体繁体"/>
                <a:ea typeface="微软雅黑"/>
              </a:rPr>
              <a:t> </a:t>
            </a:r>
            <a:endParaRPr b="0" lang="en-US" sz="5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>
        <p:random/>
      </p:transition>
    </mc:Choice>
    <mc:Fallback>
      <p:transition spd="slow">
        <p:random/>
      </p:transition>
    </mc:Fallback>
  </mc:AlternateContent>
  <p:timing>
    <p:tnLst>
      <p:par>
        <p:cTn id="311" dur="indefinite" restart="never" nodeType="tmRoot">
          <p:childTnLst>
            <p:seq>
              <p:cTn id="312" dur="indefinite" nodeType="mainSeq">
                <p:childTnLst>
                  <p:par>
                    <p:cTn id="313" fill="hold">
                      <p:stCondLst>
                        <p:cond delay="0"/>
                      </p:stCondLst>
                      <p:childTnLst>
                        <p:par>
                          <p:cTn id="314" fill="hold">
                            <p:stCondLst>
                              <p:cond delay="0"/>
                            </p:stCondLst>
                            <p:childTnLst>
                              <p:par>
                                <p:cTn id="315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17" dur="500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18" dur="500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矩形 4"/>
          <p:cNvSpPr/>
          <p:nvPr/>
        </p:nvSpPr>
        <p:spPr>
          <a:xfrm>
            <a:off x="2190600" y="1450440"/>
            <a:ext cx="5706000" cy="23673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微软雅黑"/>
            </a:endParaRPr>
          </a:p>
        </p:txBody>
      </p:sp>
      <p:grpSp>
        <p:nvGrpSpPr>
          <p:cNvPr id="323" name="组合 8"/>
          <p:cNvGrpSpPr/>
          <p:nvPr/>
        </p:nvGrpSpPr>
        <p:grpSpPr>
          <a:xfrm>
            <a:off x="0" y="74880"/>
            <a:ext cx="12191400" cy="6850800"/>
            <a:chOff x="0" y="74880"/>
            <a:chExt cx="12191400" cy="6850800"/>
          </a:xfrm>
        </p:grpSpPr>
        <p:pic>
          <p:nvPicPr>
            <p:cNvPr id="324" name="图片 3" descr=""/>
            <p:cNvPicPr/>
            <p:nvPr/>
          </p:nvPicPr>
          <p:blipFill>
            <a:blip r:embed="rId1"/>
            <a:stretch/>
          </p:blipFill>
          <p:spPr>
            <a:xfrm>
              <a:off x="0" y="74880"/>
              <a:ext cx="12191400" cy="685080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325" name="组合 7"/>
            <p:cNvGrpSpPr/>
            <p:nvPr/>
          </p:nvGrpSpPr>
          <p:grpSpPr>
            <a:xfrm>
              <a:off x="2094840" y="2054880"/>
              <a:ext cx="7998840" cy="4237200"/>
              <a:chOff x="2094840" y="2054880"/>
              <a:chExt cx="7998840" cy="4237200"/>
            </a:xfrm>
          </p:grpSpPr>
          <p:sp>
            <p:nvSpPr>
              <p:cNvPr id="326" name="矩形 5"/>
              <p:cNvSpPr/>
              <p:nvPr/>
            </p:nvSpPr>
            <p:spPr>
              <a:xfrm>
                <a:off x="2094840" y="2054880"/>
                <a:ext cx="7998840" cy="183744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r>
                  <a:rPr b="0" lang="zh-CN" sz="1800" spc="-1" strike="noStrike">
                    <a:solidFill>
                      <a:schemeClr val="lt1"/>
                    </a:solidFill>
                    <a:latin typeface="Arial"/>
                    <a:ea typeface="微软雅黑"/>
                  </a:rPr>
                  <a:t>提起数学，你会想到什么？加减乘除，几何高数，还是上学时“被支配的恐惧”？对大多数人来说，数学这门学科很抽象，但是，有一些人把数学变得实用。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  <a:p>
                <a:pPr algn="ctr"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  <a:p>
                <a:pPr algn="ctr" defTabSz="914400">
                  <a:lnSpc>
                    <a:spcPct val="100000"/>
                  </a:lnSpc>
                </a:pPr>
                <a:r>
                  <a:rPr b="0" lang="en-US" sz="1800" spc="-1" strike="noStrike">
                    <a:solidFill>
                      <a:schemeClr val="lt1"/>
                    </a:solidFill>
                    <a:latin typeface="Arial"/>
                    <a:ea typeface="微软雅黑"/>
                  </a:rPr>
                  <a:t>     </a:t>
                </a:r>
                <a:r>
                  <a:rPr b="0" lang="zh-CN" sz="1800" spc="-1" strike="noStrike">
                    <a:solidFill>
                      <a:schemeClr val="lt1"/>
                    </a:solidFill>
                    <a:latin typeface="Arial"/>
                    <a:ea typeface="微软雅黑"/>
                  </a:rPr>
                  <a:t>颠覆想象！大部分人学了</a:t>
                </a:r>
                <a:r>
                  <a:rPr b="0" lang="en-US" sz="1800" spc="-1" strike="noStrike">
                    <a:solidFill>
                      <a:schemeClr val="lt1"/>
                    </a:solidFill>
                    <a:latin typeface="Arial"/>
                    <a:ea typeface="微软雅黑"/>
                  </a:rPr>
                  <a:t>9</a:t>
                </a:r>
                <a:r>
                  <a:rPr b="0" lang="zh-CN" sz="1800" spc="-1" strike="noStrike">
                    <a:solidFill>
                      <a:schemeClr val="lt1"/>
                    </a:solidFill>
                    <a:latin typeface="Arial"/>
                    <a:ea typeface="微软雅黑"/>
                  </a:rPr>
                  <a:t>年甚至</a:t>
                </a:r>
                <a:r>
                  <a:rPr b="0" lang="en-US" sz="1800" spc="-1" strike="noStrike">
                    <a:solidFill>
                      <a:schemeClr val="lt1"/>
                    </a:solidFill>
                    <a:latin typeface="Arial"/>
                    <a:ea typeface="微软雅黑"/>
                  </a:rPr>
                  <a:t>12</a:t>
                </a:r>
                <a:r>
                  <a:rPr b="0" lang="zh-CN" sz="1800" spc="-1" strike="noStrike">
                    <a:solidFill>
                      <a:schemeClr val="lt1"/>
                    </a:solidFill>
                    <a:latin typeface="Arial"/>
                    <a:ea typeface="微软雅黑"/>
                  </a:rPr>
                  <a:t>年的数学，也仅仅学到了微积分之前，这也只是</a:t>
                </a:r>
                <a:r>
                  <a:rPr b="0" lang="en-US" sz="1800" spc="-1" strike="noStrike">
                    <a:solidFill>
                      <a:schemeClr val="lt1"/>
                    </a:solidFill>
                    <a:latin typeface="Arial"/>
                    <a:ea typeface="微软雅黑"/>
                  </a:rPr>
                  <a:t>16</a:t>
                </a:r>
                <a:r>
                  <a:rPr b="0" lang="zh-CN" sz="1800" spc="-1" strike="noStrike">
                    <a:solidFill>
                      <a:schemeClr val="lt1"/>
                    </a:solidFill>
                    <a:latin typeface="Arial"/>
                    <a:ea typeface="微软雅黑"/>
                  </a:rPr>
                  <a:t>世纪的数学。既然如此，数学为什么依然是全世界每一个孩子的必修课呢？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  <a:p>
                <a:pPr algn="ctr"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  <a:p>
                <a:pPr algn="ctr" defTabSz="914400">
                  <a:lnSpc>
                    <a:spcPct val="100000"/>
                  </a:lnSpc>
                </a:pPr>
                <a:r>
                  <a:rPr b="0" lang="en-US" sz="1800" spc="-1" strike="noStrike">
                    <a:solidFill>
                      <a:schemeClr val="lt1"/>
                    </a:solidFill>
                    <a:latin typeface="Arial"/>
                    <a:ea typeface="微软雅黑"/>
                  </a:rPr>
                  <a:t>     </a:t>
                </a:r>
                <a:r>
                  <a:rPr b="0" lang="zh-CN" sz="1800" spc="-1" strike="noStrike">
                    <a:solidFill>
                      <a:schemeClr val="lt1"/>
                    </a:solidFill>
                    <a:latin typeface="Arial"/>
                    <a:ea typeface="微软雅黑"/>
                  </a:rPr>
                  <a:t>提起数学，许多人首先想到的是枯燥、抽象。但是在某些人眼中，数学充满了魅力，它严谨、纯粹、有用。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27" name="矩形 6"/>
              <p:cNvSpPr/>
              <p:nvPr/>
            </p:nvSpPr>
            <p:spPr>
              <a:xfrm>
                <a:off x="3618720" y="4454640"/>
                <a:ext cx="5704920" cy="183744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  <a:ea typeface="微软雅黑"/>
                </a:endParaRPr>
              </a:p>
            </p:txBody>
          </p:sp>
        </p:grpSp>
      </p:grpSp>
      <p:sp>
        <p:nvSpPr>
          <p:cNvPr id="328" name="文本框 12"/>
          <p:cNvSpPr/>
          <p:nvPr/>
        </p:nvSpPr>
        <p:spPr>
          <a:xfrm>
            <a:off x="1466280" y="305280"/>
            <a:ext cx="44406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3200" spc="-1" strike="noStrike">
                <a:solidFill>
                  <a:srgbClr val="5c748a"/>
                </a:solidFill>
                <a:latin typeface="宋体"/>
                <a:ea typeface="宋体"/>
              </a:rPr>
              <a:t>02</a:t>
            </a:r>
            <a:r>
              <a:rPr b="1" lang="en-US" sz="3200" spc="-1" strike="noStrike">
                <a:solidFill>
                  <a:srgbClr val="246e9e"/>
                </a:solidFill>
                <a:latin typeface="宋体"/>
                <a:ea typeface="宋体"/>
              </a:rPr>
              <a:t> </a:t>
            </a:r>
            <a:r>
              <a:rPr b="1" lang="zh-CN" sz="3200" spc="-1" strike="noStrike">
                <a:solidFill>
                  <a:srgbClr val="246e9e"/>
                </a:solidFill>
                <a:latin typeface="宋体"/>
                <a:ea typeface="宋体"/>
              </a:rPr>
              <a:t>了解高中数学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29" name="组合 11"/>
          <p:cNvGrpSpPr/>
          <p:nvPr/>
        </p:nvGrpSpPr>
        <p:grpSpPr>
          <a:xfrm>
            <a:off x="1698480" y="1622880"/>
            <a:ext cx="9247320" cy="1625400"/>
            <a:chOff x="1698480" y="1622880"/>
            <a:chExt cx="9247320" cy="1625400"/>
          </a:xfrm>
        </p:grpSpPr>
        <p:sp>
          <p:nvSpPr>
            <p:cNvPr id="330" name="文本框 9"/>
            <p:cNvSpPr/>
            <p:nvPr/>
          </p:nvSpPr>
          <p:spPr>
            <a:xfrm>
              <a:off x="1698480" y="1622880"/>
              <a:ext cx="9247320" cy="162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40000"/>
                </a:lnSpc>
              </a:pPr>
              <a:r>
                <a:rPr b="1" lang="zh-CN" sz="2400" spc="-1" strike="noStrike">
                  <a:solidFill>
                    <a:schemeClr val="dk1"/>
                  </a:solidFill>
                  <a:latin typeface="宋体"/>
                  <a:ea typeface="宋体"/>
                </a:rPr>
                <a:t>所学教材：沪教版新教材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  <a:p>
              <a:pPr defTabSz="914400">
                <a:lnSpc>
                  <a:spcPct val="140000"/>
                </a:lnSpc>
              </a:pPr>
              <a:r>
                <a:rPr b="1" lang="zh-CN" sz="2400" spc="-1" strike="noStrike">
                  <a:solidFill>
                    <a:srgbClr val="ff0000"/>
                  </a:solidFill>
                  <a:latin typeface="宋体"/>
                  <a:ea typeface="宋体"/>
                </a:rPr>
                <a:t>必修一、必修二、必修三、必修四、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  <a:p>
              <a:pPr defTabSz="914400">
                <a:lnSpc>
                  <a:spcPct val="140000"/>
                </a:lnSpc>
              </a:pPr>
              <a:r>
                <a:rPr b="1" lang="zh-CN" sz="2400" spc="-1" strike="noStrike">
                  <a:solidFill>
                    <a:srgbClr val="ff0000"/>
                  </a:solidFill>
                  <a:latin typeface="宋体"/>
                  <a:ea typeface="宋体"/>
                </a:rPr>
                <a:t>选择性必修一、选择性必修二、选择性必修三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1" name="矩形 10"/>
            <p:cNvSpPr/>
            <p:nvPr/>
          </p:nvSpPr>
          <p:spPr>
            <a:xfrm>
              <a:off x="2392560" y="2585520"/>
              <a:ext cx="74880" cy="748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30600" bIns="306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微软雅黑"/>
              </a:endParaRPr>
            </a:p>
          </p:txBody>
        </p:sp>
      </p:grpSp>
    </p:spTree>
  </p:cSld>
  <mc:AlternateContent>
    <mc:Choice Requires="p14">
      <p:transition spd="slow" p14:dur="2000">
        <p:random/>
      </p:transition>
    </mc:Choice>
    <mc:Fallback>
      <p:transition spd="slow">
        <p:random/>
      </p:transition>
    </mc:Fallback>
  </mc:AlternateContent>
  <p:timing>
    <p:tnLst>
      <p:par>
        <p:cTn id="319" dur="indefinite" restart="never" nodeType="tmRoot">
          <p:childTnLst>
            <p:seq>
              <p:cTn id="320" dur="indefinite" nodeType="mainSeq">
                <p:childTnLst>
                  <p:par>
                    <p:cTn id="321" fill="hold">
                      <p:stCondLst>
                        <p:cond delay="indefinite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矩形 4"/>
          <p:cNvSpPr/>
          <p:nvPr/>
        </p:nvSpPr>
        <p:spPr>
          <a:xfrm>
            <a:off x="2190600" y="1450440"/>
            <a:ext cx="5706000" cy="23673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微软雅黑"/>
            </a:endParaRPr>
          </a:p>
        </p:txBody>
      </p:sp>
      <p:grpSp>
        <p:nvGrpSpPr>
          <p:cNvPr id="333" name="组合 8"/>
          <p:cNvGrpSpPr/>
          <p:nvPr/>
        </p:nvGrpSpPr>
        <p:grpSpPr>
          <a:xfrm>
            <a:off x="0" y="93240"/>
            <a:ext cx="12191400" cy="6850800"/>
            <a:chOff x="0" y="93240"/>
            <a:chExt cx="12191400" cy="6850800"/>
          </a:xfrm>
        </p:grpSpPr>
        <p:pic>
          <p:nvPicPr>
            <p:cNvPr id="334" name="图片 3" descr=""/>
            <p:cNvPicPr/>
            <p:nvPr/>
          </p:nvPicPr>
          <p:blipFill>
            <a:blip r:embed="rId1"/>
            <a:stretch/>
          </p:blipFill>
          <p:spPr>
            <a:xfrm>
              <a:off x="0" y="93240"/>
              <a:ext cx="12191400" cy="685080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335" name="组合 7"/>
            <p:cNvGrpSpPr/>
            <p:nvPr/>
          </p:nvGrpSpPr>
          <p:grpSpPr>
            <a:xfrm>
              <a:off x="1558440" y="1680840"/>
              <a:ext cx="7998840" cy="4237200"/>
              <a:chOff x="1558440" y="1680840"/>
              <a:chExt cx="7998840" cy="4237200"/>
            </a:xfrm>
          </p:grpSpPr>
          <p:sp>
            <p:nvSpPr>
              <p:cNvPr id="336" name="矩形 5"/>
              <p:cNvSpPr/>
              <p:nvPr/>
            </p:nvSpPr>
            <p:spPr>
              <a:xfrm>
                <a:off x="1558440" y="1680840"/>
                <a:ext cx="7998840" cy="183744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r>
                  <a:rPr b="0" lang="zh-CN" sz="1800" spc="-1" strike="noStrike">
                    <a:solidFill>
                      <a:schemeClr val="lt1"/>
                    </a:solidFill>
                    <a:latin typeface="Arial"/>
                    <a:ea typeface="微软雅黑"/>
                  </a:rPr>
                  <a:t>提起数学，你会想到什么？加减乘除，几何高数，还是上学时“被支配的恐惧”？对大多数人来说，数学这门学科很抽象，但是，有一些人把数学变得实用。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  <a:p>
                <a:pPr algn="ctr"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  <a:p>
                <a:pPr algn="ctr" defTabSz="914400">
                  <a:lnSpc>
                    <a:spcPct val="100000"/>
                  </a:lnSpc>
                </a:pPr>
                <a:r>
                  <a:rPr b="0" lang="en-US" sz="1800" spc="-1" strike="noStrike">
                    <a:solidFill>
                      <a:schemeClr val="lt1"/>
                    </a:solidFill>
                    <a:latin typeface="Arial"/>
                    <a:ea typeface="微软雅黑"/>
                  </a:rPr>
                  <a:t>     </a:t>
                </a:r>
                <a:r>
                  <a:rPr b="0" lang="zh-CN" sz="1800" spc="-1" strike="noStrike">
                    <a:solidFill>
                      <a:schemeClr val="lt1"/>
                    </a:solidFill>
                    <a:latin typeface="Arial"/>
                    <a:ea typeface="微软雅黑"/>
                  </a:rPr>
                  <a:t>颠覆想象！大部分人学了</a:t>
                </a:r>
                <a:r>
                  <a:rPr b="0" lang="en-US" sz="1800" spc="-1" strike="noStrike">
                    <a:solidFill>
                      <a:schemeClr val="lt1"/>
                    </a:solidFill>
                    <a:latin typeface="Arial"/>
                    <a:ea typeface="微软雅黑"/>
                  </a:rPr>
                  <a:t>9</a:t>
                </a:r>
                <a:r>
                  <a:rPr b="0" lang="zh-CN" sz="1800" spc="-1" strike="noStrike">
                    <a:solidFill>
                      <a:schemeClr val="lt1"/>
                    </a:solidFill>
                    <a:latin typeface="Arial"/>
                    <a:ea typeface="微软雅黑"/>
                  </a:rPr>
                  <a:t>年甚至</a:t>
                </a:r>
                <a:r>
                  <a:rPr b="0" lang="en-US" sz="1800" spc="-1" strike="noStrike">
                    <a:solidFill>
                      <a:schemeClr val="lt1"/>
                    </a:solidFill>
                    <a:latin typeface="Arial"/>
                    <a:ea typeface="微软雅黑"/>
                  </a:rPr>
                  <a:t>12</a:t>
                </a:r>
                <a:r>
                  <a:rPr b="0" lang="zh-CN" sz="1800" spc="-1" strike="noStrike">
                    <a:solidFill>
                      <a:schemeClr val="lt1"/>
                    </a:solidFill>
                    <a:latin typeface="Arial"/>
                    <a:ea typeface="微软雅黑"/>
                  </a:rPr>
                  <a:t>年的数学，也仅仅学到了微积分之前，这也只是</a:t>
                </a:r>
                <a:r>
                  <a:rPr b="0" lang="en-US" sz="1800" spc="-1" strike="noStrike">
                    <a:solidFill>
                      <a:schemeClr val="lt1"/>
                    </a:solidFill>
                    <a:latin typeface="Arial"/>
                    <a:ea typeface="微软雅黑"/>
                  </a:rPr>
                  <a:t>16</a:t>
                </a:r>
                <a:r>
                  <a:rPr b="0" lang="zh-CN" sz="1800" spc="-1" strike="noStrike">
                    <a:solidFill>
                      <a:schemeClr val="lt1"/>
                    </a:solidFill>
                    <a:latin typeface="Arial"/>
                    <a:ea typeface="微软雅黑"/>
                  </a:rPr>
                  <a:t>世纪的数学。既然如此，数学为什么依然是全世界每一个孩子的必修课呢？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  <a:p>
                <a:pPr algn="ctr"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  <a:p>
                <a:pPr algn="ctr" defTabSz="914400">
                  <a:lnSpc>
                    <a:spcPct val="100000"/>
                  </a:lnSpc>
                </a:pPr>
                <a:r>
                  <a:rPr b="0" lang="en-US" sz="1800" spc="-1" strike="noStrike">
                    <a:solidFill>
                      <a:schemeClr val="lt1"/>
                    </a:solidFill>
                    <a:latin typeface="Arial"/>
                    <a:ea typeface="微软雅黑"/>
                  </a:rPr>
                  <a:t>     </a:t>
                </a:r>
                <a:r>
                  <a:rPr b="0" lang="zh-CN" sz="1800" spc="-1" strike="noStrike">
                    <a:solidFill>
                      <a:schemeClr val="lt1"/>
                    </a:solidFill>
                    <a:latin typeface="Arial"/>
                    <a:ea typeface="微软雅黑"/>
                  </a:rPr>
                  <a:t>提起数学，许多人首先想到的是枯燥、抽象。但是在某些人眼中，数学充满了魅力，它严谨、纯粹、有用。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37" name="矩形 6"/>
              <p:cNvSpPr/>
              <p:nvPr/>
            </p:nvSpPr>
            <p:spPr>
              <a:xfrm>
                <a:off x="3082320" y="4080600"/>
                <a:ext cx="5704920" cy="183744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  <a:ea typeface="微软雅黑"/>
                </a:endParaRPr>
              </a:p>
            </p:txBody>
          </p:sp>
        </p:grpSp>
      </p:grpSp>
      <p:sp>
        <p:nvSpPr>
          <p:cNvPr id="338" name="文本框 12"/>
          <p:cNvSpPr/>
          <p:nvPr/>
        </p:nvSpPr>
        <p:spPr>
          <a:xfrm>
            <a:off x="1466280" y="305280"/>
            <a:ext cx="44406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3200" spc="-1" strike="noStrike">
                <a:solidFill>
                  <a:srgbClr val="5c748a"/>
                </a:solidFill>
                <a:latin typeface="宋体"/>
                <a:ea typeface="宋体"/>
              </a:rPr>
              <a:t>02</a:t>
            </a:r>
            <a:r>
              <a:rPr b="1" lang="en-US" sz="3200" spc="-1" strike="noStrike">
                <a:solidFill>
                  <a:srgbClr val="246e9e"/>
                </a:solidFill>
                <a:latin typeface="宋体"/>
                <a:ea typeface="宋体"/>
              </a:rPr>
              <a:t> </a:t>
            </a:r>
            <a:r>
              <a:rPr b="1" lang="zh-CN" sz="3200" spc="-1" strike="noStrike">
                <a:solidFill>
                  <a:srgbClr val="246e9e"/>
                </a:solidFill>
                <a:latin typeface="宋体"/>
                <a:ea typeface="宋体"/>
              </a:rPr>
              <a:t>了解高中数学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39" name="直接连接符 24"/>
          <p:cNvCxnSpPr>
            <a:stCxn id="340" idx="3"/>
          </p:cNvCxnSpPr>
          <p:nvPr/>
        </p:nvCxnSpPr>
        <p:spPr>
          <a:xfrm>
            <a:off x="2683440" y="3601440"/>
            <a:ext cx="102240" cy="324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grpSp>
        <p:nvGrpSpPr>
          <p:cNvPr id="341" name="组合 43"/>
          <p:cNvGrpSpPr/>
          <p:nvPr/>
        </p:nvGrpSpPr>
        <p:grpSpPr>
          <a:xfrm>
            <a:off x="2094840" y="1793880"/>
            <a:ext cx="2552040" cy="3846960"/>
            <a:chOff x="2094840" y="1793880"/>
            <a:chExt cx="2552040" cy="3846960"/>
          </a:xfrm>
        </p:grpSpPr>
        <p:sp>
          <p:nvSpPr>
            <p:cNvPr id="342" name="文本框 2"/>
            <p:cNvSpPr/>
            <p:nvPr/>
          </p:nvSpPr>
          <p:spPr>
            <a:xfrm>
              <a:off x="3148920" y="1793880"/>
              <a:ext cx="1434240" cy="4554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zh-CN" sz="2400" spc="-1" strike="noStrike">
                  <a:solidFill>
                    <a:schemeClr val="dk1"/>
                  </a:solidFill>
                  <a:latin typeface="宋体"/>
                  <a:ea typeface="宋体"/>
                </a:rPr>
                <a:t>必修课程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3" name="文本框 13"/>
            <p:cNvSpPr/>
            <p:nvPr/>
          </p:nvSpPr>
          <p:spPr>
            <a:xfrm>
              <a:off x="3160440" y="4819680"/>
              <a:ext cx="1486440" cy="82116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1" lang="zh-CN" sz="2400" spc="-1" strike="noStrike">
                  <a:solidFill>
                    <a:schemeClr val="dk1"/>
                  </a:solidFill>
                  <a:latin typeface="宋体"/>
                  <a:ea typeface="宋体"/>
                </a:rPr>
                <a:t>选择性必修课程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0" name="文本框 14"/>
            <p:cNvSpPr/>
            <p:nvPr/>
          </p:nvSpPr>
          <p:spPr>
            <a:xfrm>
              <a:off x="2094840" y="2601000"/>
              <a:ext cx="587880" cy="200088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45000" rIns="45000" tIns="90000" bIns="90000" anchor="t" vert="eaVert">
              <a:noAutofit/>
            </a:bodyPr>
            <a:p>
              <a:pPr defTabSz="914400">
                <a:lnSpc>
                  <a:spcPct val="110000"/>
                </a:lnSpc>
              </a:pPr>
              <a:r>
                <a:rPr b="1" lang="zh-CN" sz="2400" spc="-1" strike="noStrike">
                  <a:solidFill>
                    <a:schemeClr val="dk1"/>
                  </a:solidFill>
                  <a:latin typeface="宋体"/>
                  <a:ea typeface="宋体"/>
                </a:rPr>
                <a:t>高中数学课程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344" name="直接连接符 25"/>
            <p:cNvCxnSpPr/>
            <p:nvPr/>
          </p:nvCxnSpPr>
          <p:spPr>
            <a:xfrm>
              <a:off x="2777400" y="2025000"/>
              <a:ext cx="20160" cy="3225600"/>
            </a:xfrm>
            <a:prstGeom prst="straightConnector1">
              <a:avLst/>
            </a:prstGeom>
            <a:ln w="0">
              <a:solidFill>
                <a:srgbClr val="000000"/>
              </a:solidFill>
            </a:ln>
          </p:spPr>
        </p:cxnSp>
        <p:cxnSp>
          <p:nvCxnSpPr>
            <p:cNvPr id="345" name="直接连接符 27"/>
            <p:cNvCxnSpPr/>
            <p:nvPr/>
          </p:nvCxnSpPr>
          <p:spPr>
            <a:xfrm flipV="1">
              <a:off x="2777400" y="2025000"/>
              <a:ext cx="396720" cy="8280"/>
            </a:xfrm>
            <a:prstGeom prst="straightConnector1">
              <a:avLst/>
            </a:prstGeom>
            <a:ln w="0">
              <a:solidFill>
                <a:srgbClr val="000000"/>
              </a:solidFill>
            </a:ln>
          </p:spPr>
        </p:cxnSp>
        <p:cxnSp>
          <p:nvCxnSpPr>
            <p:cNvPr id="346" name="直接连接符 28"/>
            <p:cNvCxnSpPr/>
            <p:nvPr/>
          </p:nvCxnSpPr>
          <p:spPr>
            <a:xfrm flipV="1">
              <a:off x="2796840" y="5231520"/>
              <a:ext cx="397080" cy="8280"/>
            </a:xfrm>
            <a:prstGeom prst="straightConnector1">
              <a:avLst/>
            </a:prstGeom>
            <a:ln w="0">
              <a:solidFill>
                <a:srgbClr val="000000"/>
              </a:solidFill>
            </a:ln>
          </p:spPr>
        </p:cxnSp>
      </p:grpSp>
      <p:cxnSp>
        <p:nvCxnSpPr>
          <p:cNvPr id="347" name="直接连接符 30"/>
          <p:cNvCxnSpPr/>
          <p:nvPr/>
        </p:nvCxnSpPr>
        <p:spPr>
          <a:xfrm flipV="1">
            <a:off x="4583880" y="4784040"/>
            <a:ext cx="397080" cy="828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grpSp>
        <p:nvGrpSpPr>
          <p:cNvPr id="348" name="组合 44"/>
          <p:cNvGrpSpPr/>
          <p:nvPr/>
        </p:nvGrpSpPr>
        <p:grpSpPr>
          <a:xfrm>
            <a:off x="4583880" y="868680"/>
            <a:ext cx="5241960" cy="2764440"/>
            <a:chOff x="4583880" y="868680"/>
            <a:chExt cx="5241960" cy="2764440"/>
          </a:xfrm>
        </p:grpSpPr>
        <p:sp>
          <p:nvSpPr>
            <p:cNvPr id="349" name="文本框 15"/>
            <p:cNvSpPr/>
            <p:nvPr/>
          </p:nvSpPr>
          <p:spPr>
            <a:xfrm>
              <a:off x="5559480" y="868680"/>
              <a:ext cx="1434240" cy="455400"/>
            </a:xfrm>
            <a:prstGeom prst="rect">
              <a:avLst/>
            </a:prstGeom>
            <a:noFill/>
            <a:ln w="6350">
              <a:solidFill>
                <a:srgbClr val="256db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zh-CN" sz="2400" spc="-1" strike="noStrike">
                  <a:solidFill>
                    <a:schemeClr val="dk1"/>
                  </a:solidFill>
                  <a:latin typeface="宋体"/>
                  <a:ea typeface="宋体"/>
                </a:rPr>
                <a:t>预备知识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0" name="文本框 16"/>
            <p:cNvSpPr/>
            <p:nvPr/>
          </p:nvSpPr>
          <p:spPr>
            <a:xfrm>
              <a:off x="5559480" y="1445760"/>
              <a:ext cx="1434240" cy="455400"/>
            </a:xfrm>
            <a:prstGeom prst="rect">
              <a:avLst/>
            </a:prstGeom>
            <a:noFill/>
            <a:ln w="6350">
              <a:solidFill>
                <a:srgbClr val="256db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zh-CN" sz="2400" spc="-1" strike="noStrike">
                  <a:solidFill>
                    <a:srgbClr val="ff0000"/>
                  </a:solidFill>
                  <a:latin typeface="宋体"/>
                  <a:ea typeface="宋体"/>
                </a:rPr>
                <a:t>集合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1" name="文本框 17"/>
            <p:cNvSpPr/>
            <p:nvPr/>
          </p:nvSpPr>
          <p:spPr>
            <a:xfrm>
              <a:off x="5559480" y="2023200"/>
              <a:ext cx="1851480" cy="455400"/>
            </a:xfrm>
            <a:prstGeom prst="rect">
              <a:avLst/>
            </a:prstGeom>
            <a:noFill/>
            <a:ln w="6350">
              <a:solidFill>
                <a:srgbClr val="256db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zh-CN" sz="2400" spc="-1" strike="noStrike">
                  <a:solidFill>
                    <a:srgbClr val="ff0000"/>
                  </a:solidFill>
                  <a:latin typeface="宋体"/>
                  <a:ea typeface="宋体"/>
                </a:rPr>
                <a:t>平面向量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2" name="文本框 18"/>
            <p:cNvSpPr/>
            <p:nvPr/>
          </p:nvSpPr>
          <p:spPr>
            <a:xfrm>
              <a:off x="5559480" y="2600280"/>
              <a:ext cx="1775520" cy="455400"/>
            </a:xfrm>
            <a:prstGeom prst="rect">
              <a:avLst/>
            </a:prstGeom>
            <a:noFill/>
            <a:ln w="6350">
              <a:solidFill>
                <a:srgbClr val="256db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zh-CN" sz="2400" spc="-1" strike="noStrike">
                  <a:solidFill>
                    <a:srgbClr val="ff0000"/>
                  </a:solidFill>
                  <a:latin typeface="宋体"/>
                  <a:ea typeface="宋体"/>
                </a:rPr>
                <a:t>概率与统计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3" name="文本框 19"/>
            <p:cNvSpPr/>
            <p:nvPr/>
          </p:nvSpPr>
          <p:spPr>
            <a:xfrm>
              <a:off x="5559480" y="3177720"/>
              <a:ext cx="4266360" cy="455400"/>
            </a:xfrm>
            <a:prstGeom prst="rect">
              <a:avLst/>
            </a:prstGeom>
            <a:noFill/>
            <a:ln w="6350">
              <a:solidFill>
                <a:srgbClr val="256db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zh-CN" sz="2400" spc="-1" strike="noStrike">
                  <a:solidFill>
                    <a:schemeClr val="dk1"/>
                  </a:solidFill>
                  <a:latin typeface="宋体"/>
                  <a:ea typeface="宋体"/>
                </a:rPr>
                <a:t>数学建模活动与数学探究活动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354" name="直接连接符 29"/>
            <p:cNvCxnSpPr/>
            <p:nvPr/>
          </p:nvCxnSpPr>
          <p:spPr>
            <a:xfrm flipV="1">
              <a:off x="4583880" y="2032560"/>
              <a:ext cx="397080" cy="8280"/>
            </a:xfrm>
            <a:prstGeom prst="straightConnector1">
              <a:avLst/>
            </a:prstGeom>
            <a:ln w="0">
              <a:solidFill>
                <a:srgbClr val="000000"/>
              </a:solidFill>
            </a:ln>
          </p:spPr>
        </p:cxnSp>
        <p:cxnSp>
          <p:nvCxnSpPr>
            <p:cNvPr id="355" name="直接连接符 31"/>
            <p:cNvCxnSpPr/>
            <p:nvPr/>
          </p:nvCxnSpPr>
          <p:spPr>
            <a:xfrm>
              <a:off x="4980240" y="1150920"/>
              <a:ext cx="17280" cy="2215080"/>
            </a:xfrm>
            <a:prstGeom prst="straightConnector1">
              <a:avLst/>
            </a:prstGeom>
            <a:ln w="0">
              <a:solidFill>
                <a:srgbClr val="000000"/>
              </a:solidFill>
            </a:ln>
          </p:spPr>
        </p:cxnSp>
        <p:cxnSp>
          <p:nvCxnSpPr>
            <p:cNvPr id="356" name="直接连接符 32"/>
            <p:cNvCxnSpPr/>
            <p:nvPr/>
          </p:nvCxnSpPr>
          <p:spPr>
            <a:xfrm flipV="1">
              <a:off x="4980240" y="1150920"/>
              <a:ext cx="396720" cy="8640"/>
            </a:xfrm>
            <a:prstGeom prst="straightConnector1">
              <a:avLst/>
            </a:prstGeom>
            <a:ln w="0">
              <a:solidFill>
                <a:srgbClr val="000000"/>
              </a:solidFill>
            </a:ln>
          </p:spPr>
        </p:cxnSp>
        <p:cxnSp>
          <p:nvCxnSpPr>
            <p:cNvPr id="357" name="直接连接符 34"/>
            <p:cNvCxnSpPr/>
            <p:nvPr/>
          </p:nvCxnSpPr>
          <p:spPr>
            <a:xfrm flipV="1">
              <a:off x="4980240" y="1682640"/>
              <a:ext cx="396720" cy="8280"/>
            </a:xfrm>
            <a:prstGeom prst="straightConnector1">
              <a:avLst/>
            </a:prstGeom>
            <a:ln w="0">
              <a:solidFill>
                <a:srgbClr val="000000"/>
              </a:solidFill>
            </a:ln>
          </p:spPr>
        </p:cxnSp>
        <p:cxnSp>
          <p:nvCxnSpPr>
            <p:cNvPr id="358" name="直接连接符 35"/>
            <p:cNvCxnSpPr/>
            <p:nvPr/>
          </p:nvCxnSpPr>
          <p:spPr>
            <a:xfrm flipV="1">
              <a:off x="4999680" y="2253960"/>
              <a:ext cx="397080" cy="8280"/>
            </a:xfrm>
            <a:prstGeom prst="straightConnector1">
              <a:avLst/>
            </a:prstGeom>
            <a:ln w="0">
              <a:solidFill>
                <a:srgbClr val="000000"/>
              </a:solidFill>
            </a:ln>
          </p:spPr>
        </p:cxnSp>
        <p:cxnSp>
          <p:nvCxnSpPr>
            <p:cNvPr id="359" name="直接连接符 36"/>
            <p:cNvCxnSpPr/>
            <p:nvPr/>
          </p:nvCxnSpPr>
          <p:spPr>
            <a:xfrm flipV="1">
              <a:off x="4999680" y="2839680"/>
              <a:ext cx="397080" cy="8280"/>
            </a:xfrm>
            <a:prstGeom prst="straightConnector1">
              <a:avLst/>
            </a:prstGeom>
            <a:ln w="0">
              <a:solidFill>
                <a:srgbClr val="000000"/>
              </a:solidFill>
            </a:ln>
          </p:spPr>
        </p:cxnSp>
        <p:cxnSp>
          <p:nvCxnSpPr>
            <p:cNvPr id="360" name="直接连接符 37"/>
            <p:cNvCxnSpPr/>
            <p:nvPr/>
          </p:nvCxnSpPr>
          <p:spPr>
            <a:xfrm flipV="1">
              <a:off x="4999680" y="3364560"/>
              <a:ext cx="397080" cy="8640"/>
            </a:xfrm>
            <a:prstGeom prst="straightConnector1">
              <a:avLst/>
            </a:prstGeom>
            <a:ln w="0">
              <a:solidFill>
                <a:srgbClr val="000000"/>
              </a:solidFill>
            </a:ln>
          </p:spPr>
        </p:cxnSp>
      </p:grpSp>
      <p:grpSp>
        <p:nvGrpSpPr>
          <p:cNvPr id="361" name="组合 45"/>
          <p:cNvGrpSpPr/>
          <p:nvPr/>
        </p:nvGrpSpPr>
        <p:grpSpPr>
          <a:xfrm>
            <a:off x="5010480" y="4142160"/>
            <a:ext cx="4815360" cy="2345040"/>
            <a:chOff x="5010480" y="4142160"/>
            <a:chExt cx="4815360" cy="2345040"/>
          </a:xfrm>
        </p:grpSpPr>
        <p:sp>
          <p:nvSpPr>
            <p:cNvPr id="362" name="文本框 20"/>
            <p:cNvSpPr/>
            <p:nvPr/>
          </p:nvSpPr>
          <p:spPr>
            <a:xfrm>
              <a:off x="5559480" y="4142160"/>
              <a:ext cx="1434240" cy="455400"/>
            </a:xfrm>
            <a:prstGeom prst="rect">
              <a:avLst/>
            </a:prstGeom>
            <a:noFill/>
            <a:ln w="6350">
              <a:solidFill>
                <a:srgbClr val="256db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zh-CN" sz="2400" spc="-1" strike="noStrike">
                  <a:solidFill>
                    <a:srgbClr val="ff0000"/>
                  </a:solidFill>
                  <a:latin typeface="宋体"/>
                  <a:ea typeface="宋体"/>
                </a:rPr>
                <a:t>平面直线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3" name="文本框 21"/>
            <p:cNvSpPr/>
            <p:nvPr/>
          </p:nvSpPr>
          <p:spPr>
            <a:xfrm>
              <a:off x="5559480" y="4772160"/>
              <a:ext cx="1010880" cy="455400"/>
            </a:xfrm>
            <a:prstGeom prst="rect">
              <a:avLst/>
            </a:prstGeom>
            <a:noFill/>
            <a:ln w="6350">
              <a:solidFill>
                <a:srgbClr val="256db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zh-CN" sz="2400" spc="-1" strike="noStrike">
                  <a:solidFill>
                    <a:srgbClr val="ff0000"/>
                  </a:solidFill>
                  <a:latin typeface="宋体"/>
                  <a:ea typeface="宋体"/>
                </a:rPr>
                <a:t>数列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4" name="文本框 22"/>
            <p:cNvSpPr/>
            <p:nvPr/>
          </p:nvSpPr>
          <p:spPr>
            <a:xfrm>
              <a:off x="5559480" y="5401800"/>
              <a:ext cx="1775520" cy="455400"/>
            </a:xfrm>
            <a:prstGeom prst="rect">
              <a:avLst/>
            </a:prstGeom>
            <a:noFill/>
            <a:ln w="6350">
              <a:solidFill>
                <a:srgbClr val="256db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zh-CN" sz="2400" spc="-1" strike="noStrike">
                  <a:solidFill>
                    <a:srgbClr val="ff0000"/>
                  </a:solidFill>
                  <a:latin typeface="宋体"/>
                  <a:ea typeface="宋体"/>
                </a:rPr>
                <a:t>概率初步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5" name="文本框 23"/>
            <p:cNvSpPr/>
            <p:nvPr/>
          </p:nvSpPr>
          <p:spPr>
            <a:xfrm>
              <a:off x="5559480" y="6031800"/>
              <a:ext cx="4266360" cy="455400"/>
            </a:xfrm>
            <a:prstGeom prst="rect">
              <a:avLst/>
            </a:prstGeom>
            <a:noFill/>
            <a:ln w="6350">
              <a:solidFill>
                <a:srgbClr val="256db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zh-CN" sz="2400" spc="-1" strike="noStrike">
                  <a:solidFill>
                    <a:schemeClr val="dk1"/>
                  </a:solidFill>
                  <a:latin typeface="宋体"/>
                  <a:ea typeface="宋体"/>
                </a:rPr>
                <a:t>数学建模活动与数学探究活动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366" name="直接连接符 38"/>
            <p:cNvCxnSpPr/>
            <p:nvPr/>
          </p:nvCxnSpPr>
          <p:spPr>
            <a:xfrm>
              <a:off x="5010480" y="4401000"/>
              <a:ext cx="9000" cy="1840320"/>
            </a:xfrm>
            <a:prstGeom prst="straightConnector1">
              <a:avLst/>
            </a:prstGeom>
            <a:ln w="0">
              <a:solidFill>
                <a:srgbClr val="000000"/>
              </a:solidFill>
            </a:ln>
          </p:spPr>
        </p:cxnSp>
        <p:cxnSp>
          <p:nvCxnSpPr>
            <p:cNvPr id="367" name="直接连接符 39"/>
            <p:cNvCxnSpPr/>
            <p:nvPr/>
          </p:nvCxnSpPr>
          <p:spPr>
            <a:xfrm flipV="1">
              <a:off x="5010480" y="4401000"/>
              <a:ext cx="397080" cy="8280"/>
            </a:xfrm>
            <a:prstGeom prst="straightConnector1">
              <a:avLst/>
            </a:prstGeom>
            <a:ln w="0">
              <a:solidFill>
                <a:srgbClr val="000000"/>
              </a:solidFill>
            </a:ln>
          </p:spPr>
        </p:cxnSp>
        <p:cxnSp>
          <p:nvCxnSpPr>
            <p:cNvPr id="368" name="直接连接符 40"/>
            <p:cNvCxnSpPr/>
            <p:nvPr/>
          </p:nvCxnSpPr>
          <p:spPr>
            <a:xfrm flipV="1">
              <a:off x="5010480" y="4995360"/>
              <a:ext cx="397080" cy="8280"/>
            </a:xfrm>
            <a:prstGeom prst="straightConnector1">
              <a:avLst/>
            </a:prstGeom>
            <a:ln w="0">
              <a:solidFill>
                <a:srgbClr val="000000"/>
              </a:solidFill>
            </a:ln>
          </p:spPr>
        </p:cxnSp>
        <p:cxnSp>
          <p:nvCxnSpPr>
            <p:cNvPr id="369" name="直接连接符 41"/>
            <p:cNvCxnSpPr/>
            <p:nvPr/>
          </p:nvCxnSpPr>
          <p:spPr>
            <a:xfrm flipV="1">
              <a:off x="5030280" y="5629680"/>
              <a:ext cx="397080" cy="8280"/>
            </a:xfrm>
            <a:prstGeom prst="straightConnector1">
              <a:avLst/>
            </a:prstGeom>
            <a:ln w="0">
              <a:solidFill>
                <a:srgbClr val="000000"/>
              </a:solidFill>
            </a:ln>
          </p:spPr>
        </p:cxnSp>
        <p:cxnSp>
          <p:nvCxnSpPr>
            <p:cNvPr id="370" name="直接连接符 42"/>
            <p:cNvCxnSpPr/>
            <p:nvPr/>
          </p:nvCxnSpPr>
          <p:spPr>
            <a:xfrm flipV="1">
              <a:off x="5030280" y="6236280"/>
              <a:ext cx="397080" cy="8280"/>
            </a:xfrm>
            <a:prstGeom prst="straightConnector1">
              <a:avLst/>
            </a:prstGeom>
            <a:ln w="0">
              <a:solidFill>
                <a:srgbClr val="000000"/>
              </a:solidFill>
            </a:ln>
          </p:spPr>
        </p:cxnSp>
      </p:grpSp>
      <p:sp>
        <p:nvSpPr>
          <p:cNvPr id="371" name="文本框 1"/>
          <p:cNvSpPr/>
          <p:nvPr/>
        </p:nvSpPr>
        <p:spPr>
          <a:xfrm>
            <a:off x="7068960" y="1445760"/>
            <a:ext cx="1434240" cy="455400"/>
          </a:xfrm>
          <a:prstGeom prst="rect">
            <a:avLst/>
          </a:prstGeom>
          <a:noFill/>
          <a:ln w="6350">
            <a:solidFill>
              <a:srgbClr val="256db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zh-CN" sz="2400" spc="-1" strike="noStrike">
                <a:solidFill>
                  <a:srgbClr val="ff0000"/>
                </a:solidFill>
                <a:latin typeface="宋体"/>
                <a:ea typeface="宋体"/>
              </a:rPr>
              <a:t>不等式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文本框 9"/>
          <p:cNvSpPr/>
          <p:nvPr/>
        </p:nvSpPr>
        <p:spPr>
          <a:xfrm>
            <a:off x="8659440" y="1446480"/>
            <a:ext cx="1434240" cy="455400"/>
          </a:xfrm>
          <a:prstGeom prst="rect">
            <a:avLst/>
          </a:prstGeom>
          <a:noFill/>
          <a:ln w="6350">
            <a:solidFill>
              <a:srgbClr val="256db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zh-CN" sz="2400" spc="-1" strike="noStrike">
                <a:solidFill>
                  <a:srgbClr val="ff0000"/>
                </a:solidFill>
                <a:latin typeface="宋体"/>
                <a:ea typeface="宋体"/>
              </a:rPr>
              <a:t>函数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文本框 10"/>
          <p:cNvSpPr/>
          <p:nvPr/>
        </p:nvSpPr>
        <p:spPr>
          <a:xfrm>
            <a:off x="7480440" y="2025360"/>
            <a:ext cx="1851480" cy="455400"/>
          </a:xfrm>
          <a:prstGeom prst="rect">
            <a:avLst/>
          </a:prstGeom>
          <a:noFill/>
          <a:ln w="6350">
            <a:solidFill>
              <a:srgbClr val="256db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zh-CN" sz="2400" spc="-1" strike="noStrike">
                <a:solidFill>
                  <a:srgbClr val="ff0000"/>
                </a:solidFill>
                <a:latin typeface="宋体"/>
                <a:ea typeface="宋体"/>
              </a:rPr>
              <a:t>复数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文本框 11"/>
          <p:cNvSpPr/>
          <p:nvPr/>
        </p:nvSpPr>
        <p:spPr>
          <a:xfrm>
            <a:off x="7421040" y="2600280"/>
            <a:ext cx="2404800" cy="455400"/>
          </a:xfrm>
          <a:prstGeom prst="rect">
            <a:avLst/>
          </a:prstGeom>
          <a:noFill/>
          <a:ln w="6350">
            <a:solidFill>
              <a:srgbClr val="256db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zh-CN" sz="2400" spc="-1" strike="noStrike">
                <a:solidFill>
                  <a:srgbClr val="ff0000"/>
                </a:solidFill>
                <a:latin typeface="宋体"/>
                <a:ea typeface="宋体"/>
              </a:rPr>
              <a:t>空间直线与平面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文本框 26"/>
          <p:cNvSpPr/>
          <p:nvPr/>
        </p:nvSpPr>
        <p:spPr>
          <a:xfrm>
            <a:off x="9871920" y="2616480"/>
            <a:ext cx="2404800" cy="455400"/>
          </a:xfrm>
          <a:prstGeom prst="rect">
            <a:avLst/>
          </a:prstGeom>
          <a:noFill/>
          <a:ln w="6350">
            <a:solidFill>
              <a:srgbClr val="256db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zh-CN" sz="2400" spc="-1" strike="noStrike">
                <a:solidFill>
                  <a:srgbClr val="ff0000"/>
                </a:solidFill>
                <a:latin typeface="宋体"/>
                <a:ea typeface="宋体"/>
              </a:rPr>
              <a:t>几何体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文本框 33"/>
          <p:cNvSpPr/>
          <p:nvPr/>
        </p:nvSpPr>
        <p:spPr>
          <a:xfrm>
            <a:off x="7279560" y="3961800"/>
            <a:ext cx="1434240" cy="821160"/>
          </a:xfrm>
          <a:prstGeom prst="rect">
            <a:avLst/>
          </a:prstGeom>
          <a:noFill/>
          <a:ln w="6350">
            <a:solidFill>
              <a:srgbClr val="256db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zh-CN" sz="2400" spc="-1" strike="noStrike">
                <a:solidFill>
                  <a:srgbClr val="ff0000"/>
                </a:solidFill>
                <a:latin typeface="宋体"/>
                <a:ea typeface="宋体"/>
              </a:rPr>
              <a:t>空间向量及其应用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文本框 46"/>
          <p:cNvSpPr/>
          <p:nvPr/>
        </p:nvSpPr>
        <p:spPr>
          <a:xfrm>
            <a:off x="8785440" y="4133880"/>
            <a:ext cx="1434240" cy="455400"/>
          </a:xfrm>
          <a:prstGeom prst="rect">
            <a:avLst/>
          </a:prstGeom>
          <a:noFill/>
          <a:ln w="6350">
            <a:solidFill>
              <a:srgbClr val="256db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zh-CN" sz="2400" spc="-1" strike="noStrike">
                <a:solidFill>
                  <a:srgbClr val="ff0000"/>
                </a:solidFill>
                <a:latin typeface="宋体"/>
                <a:ea typeface="宋体"/>
              </a:rPr>
              <a:t>平面直线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文本框 47"/>
          <p:cNvSpPr/>
          <p:nvPr/>
        </p:nvSpPr>
        <p:spPr>
          <a:xfrm>
            <a:off x="10357200" y="4106880"/>
            <a:ext cx="1434240" cy="455400"/>
          </a:xfrm>
          <a:prstGeom prst="rect">
            <a:avLst/>
          </a:prstGeom>
          <a:noFill/>
          <a:ln w="6350">
            <a:solidFill>
              <a:srgbClr val="256db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zh-CN" sz="2400" spc="-1" strike="noStrike">
                <a:solidFill>
                  <a:srgbClr val="ff0000"/>
                </a:solidFill>
                <a:latin typeface="宋体"/>
                <a:ea typeface="宋体"/>
              </a:rPr>
              <a:t>圆锥曲线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文本框 48"/>
          <p:cNvSpPr/>
          <p:nvPr/>
        </p:nvSpPr>
        <p:spPr>
          <a:xfrm>
            <a:off x="6849720" y="4764600"/>
            <a:ext cx="1010880" cy="455400"/>
          </a:xfrm>
          <a:prstGeom prst="rect">
            <a:avLst/>
          </a:prstGeom>
          <a:noFill/>
          <a:ln w="6350">
            <a:solidFill>
              <a:srgbClr val="256db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zh-CN" sz="2400" spc="-1" strike="noStrike">
                <a:solidFill>
                  <a:srgbClr val="ff0000"/>
                </a:solidFill>
                <a:latin typeface="宋体"/>
                <a:ea typeface="宋体"/>
              </a:rPr>
              <a:t>导数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文本框 49"/>
          <p:cNvSpPr/>
          <p:nvPr/>
        </p:nvSpPr>
        <p:spPr>
          <a:xfrm>
            <a:off x="8204760" y="4757400"/>
            <a:ext cx="1486800" cy="455400"/>
          </a:xfrm>
          <a:prstGeom prst="rect">
            <a:avLst/>
          </a:prstGeom>
          <a:noFill/>
          <a:ln w="6350">
            <a:solidFill>
              <a:srgbClr val="256db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zh-CN" sz="2400" spc="-1" strike="noStrike">
                <a:solidFill>
                  <a:srgbClr val="ff0000"/>
                </a:solidFill>
                <a:latin typeface="宋体"/>
                <a:ea typeface="宋体"/>
              </a:rPr>
              <a:t>计数原理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>
        <p:random/>
      </p:transition>
    </mc:Choice>
    <mc:Fallback>
      <p:transition spd="slow">
        <p:random/>
      </p:transition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矩形 4"/>
          <p:cNvSpPr/>
          <p:nvPr/>
        </p:nvSpPr>
        <p:spPr>
          <a:xfrm>
            <a:off x="2190600" y="1450440"/>
            <a:ext cx="5706000" cy="23673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微软雅黑"/>
            </a:endParaRPr>
          </a:p>
        </p:txBody>
      </p:sp>
      <p:grpSp>
        <p:nvGrpSpPr>
          <p:cNvPr id="382" name="组合 8"/>
          <p:cNvGrpSpPr/>
          <p:nvPr/>
        </p:nvGrpSpPr>
        <p:grpSpPr>
          <a:xfrm>
            <a:off x="0" y="74880"/>
            <a:ext cx="12191400" cy="6850800"/>
            <a:chOff x="0" y="74880"/>
            <a:chExt cx="12191400" cy="6850800"/>
          </a:xfrm>
        </p:grpSpPr>
        <p:pic>
          <p:nvPicPr>
            <p:cNvPr id="383" name="图片 3" descr=""/>
            <p:cNvPicPr/>
            <p:nvPr/>
          </p:nvPicPr>
          <p:blipFill>
            <a:blip r:embed="rId1"/>
            <a:stretch/>
          </p:blipFill>
          <p:spPr>
            <a:xfrm>
              <a:off x="0" y="74880"/>
              <a:ext cx="12191400" cy="685080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384" name="组合 7"/>
            <p:cNvGrpSpPr/>
            <p:nvPr/>
          </p:nvGrpSpPr>
          <p:grpSpPr>
            <a:xfrm>
              <a:off x="2094840" y="2054880"/>
              <a:ext cx="7998840" cy="4237200"/>
              <a:chOff x="2094840" y="2054880"/>
              <a:chExt cx="7998840" cy="4237200"/>
            </a:xfrm>
          </p:grpSpPr>
          <p:sp>
            <p:nvSpPr>
              <p:cNvPr id="385" name="矩形 5"/>
              <p:cNvSpPr/>
              <p:nvPr/>
            </p:nvSpPr>
            <p:spPr>
              <a:xfrm>
                <a:off x="2094840" y="2054880"/>
                <a:ext cx="7998840" cy="183744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r>
                  <a:rPr b="0" lang="zh-CN" sz="1800" spc="-1" strike="noStrike">
                    <a:solidFill>
                      <a:schemeClr val="lt1"/>
                    </a:solidFill>
                    <a:latin typeface="Arial"/>
                    <a:ea typeface="微软雅黑"/>
                  </a:rPr>
                  <a:t>提起数学，你会想到什么？加减乘除，几何高数，还是上学时“被支配的恐惧”？对大多数人来说，数学这门学科很抽象，但是，有一些人把数学变得实用。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  <a:p>
                <a:pPr algn="ctr"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  <a:p>
                <a:pPr algn="ctr" defTabSz="914400">
                  <a:lnSpc>
                    <a:spcPct val="100000"/>
                  </a:lnSpc>
                </a:pPr>
                <a:r>
                  <a:rPr b="0" lang="en-US" sz="1800" spc="-1" strike="noStrike">
                    <a:solidFill>
                      <a:schemeClr val="lt1"/>
                    </a:solidFill>
                    <a:latin typeface="Arial"/>
                    <a:ea typeface="微软雅黑"/>
                  </a:rPr>
                  <a:t>     </a:t>
                </a:r>
                <a:r>
                  <a:rPr b="0" lang="zh-CN" sz="1800" spc="-1" strike="noStrike">
                    <a:solidFill>
                      <a:schemeClr val="lt1"/>
                    </a:solidFill>
                    <a:latin typeface="Arial"/>
                    <a:ea typeface="微软雅黑"/>
                  </a:rPr>
                  <a:t>颠覆想象！大部分人学了</a:t>
                </a:r>
                <a:r>
                  <a:rPr b="0" lang="en-US" sz="1800" spc="-1" strike="noStrike">
                    <a:solidFill>
                      <a:schemeClr val="lt1"/>
                    </a:solidFill>
                    <a:latin typeface="Arial"/>
                    <a:ea typeface="微软雅黑"/>
                  </a:rPr>
                  <a:t>9</a:t>
                </a:r>
                <a:r>
                  <a:rPr b="0" lang="zh-CN" sz="1800" spc="-1" strike="noStrike">
                    <a:solidFill>
                      <a:schemeClr val="lt1"/>
                    </a:solidFill>
                    <a:latin typeface="Arial"/>
                    <a:ea typeface="微软雅黑"/>
                  </a:rPr>
                  <a:t>年甚至</a:t>
                </a:r>
                <a:r>
                  <a:rPr b="0" lang="en-US" sz="1800" spc="-1" strike="noStrike">
                    <a:solidFill>
                      <a:schemeClr val="lt1"/>
                    </a:solidFill>
                    <a:latin typeface="Arial"/>
                    <a:ea typeface="微软雅黑"/>
                  </a:rPr>
                  <a:t>12</a:t>
                </a:r>
                <a:r>
                  <a:rPr b="0" lang="zh-CN" sz="1800" spc="-1" strike="noStrike">
                    <a:solidFill>
                      <a:schemeClr val="lt1"/>
                    </a:solidFill>
                    <a:latin typeface="Arial"/>
                    <a:ea typeface="微软雅黑"/>
                  </a:rPr>
                  <a:t>年的数学，也仅仅学到了微积分之前，这也只是</a:t>
                </a:r>
                <a:r>
                  <a:rPr b="0" lang="en-US" sz="1800" spc="-1" strike="noStrike">
                    <a:solidFill>
                      <a:schemeClr val="lt1"/>
                    </a:solidFill>
                    <a:latin typeface="Arial"/>
                    <a:ea typeface="微软雅黑"/>
                  </a:rPr>
                  <a:t>16</a:t>
                </a:r>
                <a:r>
                  <a:rPr b="0" lang="zh-CN" sz="1800" spc="-1" strike="noStrike">
                    <a:solidFill>
                      <a:schemeClr val="lt1"/>
                    </a:solidFill>
                    <a:latin typeface="Arial"/>
                    <a:ea typeface="微软雅黑"/>
                  </a:rPr>
                  <a:t>世纪的数学。既然如此，数学为什么依然是全世界每一个孩子的必修课呢？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  <a:p>
                <a:pPr algn="ctr"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  <a:p>
                <a:pPr algn="ctr" defTabSz="914400">
                  <a:lnSpc>
                    <a:spcPct val="100000"/>
                  </a:lnSpc>
                </a:pPr>
                <a:r>
                  <a:rPr b="0" lang="en-US" sz="1800" spc="-1" strike="noStrike">
                    <a:solidFill>
                      <a:schemeClr val="lt1"/>
                    </a:solidFill>
                    <a:latin typeface="Arial"/>
                    <a:ea typeface="微软雅黑"/>
                  </a:rPr>
                  <a:t>     </a:t>
                </a:r>
                <a:r>
                  <a:rPr b="0" lang="zh-CN" sz="1800" spc="-1" strike="noStrike">
                    <a:solidFill>
                      <a:schemeClr val="lt1"/>
                    </a:solidFill>
                    <a:latin typeface="Arial"/>
                    <a:ea typeface="微软雅黑"/>
                  </a:rPr>
                  <a:t>提起数学，许多人首先想到的是枯燥、抽象。但是在某些人眼中，数学充满了魅力，它严谨、纯粹、有用。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86" name="矩形 6"/>
              <p:cNvSpPr/>
              <p:nvPr/>
            </p:nvSpPr>
            <p:spPr>
              <a:xfrm>
                <a:off x="3618720" y="4454640"/>
                <a:ext cx="5704920" cy="183744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  <a:ea typeface="微软雅黑"/>
                </a:endParaRPr>
              </a:p>
            </p:txBody>
          </p:sp>
        </p:grpSp>
      </p:grpSp>
      <p:grpSp>
        <p:nvGrpSpPr>
          <p:cNvPr id="387" name="组合 11"/>
          <p:cNvGrpSpPr/>
          <p:nvPr/>
        </p:nvGrpSpPr>
        <p:grpSpPr>
          <a:xfrm>
            <a:off x="2019240" y="1614960"/>
            <a:ext cx="6656760" cy="2868840"/>
            <a:chOff x="2019240" y="1614960"/>
            <a:chExt cx="6656760" cy="2868840"/>
          </a:xfrm>
        </p:grpSpPr>
        <p:sp>
          <p:nvSpPr>
            <p:cNvPr id="388" name="文本框 9"/>
            <p:cNvSpPr/>
            <p:nvPr/>
          </p:nvSpPr>
          <p:spPr>
            <a:xfrm>
              <a:off x="3643560" y="1614960"/>
              <a:ext cx="5032440" cy="2868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90000"/>
                </a:lnSpc>
              </a:pPr>
              <a:r>
                <a:rPr b="1" lang="zh-CN" sz="2400" spc="-1" strike="noStrike">
                  <a:solidFill>
                    <a:schemeClr val="dk1"/>
                  </a:solidFill>
                  <a:latin typeface="宋体"/>
                  <a:ea typeface="宋体"/>
                </a:rPr>
                <a:t>高考数学分值：</a:t>
              </a:r>
              <a:r>
                <a:rPr b="1" lang="en-US" sz="2400" spc="-1" strike="noStrike">
                  <a:solidFill>
                    <a:srgbClr val="ff0000"/>
                  </a:solidFill>
                  <a:latin typeface="宋体"/>
                  <a:ea typeface="宋体"/>
                </a:rPr>
                <a:t>150</a:t>
              </a:r>
              <a:r>
                <a:rPr b="1" lang="zh-CN" sz="2400" spc="-1" strike="noStrike">
                  <a:solidFill>
                    <a:srgbClr val="ff0000"/>
                  </a:solidFill>
                  <a:latin typeface="宋体"/>
                  <a:ea typeface="宋体"/>
                </a:rPr>
                <a:t>分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  <a:p>
              <a:pPr defTabSz="914400">
                <a:lnSpc>
                  <a:spcPct val="190000"/>
                </a:lnSpc>
              </a:pPr>
              <a:r>
                <a:rPr b="1" lang="zh-CN" sz="2400" spc="-1" strike="noStrike">
                  <a:solidFill>
                    <a:srgbClr val="ff0000"/>
                  </a:solidFill>
                  <a:latin typeface="宋体"/>
                  <a:ea typeface="宋体"/>
                </a:rPr>
                <a:t>单选题：</a:t>
              </a:r>
              <a:r>
                <a:rPr b="1" lang="en-US" sz="2400" spc="-1" strike="noStrike">
                  <a:solidFill>
                    <a:srgbClr val="ff0000"/>
                  </a:solidFill>
                  <a:latin typeface="宋体"/>
                  <a:ea typeface="宋体"/>
                </a:rPr>
                <a:t>2</a:t>
              </a:r>
              <a:r>
                <a:rPr b="1" lang="zh-CN" sz="2400" spc="-1" strike="noStrike">
                  <a:solidFill>
                    <a:srgbClr val="ff0000"/>
                  </a:solidFill>
                  <a:latin typeface="宋体"/>
                  <a:ea typeface="宋体"/>
                </a:rPr>
                <a:t>道；</a:t>
              </a:r>
              <a:r>
                <a:rPr b="1" lang="en-US" sz="2400" spc="-1" strike="noStrike">
                  <a:solidFill>
                    <a:srgbClr val="ff0000"/>
                  </a:solidFill>
                  <a:latin typeface="宋体"/>
                  <a:ea typeface="宋体"/>
                </a:rPr>
                <a:t>54</a:t>
              </a:r>
              <a:r>
                <a:rPr b="1" lang="zh-CN" sz="2400" spc="-1" strike="noStrike">
                  <a:solidFill>
                    <a:srgbClr val="ff0000"/>
                  </a:solidFill>
                  <a:latin typeface="宋体"/>
                  <a:ea typeface="宋体"/>
                </a:rPr>
                <a:t>分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  <a:p>
              <a:pPr defTabSz="914400">
                <a:lnSpc>
                  <a:spcPct val="190000"/>
                </a:lnSpc>
              </a:pPr>
              <a:r>
                <a:rPr b="1" lang="zh-CN" sz="2400" spc="-1" strike="noStrike">
                  <a:solidFill>
                    <a:srgbClr val="ff0000"/>
                  </a:solidFill>
                  <a:latin typeface="宋体"/>
                  <a:ea typeface="宋体"/>
                </a:rPr>
                <a:t>填空题：</a:t>
              </a:r>
              <a:r>
                <a:rPr b="1" lang="zh-CN" sz="2400" spc="-1" strike="noStrike">
                  <a:solidFill>
                    <a:srgbClr val="ff0000"/>
                  </a:solidFill>
                  <a:latin typeface="Cambria Math"/>
                  <a:ea typeface="宋体"/>
                </a:rPr>
                <a:t>道；</a:t>
              </a:r>
              <a:r>
                <a:rPr b="1" lang="en-US" sz="2400" spc="-1" strike="noStrike">
                  <a:solidFill>
                    <a:srgbClr val="ff0000"/>
                  </a:solidFill>
                  <a:latin typeface="Cambria Math"/>
                  <a:ea typeface="宋体"/>
                </a:rPr>
                <a:t>18</a:t>
              </a:r>
              <a:r>
                <a:rPr b="1" lang="zh-CN" sz="2400" spc="-1" strike="noStrike">
                  <a:solidFill>
                    <a:srgbClr val="ff0000"/>
                  </a:solidFill>
                  <a:latin typeface="Cambria Math"/>
                  <a:ea typeface="宋体"/>
                </a:rPr>
                <a:t>分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  <a:p>
              <a:pPr defTabSz="914400">
                <a:lnSpc>
                  <a:spcPct val="190000"/>
                </a:lnSpc>
              </a:pPr>
              <a:r>
                <a:rPr b="1" lang="zh-CN" sz="2400" spc="-1" strike="noStrike">
                  <a:solidFill>
                    <a:srgbClr val="ff0000"/>
                  </a:solidFill>
                  <a:latin typeface="Cambria Math"/>
                  <a:ea typeface="宋体"/>
                </a:rPr>
                <a:t>解答题：</a:t>
              </a:r>
              <a:r>
                <a:rPr b="1" lang="zh-CN" sz="2400" spc="-1" strike="noStrike">
                  <a:solidFill>
                    <a:srgbClr val="ff0000"/>
                  </a:solidFill>
                  <a:latin typeface="宋体"/>
                  <a:ea typeface="宋体"/>
                </a:rPr>
                <a:t>道；</a:t>
              </a:r>
              <a:r>
                <a:rPr b="1" lang="en-US" sz="2400" spc="-1" strike="noStrike">
                  <a:solidFill>
                    <a:srgbClr val="ff0000"/>
                  </a:solidFill>
                  <a:latin typeface="宋体"/>
                  <a:ea typeface="宋体"/>
                </a:rPr>
                <a:t>78</a:t>
              </a:r>
              <a:r>
                <a:rPr b="1" lang="zh-CN" sz="2400" spc="-1" strike="noStrike">
                  <a:solidFill>
                    <a:srgbClr val="ff0000"/>
                  </a:solidFill>
                  <a:latin typeface="宋体"/>
                  <a:ea typeface="宋体"/>
                </a:rPr>
                <a:t>分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9" name="矩形 10"/>
            <p:cNvSpPr/>
            <p:nvPr/>
          </p:nvSpPr>
          <p:spPr>
            <a:xfrm>
              <a:off x="2019240" y="1614960"/>
              <a:ext cx="74880" cy="748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30600" bIns="306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微软雅黑"/>
              </a:endParaRPr>
            </a:p>
          </p:txBody>
        </p:sp>
      </p:grpSp>
    </p:spTree>
  </p:cSld>
  <mc:AlternateContent>
    <mc:Choice Requires="p14">
      <p:transition spd="slow" p14:dur="2000">
        <p:random/>
      </p:transition>
    </mc:Choice>
    <mc:Fallback>
      <p:transition spd="slow">
        <p:random/>
      </p:transition>
    </mc:Fallback>
  </mc:AlternateContent>
  <p:timing>
    <p:tnLst>
      <p:par>
        <p:cTn id="325" dur="indefinite" restart="never" nodeType="tmRoot">
          <p:childTnLst>
            <p:seq>
              <p:cTn id="326" dur="indefinite" nodeType="mainSeq">
                <p:childTnLst>
                  <p:par>
                    <p:cTn id="327" fill="hold">
                      <p:stCondLst>
                        <p:cond delay="indefinite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矩形 4"/>
          <p:cNvSpPr/>
          <p:nvPr/>
        </p:nvSpPr>
        <p:spPr>
          <a:xfrm>
            <a:off x="2190600" y="1450440"/>
            <a:ext cx="5706000" cy="23673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微软雅黑"/>
            </a:endParaRPr>
          </a:p>
        </p:txBody>
      </p:sp>
      <p:grpSp>
        <p:nvGrpSpPr>
          <p:cNvPr id="391" name="组合 8"/>
          <p:cNvGrpSpPr/>
          <p:nvPr/>
        </p:nvGrpSpPr>
        <p:grpSpPr>
          <a:xfrm>
            <a:off x="0" y="74880"/>
            <a:ext cx="12191400" cy="6850800"/>
            <a:chOff x="0" y="74880"/>
            <a:chExt cx="12191400" cy="6850800"/>
          </a:xfrm>
        </p:grpSpPr>
        <p:pic>
          <p:nvPicPr>
            <p:cNvPr id="392" name="图片 3" descr=""/>
            <p:cNvPicPr/>
            <p:nvPr/>
          </p:nvPicPr>
          <p:blipFill>
            <a:blip r:embed="rId1"/>
            <a:stretch/>
          </p:blipFill>
          <p:spPr>
            <a:xfrm>
              <a:off x="0" y="74880"/>
              <a:ext cx="12191400" cy="685080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393" name="组合 7"/>
            <p:cNvGrpSpPr/>
            <p:nvPr/>
          </p:nvGrpSpPr>
          <p:grpSpPr>
            <a:xfrm>
              <a:off x="2094840" y="2054880"/>
              <a:ext cx="7998840" cy="4237200"/>
              <a:chOff x="2094840" y="2054880"/>
              <a:chExt cx="7998840" cy="4237200"/>
            </a:xfrm>
          </p:grpSpPr>
          <p:sp>
            <p:nvSpPr>
              <p:cNvPr id="394" name="矩形 5"/>
              <p:cNvSpPr/>
              <p:nvPr/>
            </p:nvSpPr>
            <p:spPr>
              <a:xfrm>
                <a:off x="2094840" y="2054880"/>
                <a:ext cx="7998840" cy="183744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r>
                  <a:rPr b="0" lang="zh-CN" sz="1800" spc="-1" strike="noStrike">
                    <a:solidFill>
                      <a:schemeClr val="lt1"/>
                    </a:solidFill>
                    <a:latin typeface="Arial"/>
                    <a:ea typeface="微软雅黑"/>
                  </a:rPr>
                  <a:t>提起数学，你会想到什么？加减乘除，几何高数，还是上学时“被支配的恐惧”？对大多数人来说，数学这门学科很抽象，但是，有一些人把数学变得实用。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  <a:p>
                <a:pPr algn="ctr"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  <a:p>
                <a:pPr algn="ctr" defTabSz="914400">
                  <a:lnSpc>
                    <a:spcPct val="100000"/>
                  </a:lnSpc>
                </a:pPr>
                <a:r>
                  <a:rPr b="0" lang="en-US" sz="1800" spc="-1" strike="noStrike">
                    <a:solidFill>
                      <a:schemeClr val="lt1"/>
                    </a:solidFill>
                    <a:latin typeface="Arial"/>
                    <a:ea typeface="微软雅黑"/>
                  </a:rPr>
                  <a:t>     </a:t>
                </a:r>
                <a:r>
                  <a:rPr b="0" lang="zh-CN" sz="1800" spc="-1" strike="noStrike">
                    <a:solidFill>
                      <a:schemeClr val="lt1"/>
                    </a:solidFill>
                    <a:latin typeface="Arial"/>
                    <a:ea typeface="微软雅黑"/>
                  </a:rPr>
                  <a:t>颠覆想象！大部分人学了</a:t>
                </a:r>
                <a:r>
                  <a:rPr b="0" lang="en-US" sz="1800" spc="-1" strike="noStrike">
                    <a:solidFill>
                      <a:schemeClr val="lt1"/>
                    </a:solidFill>
                    <a:latin typeface="Arial"/>
                    <a:ea typeface="微软雅黑"/>
                  </a:rPr>
                  <a:t>9</a:t>
                </a:r>
                <a:r>
                  <a:rPr b="0" lang="zh-CN" sz="1800" spc="-1" strike="noStrike">
                    <a:solidFill>
                      <a:schemeClr val="lt1"/>
                    </a:solidFill>
                    <a:latin typeface="Arial"/>
                    <a:ea typeface="微软雅黑"/>
                  </a:rPr>
                  <a:t>年甚至</a:t>
                </a:r>
                <a:r>
                  <a:rPr b="0" lang="en-US" sz="1800" spc="-1" strike="noStrike">
                    <a:solidFill>
                      <a:schemeClr val="lt1"/>
                    </a:solidFill>
                    <a:latin typeface="Arial"/>
                    <a:ea typeface="微软雅黑"/>
                  </a:rPr>
                  <a:t>12</a:t>
                </a:r>
                <a:r>
                  <a:rPr b="0" lang="zh-CN" sz="1800" spc="-1" strike="noStrike">
                    <a:solidFill>
                      <a:schemeClr val="lt1"/>
                    </a:solidFill>
                    <a:latin typeface="Arial"/>
                    <a:ea typeface="微软雅黑"/>
                  </a:rPr>
                  <a:t>年的数学，也仅仅学到了微积分之前，这也只是</a:t>
                </a:r>
                <a:r>
                  <a:rPr b="0" lang="en-US" sz="1800" spc="-1" strike="noStrike">
                    <a:solidFill>
                      <a:schemeClr val="lt1"/>
                    </a:solidFill>
                    <a:latin typeface="Arial"/>
                    <a:ea typeface="微软雅黑"/>
                  </a:rPr>
                  <a:t>16</a:t>
                </a:r>
                <a:r>
                  <a:rPr b="0" lang="zh-CN" sz="1800" spc="-1" strike="noStrike">
                    <a:solidFill>
                      <a:schemeClr val="lt1"/>
                    </a:solidFill>
                    <a:latin typeface="Arial"/>
                    <a:ea typeface="微软雅黑"/>
                  </a:rPr>
                  <a:t>世纪的数学。既然如此，数学为什么依然是全世界每一个孩子的必修课呢？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  <a:p>
                <a:pPr algn="ctr"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  <a:p>
                <a:pPr algn="ctr" defTabSz="914400">
                  <a:lnSpc>
                    <a:spcPct val="100000"/>
                  </a:lnSpc>
                </a:pPr>
                <a:r>
                  <a:rPr b="0" lang="en-US" sz="1800" spc="-1" strike="noStrike">
                    <a:solidFill>
                      <a:schemeClr val="lt1"/>
                    </a:solidFill>
                    <a:latin typeface="Arial"/>
                    <a:ea typeface="微软雅黑"/>
                  </a:rPr>
                  <a:t>     </a:t>
                </a:r>
                <a:r>
                  <a:rPr b="0" lang="zh-CN" sz="1800" spc="-1" strike="noStrike">
                    <a:solidFill>
                      <a:schemeClr val="lt1"/>
                    </a:solidFill>
                    <a:latin typeface="Arial"/>
                    <a:ea typeface="微软雅黑"/>
                  </a:rPr>
                  <a:t>提起数学，许多人首先想到的是枯燥、抽象。但是在某些人眼中，数学充满了魅力，它严谨、纯粹、有用。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95" name="矩形 6"/>
              <p:cNvSpPr/>
              <p:nvPr/>
            </p:nvSpPr>
            <p:spPr>
              <a:xfrm>
                <a:off x="3618720" y="4454640"/>
                <a:ext cx="5704920" cy="183744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  <a:ea typeface="微软雅黑"/>
                </a:endParaRPr>
              </a:p>
            </p:txBody>
          </p:sp>
        </p:grpSp>
      </p:grpSp>
      <p:sp>
        <p:nvSpPr>
          <p:cNvPr id="396" name="文本框 12"/>
          <p:cNvSpPr/>
          <p:nvPr/>
        </p:nvSpPr>
        <p:spPr>
          <a:xfrm>
            <a:off x="1466280" y="305280"/>
            <a:ext cx="44406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zh-CN" sz="3200" spc="-1" strike="noStrike">
                <a:solidFill>
                  <a:srgbClr val="246e9e"/>
                </a:solidFill>
                <a:latin typeface="宋体"/>
                <a:ea typeface="宋体"/>
              </a:rPr>
              <a:t>高中数学学法指导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97" name="组合 20"/>
          <p:cNvGrpSpPr/>
          <p:nvPr/>
        </p:nvGrpSpPr>
        <p:grpSpPr>
          <a:xfrm>
            <a:off x="1788120" y="2888640"/>
            <a:ext cx="5717520" cy="1844640"/>
            <a:chOff x="1788120" y="2888640"/>
            <a:chExt cx="5717520" cy="1844640"/>
          </a:xfrm>
        </p:grpSpPr>
        <p:sp>
          <p:nvSpPr>
            <p:cNvPr id="398" name="文本框 21"/>
            <p:cNvSpPr/>
            <p:nvPr/>
          </p:nvSpPr>
          <p:spPr>
            <a:xfrm>
              <a:off x="1788120" y="2888640"/>
              <a:ext cx="5717520" cy="1844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60000"/>
                </a:lnSpc>
              </a:pPr>
              <a:r>
                <a:rPr b="1" lang="zh-CN" sz="2400" spc="-1" strike="noStrike">
                  <a:solidFill>
                    <a:schemeClr val="dk1"/>
                  </a:solidFill>
                  <a:latin typeface="宋体"/>
                  <a:ea typeface="宋体"/>
                </a:rPr>
                <a:t>课前：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  <a:p>
              <a:pPr defTabSz="914400">
                <a:lnSpc>
                  <a:spcPct val="160000"/>
                </a:lnSpc>
              </a:pPr>
              <a:r>
                <a:rPr b="1" lang="zh-CN" sz="2400" spc="-1" strike="noStrike">
                  <a:solidFill>
                    <a:srgbClr val="ff0000"/>
                  </a:solidFill>
                  <a:latin typeface="宋体"/>
                  <a:ea typeface="宋体"/>
                </a:rPr>
                <a:t>课前预习教材</a:t>
              </a:r>
              <a:r>
                <a:rPr b="1" lang="en-US" sz="2400" spc="-1" strike="noStrike">
                  <a:solidFill>
                    <a:srgbClr val="ff0000"/>
                  </a:solidFill>
                  <a:latin typeface="宋体"/>
                  <a:ea typeface="宋体"/>
                </a:rPr>
                <a:t>(</a:t>
              </a:r>
              <a:r>
                <a:rPr b="1" lang="zh-CN" sz="2400" spc="-1" strike="noStrike">
                  <a:solidFill>
                    <a:srgbClr val="ff0000"/>
                  </a:solidFill>
                  <a:latin typeface="宋体"/>
                  <a:ea typeface="宋体"/>
                </a:rPr>
                <a:t>熟悉概念，标注疑难点，模仿做一遍例题</a:t>
              </a:r>
              <a:r>
                <a:rPr b="1" lang="en-US" sz="2400" spc="-1" strike="noStrike">
                  <a:solidFill>
                    <a:srgbClr val="ff0000"/>
                  </a:solidFill>
                  <a:latin typeface="宋体"/>
                  <a:ea typeface="宋体"/>
                </a:rPr>
                <a:t>)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9" name="矩形 22"/>
            <p:cNvSpPr/>
            <p:nvPr/>
          </p:nvSpPr>
          <p:spPr>
            <a:xfrm>
              <a:off x="1840320" y="3937680"/>
              <a:ext cx="74880" cy="748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30600" bIns="306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微软雅黑"/>
              </a:endParaRPr>
            </a:p>
          </p:txBody>
        </p:sp>
      </p:grpSp>
      <p:grpSp>
        <p:nvGrpSpPr>
          <p:cNvPr id="400" name="组合 13"/>
          <p:cNvGrpSpPr/>
          <p:nvPr/>
        </p:nvGrpSpPr>
        <p:grpSpPr>
          <a:xfrm>
            <a:off x="1774080" y="888840"/>
            <a:ext cx="6123240" cy="1844640"/>
            <a:chOff x="1774080" y="888840"/>
            <a:chExt cx="6123240" cy="1844640"/>
          </a:xfrm>
        </p:grpSpPr>
        <p:sp>
          <p:nvSpPr>
            <p:cNvPr id="401" name="文本框 1"/>
            <p:cNvSpPr/>
            <p:nvPr/>
          </p:nvSpPr>
          <p:spPr>
            <a:xfrm>
              <a:off x="1774080" y="888840"/>
              <a:ext cx="6123240" cy="1844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60000"/>
                </a:lnSpc>
              </a:pPr>
              <a:r>
                <a:rPr b="1" lang="zh-CN" sz="2400" spc="-1" strike="noStrike">
                  <a:solidFill>
                    <a:schemeClr val="dk1"/>
                  </a:solidFill>
                  <a:latin typeface="宋体"/>
                  <a:ea typeface="宋体"/>
                </a:rPr>
                <a:t>需要的学习用品：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  <a:p>
              <a:pPr defTabSz="914400">
                <a:lnSpc>
                  <a:spcPct val="160000"/>
                </a:lnSpc>
              </a:pPr>
              <a:r>
                <a:rPr b="1" lang="zh-CN" sz="2400" spc="-1" strike="noStrike">
                  <a:solidFill>
                    <a:srgbClr val="ff0000"/>
                  </a:solidFill>
                  <a:latin typeface="宋体"/>
                  <a:ea typeface="宋体"/>
                </a:rPr>
                <a:t>笔记本、错题本、作业本、</a:t>
              </a:r>
              <a:r>
                <a:rPr b="1" lang="zh-CN" sz="2400" spc="-1" strike="noStrike">
                  <a:solidFill>
                    <a:schemeClr val="dk1"/>
                  </a:solidFill>
                  <a:latin typeface="宋体"/>
                  <a:ea typeface="宋体"/>
                </a:rPr>
                <a:t>草稿本、尺规套装、</a:t>
              </a:r>
              <a:r>
                <a:rPr b="1" lang="zh-CN" sz="2400" spc="-1" strike="noStrike">
                  <a:solidFill>
                    <a:srgbClr val="ff0000"/>
                  </a:solidFill>
                  <a:latin typeface="宋体"/>
                  <a:ea typeface="宋体"/>
                </a:rPr>
                <a:t>不同颜色的笔、</a:t>
              </a:r>
              <a:r>
                <a:rPr b="1" lang="zh-CN" sz="2400" spc="-1" strike="noStrike">
                  <a:solidFill>
                    <a:schemeClr val="dk1"/>
                  </a:solidFill>
                  <a:latin typeface="宋体"/>
                  <a:ea typeface="宋体"/>
                </a:rPr>
                <a:t>铅笔</a:t>
              </a:r>
              <a:r>
                <a:rPr b="1" lang="en-US" sz="2400" spc="-1" strike="noStrike">
                  <a:solidFill>
                    <a:schemeClr val="dk1"/>
                  </a:solidFill>
                  <a:latin typeface="宋体"/>
                  <a:ea typeface="宋体"/>
                </a:rPr>
                <a:t>.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02" name="矩形 2"/>
            <p:cNvSpPr/>
            <p:nvPr/>
          </p:nvSpPr>
          <p:spPr>
            <a:xfrm>
              <a:off x="4408200" y="1234440"/>
              <a:ext cx="74880" cy="748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30600" bIns="306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微软雅黑"/>
              </a:endParaRPr>
            </a:p>
          </p:txBody>
        </p:sp>
      </p:grpSp>
      <p:pic>
        <p:nvPicPr>
          <p:cNvPr id="403" name="图片 14" descr=""/>
          <p:cNvPicPr/>
          <p:nvPr/>
        </p:nvPicPr>
        <p:blipFill>
          <a:blip r:embed="rId2"/>
          <a:stretch/>
        </p:blipFill>
        <p:spPr>
          <a:xfrm>
            <a:off x="7769880" y="657360"/>
            <a:ext cx="3978360" cy="5635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>
        <p:random/>
      </p:transition>
    </mc:Choice>
    <mc:Fallback>
      <p:transition spd="slow">
        <p:random/>
      </p:transition>
    </mc:Fallback>
  </mc:AlternateContent>
  <p:timing>
    <p:tnLst>
      <p:par>
        <p:cTn id="331" dur="indefinite" restart="never" nodeType="tmRoot">
          <p:childTnLst>
            <p:seq>
              <p:cTn id="332" dur="indefinite" nodeType="mainSeq">
                <p:childTnLst>
                  <p:par>
                    <p:cTn id="333" fill="hold">
                      <p:stCondLst>
                        <p:cond delay="indefinite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矩形 4"/>
          <p:cNvSpPr/>
          <p:nvPr/>
        </p:nvSpPr>
        <p:spPr>
          <a:xfrm>
            <a:off x="2190600" y="1450440"/>
            <a:ext cx="5706000" cy="23673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微软雅黑"/>
            </a:endParaRPr>
          </a:p>
        </p:txBody>
      </p:sp>
      <p:grpSp>
        <p:nvGrpSpPr>
          <p:cNvPr id="405" name="组合 8"/>
          <p:cNvGrpSpPr/>
          <p:nvPr/>
        </p:nvGrpSpPr>
        <p:grpSpPr>
          <a:xfrm>
            <a:off x="0" y="74880"/>
            <a:ext cx="12191400" cy="6850800"/>
            <a:chOff x="0" y="74880"/>
            <a:chExt cx="12191400" cy="6850800"/>
          </a:xfrm>
        </p:grpSpPr>
        <p:pic>
          <p:nvPicPr>
            <p:cNvPr id="406" name="图片 3" descr=""/>
            <p:cNvPicPr/>
            <p:nvPr/>
          </p:nvPicPr>
          <p:blipFill>
            <a:blip r:embed="rId1"/>
            <a:stretch/>
          </p:blipFill>
          <p:spPr>
            <a:xfrm>
              <a:off x="0" y="74880"/>
              <a:ext cx="12191400" cy="685080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407" name="组合 7"/>
            <p:cNvGrpSpPr/>
            <p:nvPr/>
          </p:nvGrpSpPr>
          <p:grpSpPr>
            <a:xfrm>
              <a:off x="2094840" y="2054880"/>
              <a:ext cx="7998840" cy="4237200"/>
              <a:chOff x="2094840" y="2054880"/>
              <a:chExt cx="7998840" cy="4237200"/>
            </a:xfrm>
          </p:grpSpPr>
          <p:sp>
            <p:nvSpPr>
              <p:cNvPr id="408" name="矩形 5"/>
              <p:cNvSpPr/>
              <p:nvPr/>
            </p:nvSpPr>
            <p:spPr>
              <a:xfrm>
                <a:off x="2094840" y="2054880"/>
                <a:ext cx="7998840" cy="183744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r>
                  <a:rPr b="0" lang="zh-CN" sz="1800" spc="-1" strike="noStrike">
                    <a:solidFill>
                      <a:schemeClr val="lt1"/>
                    </a:solidFill>
                    <a:latin typeface="Arial"/>
                    <a:ea typeface="微软雅黑"/>
                  </a:rPr>
                  <a:t>提起数学，你会想到什么？加减乘除，几何高数，还是上学时“被支配的恐惧”？对大多数人来说，数学这门学科很抽象，但是，有一些人把数学变得实用。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  <a:p>
                <a:pPr algn="ctr"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  <a:p>
                <a:pPr algn="ctr" defTabSz="914400">
                  <a:lnSpc>
                    <a:spcPct val="100000"/>
                  </a:lnSpc>
                </a:pPr>
                <a:r>
                  <a:rPr b="0" lang="en-US" sz="1800" spc="-1" strike="noStrike">
                    <a:solidFill>
                      <a:schemeClr val="lt1"/>
                    </a:solidFill>
                    <a:latin typeface="Arial"/>
                    <a:ea typeface="微软雅黑"/>
                  </a:rPr>
                  <a:t>     </a:t>
                </a:r>
                <a:r>
                  <a:rPr b="0" lang="zh-CN" sz="1800" spc="-1" strike="noStrike">
                    <a:solidFill>
                      <a:schemeClr val="lt1"/>
                    </a:solidFill>
                    <a:latin typeface="Arial"/>
                    <a:ea typeface="微软雅黑"/>
                  </a:rPr>
                  <a:t>颠覆想象！大部分人学了</a:t>
                </a:r>
                <a:r>
                  <a:rPr b="0" lang="en-US" sz="1800" spc="-1" strike="noStrike">
                    <a:solidFill>
                      <a:schemeClr val="lt1"/>
                    </a:solidFill>
                    <a:latin typeface="Arial"/>
                    <a:ea typeface="微软雅黑"/>
                  </a:rPr>
                  <a:t>9</a:t>
                </a:r>
                <a:r>
                  <a:rPr b="0" lang="zh-CN" sz="1800" spc="-1" strike="noStrike">
                    <a:solidFill>
                      <a:schemeClr val="lt1"/>
                    </a:solidFill>
                    <a:latin typeface="Arial"/>
                    <a:ea typeface="微软雅黑"/>
                  </a:rPr>
                  <a:t>年甚至</a:t>
                </a:r>
                <a:r>
                  <a:rPr b="0" lang="en-US" sz="1800" spc="-1" strike="noStrike">
                    <a:solidFill>
                      <a:schemeClr val="lt1"/>
                    </a:solidFill>
                    <a:latin typeface="Arial"/>
                    <a:ea typeface="微软雅黑"/>
                  </a:rPr>
                  <a:t>12</a:t>
                </a:r>
                <a:r>
                  <a:rPr b="0" lang="zh-CN" sz="1800" spc="-1" strike="noStrike">
                    <a:solidFill>
                      <a:schemeClr val="lt1"/>
                    </a:solidFill>
                    <a:latin typeface="Arial"/>
                    <a:ea typeface="微软雅黑"/>
                  </a:rPr>
                  <a:t>年的数学，也仅仅学到了微积分之前，这也只是</a:t>
                </a:r>
                <a:r>
                  <a:rPr b="0" lang="en-US" sz="1800" spc="-1" strike="noStrike">
                    <a:solidFill>
                      <a:schemeClr val="lt1"/>
                    </a:solidFill>
                    <a:latin typeface="Arial"/>
                    <a:ea typeface="微软雅黑"/>
                  </a:rPr>
                  <a:t>16</a:t>
                </a:r>
                <a:r>
                  <a:rPr b="0" lang="zh-CN" sz="1800" spc="-1" strike="noStrike">
                    <a:solidFill>
                      <a:schemeClr val="lt1"/>
                    </a:solidFill>
                    <a:latin typeface="Arial"/>
                    <a:ea typeface="微软雅黑"/>
                  </a:rPr>
                  <a:t>世纪的数学。既然如此，数学为什么依然是全世界每一个孩子的必修课呢？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  <a:p>
                <a:pPr algn="ctr"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  <a:p>
                <a:pPr algn="ctr" defTabSz="914400">
                  <a:lnSpc>
                    <a:spcPct val="100000"/>
                  </a:lnSpc>
                </a:pPr>
                <a:r>
                  <a:rPr b="0" lang="en-US" sz="1800" spc="-1" strike="noStrike">
                    <a:solidFill>
                      <a:schemeClr val="lt1"/>
                    </a:solidFill>
                    <a:latin typeface="Arial"/>
                    <a:ea typeface="微软雅黑"/>
                  </a:rPr>
                  <a:t>     </a:t>
                </a:r>
                <a:r>
                  <a:rPr b="0" lang="zh-CN" sz="1800" spc="-1" strike="noStrike">
                    <a:solidFill>
                      <a:schemeClr val="lt1"/>
                    </a:solidFill>
                    <a:latin typeface="Arial"/>
                    <a:ea typeface="微软雅黑"/>
                  </a:rPr>
                  <a:t>提起数学，许多人首先想到的是枯燥、抽象。但是在某些人眼中，数学充满了魅力，它严谨、纯粹、有用。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09" name="矩形 6"/>
              <p:cNvSpPr/>
              <p:nvPr/>
            </p:nvSpPr>
            <p:spPr>
              <a:xfrm>
                <a:off x="3618720" y="4454640"/>
                <a:ext cx="5704920" cy="183744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  <a:ea typeface="微软雅黑"/>
                </a:endParaRPr>
              </a:p>
            </p:txBody>
          </p:sp>
        </p:grpSp>
      </p:grpSp>
      <p:sp>
        <p:nvSpPr>
          <p:cNvPr id="410" name="文本框 12"/>
          <p:cNvSpPr/>
          <p:nvPr/>
        </p:nvSpPr>
        <p:spPr>
          <a:xfrm>
            <a:off x="1466280" y="305280"/>
            <a:ext cx="44406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3200" spc="-1" strike="noStrike">
                <a:solidFill>
                  <a:srgbClr val="246e9e"/>
                </a:solidFill>
                <a:latin typeface="宋体"/>
                <a:ea typeface="宋体"/>
              </a:rPr>
              <a:t> </a:t>
            </a:r>
            <a:r>
              <a:rPr b="1" lang="zh-CN" sz="3200" spc="-1" strike="noStrike">
                <a:solidFill>
                  <a:srgbClr val="246e9e"/>
                </a:solidFill>
                <a:latin typeface="宋体"/>
                <a:ea typeface="宋体"/>
              </a:rPr>
              <a:t>高中数学学法指导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矩形 22"/>
          <p:cNvSpPr/>
          <p:nvPr/>
        </p:nvSpPr>
        <p:spPr>
          <a:xfrm>
            <a:off x="1840320" y="3937680"/>
            <a:ext cx="74880" cy="748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30600" bIns="306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微软雅黑"/>
            </a:endParaRPr>
          </a:p>
        </p:txBody>
      </p:sp>
      <p:grpSp>
        <p:nvGrpSpPr>
          <p:cNvPr id="412" name="组合 13"/>
          <p:cNvGrpSpPr/>
          <p:nvPr/>
        </p:nvGrpSpPr>
        <p:grpSpPr>
          <a:xfrm>
            <a:off x="1714680" y="1234440"/>
            <a:ext cx="4266000" cy="2933280"/>
            <a:chOff x="1714680" y="1234440"/>
            <a:chExt cx="4266000" cy="2933280"/>
          </a:xfrm>
        </p:grpSpPr>
        <p:sp>
          <p:nvSpPr>
            <p:cNvPr id="413" name="文本框 1"/>
            <p:cNvSpPr/>
            <p:nvPr/>
          </p:nvSpPr>
          <p:spPr>
            <a:xfrm>
              <a:off x="1714680" y="1738080"/>
              <a:ext cx="4266000" cy="2429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60000"/>
                </a:lnSpc>
              </a:pPr>
              <a:r>
                <a:rPr b="1" lang="zh-CN" sz="2400" spc="-1" strike="noStrike">
                  <a:solidFill>
                    <a:schemeClr val="dk1"/>
                  </a:solidFill>
                  <a:latin typeface="宋体"/>
                  <a:ea typeface="宋体"/>
                </a:rPr>
                <a:t>课中：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  <a:p>
              <a:pPr defTabSz="914400">
                <a:lnSpc>
                  <a:spcPct val="160000"/>
                </a:lnSpc>
              </a:pPr>
              <a:r>
                <a:rPr b="1" lang="zh-CN" sz="2400" spc="-1" strike="noStrike">
                  <a:solidFill>
                    <a:schemeClr val="dk1"/>
                  </a:solidFill>
                  <a:latin typeface="宋体"/>
                  <a:ea typeface="宋体"/>
                </a:rPr>
                <a:t>三动</a:t>
              </a:r>
              <a:r>
                <a:rPr b="1" lang="en-US" sz="2400" spc="-1" strike="noStrike">
                  <a:solidFill>
                    <a:schemeClr val="dk1"/>
                  </a:solidFill>
                  <a:latin typeface="宋体"/>
                  <a:ea typeface="宋体"/>
                </a:rPr>
                <a:t>(</a:t>
              </a:r>
              <a:r>
                <a:rPr b="1" lang="zh-CN" sz="2400" spc="-1" strike="noStrike">
                  <a:solidFill>
                    <a:srgbClr val="ff0000"/>
                  </a:solidFill>
                  <a:latin typeface="宋体"/>
                  <a:ea typeface="宋体"/>
                </a:rPr>
                <a:t>动手、动口、动脑</a:t>
              </a:r>
              <a:r>
                <a:rPr b="1" lang="en-US" sz="2400" spc="-1" strike="noStrike">
                  <a:solidFill>
                    <a:schemeClr val="dk1"/>
                  </a:solidFill>
                  <a:latin typeface="宋体"/>
                  <a:ea typeface="宋体"/>
                </a:rPr>
                <a:t>)</a:t>
              </a:r>
              <a:r>
                <a:rPr b="1" lang="zh-CN" sz="2400" spc="-1" strike="noStrike">
                  <a:solidFill>
                    <a:schemeClr val="dk1"/>
                  </a:solidFill>
                  <a:latin typeface="宋体"/>
                  <a:ea typeface="宋体"/>
                </a:rPr>
                <a:t>；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  <a:p>
              <a:pPr defTabSz="914400">
                <a:lnSpc>
                  <a:spcPct val="160000"/>
                </a:lnSpc>
              </a:pPr>
              <a:r>
                <a:rPr b="1" lang="zh-CN" sz="2400" spc="-1" strike="noStrike">
                  <a:solidFill>
                    <a:srgbClr val="ff0000"/>
                  </a:solidFill>
                  <a:latin typeface="宋体"/>
                  <a:ea typeface="宋体"/>
                </a:rPr>
                <a:t>认真听课整理记录笔记；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  <a:p>
              <a:pPr defTabSz="914400">
                <a:lnSpc>
                  <a:spcPct val="160000"/>
                </a:lnSpc>
              </a:pPr>
              <a:r>
                <a:rPr b="1" lang="zh-CN" sz="2400" spc="-1" strike="noStrike">
                  <a:solidFill>
                    <a:srgbClr val="ff0000"/>
                  </a:solidFill>
                  <a:latin typeface="宋体"/>
                  <a:ea typeface="宋体"/>
                </a:rPr>
                <a:t>认真听老师讲“题”并记录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14" name="矩形 2"/>
            <p:cNvSpPr/>
            <p:nvPr/>
          </p:nvSpPr>
          <p:spPr>
            <a:xfrm>
              <a:off x="4408200" y="1234440"/>
              <a:ext cx="74880" cy="748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30600" bIns="306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微软雅黑"/>
              </a:endParaRPr>
            </a:p>
          </p:txBody>
        </p:sp>
      </p:grpSp>
      <p:pic>
        <p:nvPicPr>
          <p:cNvPr id="415" name="图片 9" descr=""/>
          <p:cNvPicPr/>
          <p:nvPr/>
        </p:nvPicPr>
        <p:blipFill>
          <a:blip r:embed="rId2"/>
          <a:stretch/>
        </p:blipFill>
        <p:spPr>
          <a:xfrm>
            <a:off x="5590440" y="687240"/>
            <a:ext cx="3990240" cy="5605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>
        <p:random/>
      </p:transition>
    </mc:Choice>
    <mc:Fallback>
      <p:transition spd="slow">
        <p:random/>
      </p:transition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矩形 4"/>
          <p:cNvSpPr/>
          <p:nvPr/>
        </p:nvSpPr>
        <p:spPr>
          <a:xfrm>
            <a:off x="2190600" y="1450440"/>
            <a:ext cx="5706000" cy="23673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微软雅黑"/>
            </a:endParaRPr>
          </a:p>
        </p:txBody>
      </p:sp>
      <p:grpSp>
        <p:nvGrpSpPr>
          <p:cNvPr id="417" name="组合 8"/>
          <p:cNvGrpSpPr/>
          <p:nvPr/>
        </p:nvGrpSpPr>
        <p:grpSpPr>
          <a:xfrm>
            <a:off x="0" y="74880"/>
            <a:ext cx="12191400" cy="6850800"/>
            <a:chOff x="0" y="74880"/>
            <a:chExt cx="12191400" cy="6850800"/>
          </a:xfrm>
        </p:grpSpPr>
        <p:pic>
          <p:nvPicPr>
            <p:cNvPr id="418" name="图片 3" descr=""/>
            <p:cNvPicPr/>
            <p:nvPr/>
          </p:nvPicPr>
          <p:blipFill>
            <a:blip r:embed="rId1"/>
            <a:stretch/>
          </p:blipFill>
          <p:spPr>
            <a:xfrm>
              <a:off x="0" y="74880"/>
              <a:ext cx="12191400" cy="685080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419" name="组合 7"/>
            <p:cNvGrpSpPr/>
            <p:nvPr/>
          </p:nvGrpSpPr>
          <p:grpSpPr>
            <a:xfrm>
              <a:off x="2094840" y="2054880"/>
              <a:ext cx="7998840" cy="4237200"/>
              <a:chOff x="2094840" y="2054880"/>
              <a:chExt cx="7998840" cy="4237200"/>
            </a:xfrm>
          </p:grpSpPr>
          <p:sp>
            <p:nvSpPr>
              <p:cNvPr id="420" name="矩形 5"/>
              <p:cNvSpPr/>
              <p:nvPr/>
            </p:nvSpPr>
            <p:spPr>
              <a:xfrm>
                <a:off x="2094840" y="2054880"/>
                <a:ext cx="7998840" cy="183744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r>
                  <a:rPr b="0" lang="zh-CN" sz="1800" spc="-1" strike="noStrike">
                    <a:solidFill>
                      <a:schemeClr val="lt1"/>
                    </a:solidFill>
                    <a:latin typeface="Arial"/>
                    <a:ea typeface="微软雅黑"/>
                  </a:rPr>
                  <a:t>提起数学，你会想到什么？加减乘除，几何高数，还是上学时“被支配的恐惧”？对大多数人来说，数学这门学科很抽象，但是，有一些人把数学变得实用。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  <a:p>
                <a:pPr algn="ctr"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  <a:p>
                <a:pPr algn="ctr" defTabSz="914400">
                  <a:lnSpc>
                    <a:spcPct val="100000"/>
                  </a:lnSpc>
                </a:pPr>
                <a:r>
                  <a:rPr b="0" lang="en-US" sz="1800" spc="-1" strike="noStrike">
                    <a:solidFill>
                      <a:schemeClr val="lt1"/>
                    </a:solidFill>
                    <a:latin typeface="Arial"/>
                    <a:ea typeface="微软雅黑"/>
                  </a:rPr>
                  <a:t>     </a:t>
                </a:r>
                <a:r>
                  <a:rPr b="0" lang="zh-CN" sz="1800" spc="-1" strike="noStrike">
                    <a:solidFill>
                      <a:schemeClr val="lt1"/>
                    </a:solidFill>
                    <a:latin typeface="Arial"/>
                    <a:ea typeface="微软雅黑"/>
                  </a:rPr>
                  <a:t>颠覆想象！大部分人学了</a:t>
                </a:r>
                <a:r>
                  <a:rPr b="0" lang="en-US" sz="1800" spc="-1" strike="noStrike">
                    <a:solidFill>
                      <a:schemeClr val="lt1"/>
                    </a:solidFill>
                    <a:latin typeface="Arial"/>
                    <a:ea typeface="微软雅黑"/>
                  </a:rPr>
                  <a:t>9</a:t>
                </a:r>
                <a:r>
                  <a:rPr b="0" lang="zh-CN" sz="1800" spc="-1" strike="noStrike">
                    <a:solidFill>
                      <a:schemeClr val="lt1"/>
                    </a:solidFill>
                    <a:latin typeface="Arial"/>
                    <a:ea typeface="微软雅黑"/>
                  </a:rPr>
                  <a:t>年甚至</a:t>
                </a:r>
                <a:r>
                  <a:rPr b="0" lang="en-US" sz="1800" spc="-1" strike="noStrike">
                    <a:solidFill>
                      <a:schemeClr val="lt1"/>
                    </a:solidFill>
                    <a:latin typeface="Arial"/>
                    <a:ea typeface="微软雅黑"/>
                  </a:rPr>
                  <a:t>12</a:t>
                </a:r>
                <a:r>
                  <a:rPr b="0" lang="zh-CN" sz="1800" spc="-1" strike="noStrike">
                    <a:solidFill>
                      <a:schemeClr val="lt1"/>
                    </a:solidFill>
                    <a:latin typeface="Arial"/>
                    <a:ea typeface="微软雅黑"/>
                  </a:rPr>
                  <a:t>年的数学，也仅仅学到了微积分之前，这也只是</a:t>
                </a:r>
                <a:r>
                  <a:rPr b="0" lang="en-US" sz="1800" spc="-1" strike="noStrike">
                    <a:solidFill>
                      <a:schemeClr val="lt1"/>
                    </a:solidFill>
                    <a:latin typeface="Arial"/>
                    <a:ea typeface="微软雅黑"/>
                  </a:rPr>
                  <a:t>16</a:t>
                </a:r>
                <a:r>
                  <a:rPr b="0" lang="zh-CN" sz="1800" spc="-1" strike="noStrike">
                    <a:solidFill>
                      <a:schemeClr val="lt1"/>
                    </a:solidFill>
                    <a:latin typeface="Arial"/>
                    <a:ea typeface="微软雅黑"/>
                  </a:rPr>
                  <a:t>世纪的数学。既然如此，数学为什么依然是全世界每一个孩子的必修课呢？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  <a:p>
                <a:pPr algn="ctr"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  <a:p>
                <a:pPr algn="ctr" defTabSz="914400">
                  <a:lnSpc>
                    <a:spcPct val="100000"/>
                  </a:lnSpc>
                </a:pPr>
                <a:r>
                  <a:rPr b="0" lang="en-US" sz="1800" spc="-1" strike="noStrike">
                    <a:solidFill>
                      <a:schemeClr val="lt1"/>
                    </a:solidFill>
                    <a:latin typeface="Arial"/>
                    <a:ea typeface="微软雅黑"/>
                  </a:rPr>
                  <a:t>     </a:t>
                </a:r>
                <a:r>
                  <a:rPr b="0" lang="zh-CN" sz="1800" spc="-1" strike="noStrike">
                    <a:solidFill>
                      <a:schemeClr val="lt1"/>
                    </a:solidFill>
                    <a:latin typeface="Arial"/>
                    <a:ea typeface="微软雅黑"/>
                  </a:rPr>
                  <a:t>提起数学，许多人首先想到的是枯燥、抽象。但是在某些人眼中，数学充满了魅力，它严谨、纯粹、有用。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21" name="矩形 6"/>
              <p:cNvSpPr/>
              <p:nvPr/>
            </p:nvSpPr>
            <p:spPr>
              <a:xfrm>
                <a:off x="3618720" y="4454640"/>
                <a:ext cx="5704920" cy="183744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  <a:ea typeface="微软雅黑"/>
                </a:endParaRPr>
              </a:p>
            </p:txBody>
          </p:sp>
        </p:grpSp>
      </p:grpSp>
      <p:sp>
        <p:nvSpPr>
          <p:cNvPr id="422" name="文本框 12"/>
          <p:cNvSpPr/>
          <p:nvPr/>
        </p:nvSpPr>
        <p:spPr>
          <a:xfrm>
            <a:off x="1466280" y="636840"/>
            <a:ext cx="44406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3200" spc="-1" strike="noStrike">
                <a:solidFill>
                  <a:srgbClr val="246e9e"/>
                </a:solidFill>
                <a:latin typeface="宋体"/>
                <a:ea typeface="宋体"/>
              </a:rPr>
              <a:t> </a:t>
            </a:r>
            <a:r>
              <a:rPr b="1" lang="zh-CN" sz="3200" spc="-1" strike="noStrike">
                <a:solidFill>
                  <a:srgbClr val="246e9e"/>
                </a:solidFill>
                <a:latin typeface="宋体"/>
                <a:ea typeface="宋体"/>
              </a:rPr>
              <a:t>高中数学学法指导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矩形 22"/>
          <p:cNvSpPr/>
          <p:nvPr/>
        </p:nvSpPr>
        <p:spPr>
          <a:xfrm>
            <a:off x="1840320" y="3937680"/>
            <a:ext cx="74880" cy="748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30600" bIns="306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微软雅黑"/>
            </a:endParaRPr>
          </a:p>
        </p:txBody>
      </p:sp>
      <p:grpSp>
        <p:nvGrpSpPr>
          <p:cNvPr id="424" name="组合 13"/>
          <p:cNvGrpSpPr/>
          <p:nvPr/>
        </p:nvGrpSpPr>
        <p:grpSpPr>
          <a:xfrm>
            <a:off x="1714680" y="1234440"/>
            <a:ext cx="4381560" cy="3518280"/>
            <a:chOff x="1714680" y="1234440"/>
            <a:chExt cx="4381560" cy="3518280"/>
          </a:xfrm>
        </p:grpSpPr>
        <p:sp>
          <p:nvSpPr>
            <p:cNvPr id="425" name="文本框 1"/>
            <p:cNvSpPr/>
            <p:nvPr/>
          </p:nvSpPr>
          <p:spPr>
            <a:xfrm>
              <a:off x="1714680" y="1738080"/>
              <a:ext cx="4381560" cy="3014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60000"/>
                </a:lnSpc>
              </a:pPr>
              <a:r>
                <a:rPr b="1" lang="zh-CN" sz="2400" spc="-1" strike="noStrike">
                  <a:solidFill>
                    <a:schemeClr val="dk1"/>
                  </a:solidFill>
                  <a:latin typeface="宋体"/>
                  <a:ea typeface="宋体"/>
                </a:rPr>
                <a:t>课后：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  <a:p>
              <a:pPr defTabSz="914400">
                <a:lnSpc>
                  <a:spcPct val="160000"/>
                </a:lnSpc>
              </a:pPr>
              <a:r>
                <a:rPr b="1" lang="zh-CN" sz="2400" spc="-1" strike="noStrike">
                  <a:solidFill>
                    <a:schemeClr val="dk1"/>
                  </a:solidFill>
                  <a:latin typeface="宋体"/>
                  <a:ea typeface="宋体"/>
                </a:rPr>
                <a:t>认真复习笔记本；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  <a:p>
              <a:pPr defTabSz="914400">
                <a:lnSpc>
                  <a:spcPct val="160000"/>
                </a:lnSpc>
              </a:pPr>
              <a:r>
                <a:rPr b="1" lang="zh-CN" sz="2400" spc="-1" strike="noStrike">
                  <a:solidFill>
                    <a:schemeClr val="dk1"/>
                  </a:solidFill>
                  <a:latin typeface="宋体"/>
                  <a:ea typeface="宋体"/>
                </a:rPr>
                <a:t>认真</a:t>
              </a:r>
              <a:r>
                <a:rPr b="1" lang="zh-CN" sz="2400" spc="-1" strike="noStrike">
                  <a:solidFill>
                    <a:srgbClr val="ff0000"/>
                  </a:solidFill>
                  <a:latin typeface="宋体"/>
                  <a:ea typeface="宋体"/>
                </a:rPr>
                <a:t>完成相关作业</a:t>
              </a:r>
              <a:r>
                <a:rPr b="1" lang="zh-CN" sz="2400" spc="-1" strike="noStrike">
                  <a:solidFill>
                    <a:schemeClr val="dk1"/>
                  </a:solidFill>
                  <a:latin typeface="宋体"/>
                  <a:ea typeface="宋体"/>
                </a:rPr>
                <a:t>；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  <a:p>
              <a:pPr defTabSz="914400">
                <a:lnSpc>
                  <a:spcPct val="160000"/>
                </a:lnSpc>
              </a:pPr>
              <a:r>
                <a:rPr b="1" lang="zh-CN" sz="2400" spc="-1" strike="noStrike">
                  <a:solidFill>
                    <a:srgbClr val="ff0000"/>
                  </a:solidFill>
                  <a:latin typeface="宋体"/>
                  <a:ea typeface="宋体"/>
                </a:rPr>
                <a:t>对于疑难题及时记录在</a:t>
              </a:r>
              <a:r>
                <a:rPr b="1" lang="en-US" sz="2400" spc="-1" strike="noStrike">
                  <a:solidFill>
                    <a:srgbClr val="ff0000"/>
                  </a:solidFill>
                  <a:latin typeface="宋体"/>
                  <a:ea typeface="宋体"/>
                </a:rPr>
                <a:t>“错题本”上</a:t>
              </a:r>
              <a:r>
                <a:rPr b="1" lang="en-US" sz="2400" spc="-1" strike="noStrike">
                  <a:solidFill>
                    <a:srgbClr val="ff0000"/>
                  </a:solidFill>
                  <a:latin typeface="宋体"/>
                  <a:ea typeface="宋体"/>
                </a:rPr>
                <a:t>.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26" name="矩形 2"/>
            <p:cNvSpPr/>
            <p:nvPr/>
          </p:nvSpPr>
          <p:spPr>
            <a:xfrm>
              <a:off x="4408200" y="1234440"/>
              <a:ext cx="74880" cy="748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30600" bIns="306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微软雅黑"/>
              </a:endParaRPr>
            </a:p>
          </p:txBody>
        </p:sp>
      </p:grpSp>
      <p:pic>
        <p:nvPicPr>
          <p:cNvPr id="427" name="图片 10" descr=""/>
          <p:cNvPicPr/>
          <p:nvPr/>
        </p:nvPicPr>
        <p:blipFill>
          <a:blip r:embed="rId2"/>
          <a:stretch/>
        </p:blipFill>
        <p:spPr>
          <a:xfrm>
            <a:off x="6271200" y="636840"/>
            <a:ext cx="4662720" cy="6075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>
        <p:random/>
      </p:transition>
    </mc:Choice>
    <mc:Fallback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lqpvxxc">
      <a:majorFont>
        <a:latin typeface=""/>
        <a:ea typeface="微软雅黑" pitchFamily="0" charset="1"/>
        <a:cs typeface=""/>
      </a:majorFont>
      <a:minorFont>
        <a:latin typeface=""/>
        <a:ea typeface="微软雅黑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lqpvxxc">
      <a:majorFont>
        <a:latin typeface=""/>
        <a:ea typeface="微软雅黑" pitchFamily="0" charset="1"/>
        <a:cs typeface=""/>
      </a:majorFont>
      <a:minorFont>
        <a:latin typeface=""/>
        <a:ea typeface="微软雅黑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lqpvxxc">
      <a:majorFont>
        <a:latin typeface=""/>
        <a:ea typeface="微软雅黑" pitchFamily="0" charset="1"/>
        <a:cs typeface=""/>
      </a:majorFont>
      <a:minorFont>
        <a:latin typeface=""/>
        <a:ea typeface="微软雅黑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lqpvxxc">
      <a:majorFont>
        <a:latin typeface=""/>
        <a:ea typeface="微软雅黑" pitchFamily="0" charset="1"/>
        <a:cs typeface=""/>
      </a:majorFont>
      <a:minorFont>
        <a:latin typeface=""/>
        <a:ea typeface="微软雅黑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lqpvxxc">
      <a:majorFont>
        <a:latin typeface=""/>
        <a:ea typeface="微软雅黑" pitchFamily="0" charset="1"/>
        <a:cs typeface=""/>
      </a:majorFont>
      <a:minorFont>
        <a:latin typeface=""/>
        <a:ea typeface="微软雅黑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lqpvxxc">
      <a:majorFont>
        <a:latin typeface=""/>
        <a:ea typeface="微软雅黑" pitchFamily="0" charset="1"/>
        <a:cs typeface=""/>
      </a:majorFont>
      <a:minorFont>
        <a:latin typeface=""/>
        <a:ea typeface="微软雅黑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lqpvxxc">
      <a:majorFont>
        <a:latin typeface=""/>
        <a:ea typeface="微软雅黑" pitchFamily="0" charset="1"/>
        <a:cs typeface=""/>
      </a:majorFont>
      <a:minorFont>
        <a:latin typeface=""/>
        <a:ea typeface="微软雅黑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lqpvxxc">
      <a:majorFont>
        <a:latin typeface=""/>
        <a:ea typeface="微软雅黑" pitchFamily="0" charset="1"/>
        <a:cs typeface=""/>
      </a:majorFont>
      <a:minorFont>
        <a:latin typeface=""/>
        <a:ea typeface="微软雅黑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lqpvxxc">
      <a:majorFont>
        <a:latin typeface=""/>
        <a:ea typeface="微软雅黑" pitchFamily="0" charset="1"/>
        <a:cs typeface=""/>
      </a:majorFont>
      <a:minorFont>
        <a:latin typeface=""/>
        <a:ea typeface="微软雅黑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lqpvxxc">
      <a:majorFont>
        <a:latin typeface=""/>
        <a:ea typeface="微软雅黑" pitchFamily="0" charset="1"/>
        <a:cs typeface=""/>
      </a:majorFont>
      <a:minorFont>
        <a:latin typeface=""/>
        <a:ea typeface="微软雅黑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lqpvxxc">
      <a:majorFont>
        <a:latin typeface=""/>
        <a:ea typeface="微软雅黑" pitchFamily="0" charset="1"/>
        <a:cs typeface=""/>
      </a:majorFont>
      <a:minorFont>
        <a:latin typeface=""/>
        <a:ea typeface="微软雅黑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lqpvxxc">
      <a:majorFont>
        <a:latin typeface=""/>
        <a:ea typeface="微软雅黑" pitchFamily="0" charset="1"/>
        <a:cs typeface=""/>
      </a:majorFont>
      <a:minorFont>
        <a:latin typeface=""/>
        <a:ea typeface="微软雅黑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313</TotalTime>
  <Application>LibreOffice/24.2.5.2$Linux_X86_64 LibreOffice_project/420$Build-2</Application>
  <AppVersion>15.0000</AppVersion>
  <Words>2326</Words>
  <Paragraphs>189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2022-04-12T02:33:00Z</dcterms:created>
  <dc:creator>素材来源网站当图网-www.99ppt.com</dc:creator>
  <dc:description>素材来源网站当图网-www.99ppt.com</dc:description>
  <dc:language>en-US</dc:language>
  <cp:lastModifiedBy/>
  <dcterms:modified xsi:type="dcterms:W3CDTF">2025-02-15T06:14:56Z</dcterms:modified>
  <cp:revision>90</cp:revision>
  <dc:subject>素材来源网站当图网-www.99ppt.com</dc:subject>
  <dc:title>素材来源网站当图网-www.99ppt.com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E0ACBC32C351489E85533855E1FA2963</vt:lpwstr>
  </property>
  <property fmtid="{D5CDD505-2E9C-101B-9397-08002B2CF9AE}" pid="3" name="KSOProductBuildVer">
    <vt:lpwstr>2052-11.1.0.11365</vt:lpwstr>
  </property>
  <property fmtid="{D5CDD505-2E9C-101B-9397-08002B2CF9AE}" pid="4" name="KSOTemplateUUID">
    <vt:lpwstr>v1.0_mb_C60vF78ou04V42MCe/2zRw==</vt:lpwstr>
  </property>
  <property fmtid="{D5CDD505-2E9C-101B-9397-08002B2CF9AE}" pid="5" name="MMClips">
    <vt:i4>1</vt:i4>
  </property>
  <property fmtid="{D5CDD505-2E9C-101B-9397-08002B2CF9AE}" pid="6" name="PresentationFormat">
    <vt:lpwstr>宽屏</vt:lpwstr>
  </property>
  <property fmtid="{D5CDD505-2E9C-101B-9397-08002B2CF9AE}" pid="7" name="Slides">
    <vt:i4>29</vt:i4>
  </property>
</Properties>
</file>